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8" r:id="rId5"/>
    <p:sldId id="259" r:id="rId6"/>
    <p:sldId id="262" r:id="rId7"/>
    <p:sldId id="265" r:id="rId8"/>
    <p:sldId id="267" r:id="rId9"/>
    <p:sldId id="268" r:id="rId10"/>
    <p:sldId id="270" r:id="rId11"/>
    <p:sldId id="271" r:id="rId12"/>
    <p:sldId id="272" r:id="rId13"/>
    <p:sldId id="282" r:id="rId14"/>
    <p:sldId id="275" r:id="rId15"/>
    <p:sldId id="280" r:id="rId16"/>
    <p:sldId id="281" r:id="rId17"/>
  </p:sldIdLst>
  <p:sldSz cx="12192000" cy="6858000"/>
  <p:notesSz cx="6858000" cy="12192000"/>
  <p:embeddedFontLst>
    <p:embeddedFont>
      <p:font typeface="Lato" panose="020F0502020204030203" pitchFamily="34" charset="0"/>
      <p:regular r:id="rId21"/>
      <p:bold r:id="rId22"/>
      <p:italic r:id="rId23"/>
    </p:embeddedFont>
    <p:embeddedFont>
      <p:font typeface="Lato" panose="020F0502020204030203" pitchFamily="34" charset="-122"/>
      <p:regular r:id="rId24"/>
      <p:bold r:id="rId25"/>
      <p:italic r:id="rId26"/>
    </p:embeddedFont>
    <p:embeddedFont>
      <p:font typeface="Lato" panose="020F0502020204030203" pitchFamily="34" charset="-120"/>
      <p:regular r:id="rId27"/>
      <p:bold r:id="rId28"/>
      <p:italic r:id="rId29"/>
    </p:embeddedFont>
    <p:embeddedFont>
      <p:font typeface="JetBrains Mono" panose="02000009000000000000" pitchFamily="49" charset="0"/>
      <p:regular r:id="rId30"/>
      <p:bold r:id="rId31"/>
    </p:embeddedFont>
    <p:embeddedFont>
      <p:font typeface="JetBrains Mono" panose="02000009000000000000" pitchFamily="49" charset="-122"/>
      <p:regular r:id="rId32"/>
      <p:bold r:id="rId33"/>
    </p:embeddedFont>
    <p:embeddedFont>
      <p:font typeface="JetBrains Mono" panose="02000009000000000000" pitchFamily="49" charset="-120"/>
      <p:regular r:id="rId34"/>
      <p:bold r:id="rId3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2" d="100"/>
          <a:sy n="142" d="100"/>
        </p:scale>
        <p:origin x="370" y="10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5" Type="http://schemas.openxmlformats.org/officeDocument/2006/relationships/font" Target="fonts/font15.fntdata"/><Relationship Id="rId34" Type="http://schemas.openxmlformats.org/officeDocument/2006/relationships/font" Target="fonts/font14.fntdata"/><Relationship Id="rId33" Type="http://schemas.openxmlformats.org/officeDocument/2006/relationships/font" Target="fonts/font13.fntdata"/><Relationship Id="rId32" Type="http://schemas.openxmlformats.org/officeDocument/2006/relationships/font" Target="fonts/font12.fntdata"/><Relationship Id="rId31" Type="http://schemas.openxmlformats.org/officeDocument/2006/relationships/font" Target="fonts/font11.fntdata"/><Relationship Id="rId30" Type="http://schemas.openxmlformats.org/officeDocument/2006/relationships/font" Target="fonts/font10.fntdata"/><Relationship Id="rId3" Type="http://schemas.openxmlformats.org/officeDocument/2006/relationships/slide" Target="slides/slide1.xml"/><Relationship Id="rId29" Type="http://schemas.openxmlformats.org/officeDocument/2006/relationships/font" Target="fonts/font9.fntdata"/><Relationship Id="rId28" Type="http://schemas.openxmlformats.org/officeDocument/2006/relationships/font" Target="fonts/font8.fntdata"/><Relationship Id="rId27" Type="http://schemas.openxmlformats.org/officeDocument/2006/relationships/font" Target="fonts/font7.fntdata"/><Relationship Id="rId26" Type="http://schemas.openxmlformats.org/officeDocument/2006/relationships/font" Target="fonts/font6.fntdata"/><Relationship Id="rId25" Type="http://schemas.openxmlformats.org/officeDocument/2006/relationships/font" Target="fonts/font5.fntdata"/><Relationship Id="rId24" Type="http://schemas.openxmlformats.org/officeDocument/2006/relationships/font" Target="fonts/font4.fntdata"/><Relationship Id="rId23" Type="http://schemas.openxmlformats.org/officeDocument/2006/relationships/font" Target="fonts/font3.fntdata"/><Relationship Id="rId22" Type="http://schemas.openxmlformats.org/officeDocument/2006/relationships/font" Target="fonts/font2.fntdata"/><Relationship Id="rId21" Type="http://schemas.openxmlformats.org/officeDocument/2006/relationships/font" Target="fonts/font1.fntdata"/><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Expone: Díaz Malca, Jhon Franklin. [⏱ ~10 s] Saludo y presentación del equipo: Jhon Díaz, Jean Franco Doza y José Luis Sotomayor. Qué decir: hoy presentamos el Avance 3 de LINKSPORT, una plataforma de comercio electrónico de indumentaria deportiva, del curso Marcos de Desarrollo Web (UTP, ciclo 2026-II, docente Bernardo Climaco Hermitaño Atencio). Qué trae este avance: el catálogo guardado en PostgreSQL con JPA e Hibernate, cinco entidades relacionadas, validación con Spring Validation y el registro de compras como venta con detalles. Reparto de la exposición (10 min en total): Jhon expone las diapositivas 1 a 5, Jean las 6 a 10 y José las 11 a 14, con la demostración en vivo de unos 2 minutos dentro de su parte.</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Expone: Díaz Malca, Jhon Franklin. [⏱ ~40 s] Contexto (CAPECE, 2023): el comercio electrónico peruano crece y la indumentaria deportiva es una categoría de alto interés; las MYPEs necesitan actualizar su oferta y registrar ventas sin editar código. En el Avance 2 LINKSPORT pasó de un catálogo estático a una aplicación Spring Boot con CRUD y vistas dinámicas, pero guardaba todo en ArrayList. Recorrer los cuatro pares de la diapositiva: (1) los datos se perdían al reiniciar; (2) no había relaciones entre categorías, productos y compras; (3) no había validación; (4) el carrito no dejaba historial. El Avance 3 responde con PostgreSQL y repositorios JPA, cinco entidades con claves foráneas, Spring Validation y el registro de la venta con sus detalles. Precisión honesta: UsuarioService todavía usa ArrayList; se explica en la diapositiva de mejoras.</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Expone: Díaz Malca, Jhon Franklin. [⏱ ~30 s] Primero el objetivo general (caja oscura): desarrollar frontend y backend de LINKSPORT con PostgreSQL vía JPA e Hibernate, Spring Validation y una interfaz responsiva con Bulma. Luego los seis objetivos específicos, que son los que se evalúan en el resto de la exposición: 01 y 02 se ven en JPA/Hibernate y relaciones; 03 en servicios y controladores; 04 en Spring Validation; 05 en el flujo de venta; 06 en la interfaz. Idea para cerrar: cada objetivo tiene su diapositiva y su evidencia (código o captura) más adelante.</a:t>
            </a:r>
          </a:p>
          <a:p/>
          <a:p>
            <a:r>
              <a:t>RESPALDO · fundamento teórico: Los seis conceptos del marco teórico del informe (sección 2.2): 01 ORM: mapea tablas a clases y genera el SQL (Bauer et al., 2015). 02 JPA es la especificación de persistencia; Hibernate es su implementación y puede generar el esquema automáticamente. 03 Spring Data JPA: con una interfaz que extiende JpaRepository, Spring genera la implementación en tiempo de ejecución. 04 Bean Validation: restricciones por anotación; Spring Boot lo integra con spring-boot-starter-validation y @Valid activa la validación antes de ejecutar la lógica. 05 MVC por capas: Gamma et al. (1994) para MVC y Fowler (2002) para servicio y repositorio. 06 REST (GET consulta, POST crea, PUT actualiza, DELETE elimina) y Bulma como framework CSS basado en Flexbox, sin JavaScript propio (Marcotte, 2011 para el diseño responsivo). Frase de enlace: estos mecanismos aparecen en el código que mostrará Jean más adelante.</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Expone: Díaz Malca, Jhon Franklin. [⏱ ~45 s] La aplicación mantiene la arquitectura multicapa del Avance 2 y añade la capa de repositorio, que aísla el acceso a PostgreSQL. Esto permitió cambiar la persistencia del catálogo sin modificar las vistas, que era el objetivo del diseño. Recorrer la tabla (tabla 2 del informe): la vista son tres plantillas Thymeleaf con Bulma; los controladores reciben las peticiones, activan la validación y devuelven una vista o JSON; los servicios concentran la lógica (ProductoService incluye el registro de ventas); los cuatro repositorios acceden a la base con Spring Data JPA; el modelo son las cinco entidades con sus restricciones. Cada capa se comunica con la siguiente mediante inyección de dependencias por constructor. Aclarar con honestidad: UsuarioService todavía guarda las cuentas en un ArrayList (mejora pendiente). Cierre y pase: “Sigo con el backend: los controladores y la API REST del CRUD”.</a:t>
            </a:r>
          </a:p>
          <a:p/>
          <a:p>
            <a:r>
              <a:t>RESPALDO · tecnologías: El sistema tiene dos componentes: la tienda virtual (ruta /) con carrusel, tabla de servicios de entrega, “Lo más vendido” y las colecciones Running, Fútbol y Accesorios generadas según la categoría; y el panel de productos (/ver-productos) para registrar, editar y eliminar con validación. Tecnologías (tabla 3 del informe, dependencias del pom.xml): spring-boot-starter-webmvc, thymeleaf, data-jpa, validation, el driver de postgresql y devtools. El proyecto usa Spring Boot 4.1.1 con Hibernate ORM 7.4.5 y Tomcat 11, configurado para Java 25 en el pom.xml, y PostgreSQL 18.3 administrado con pgAdmin 4. Se desarrolló en Visual Studio Code y se ejecuta con mvnw.cmd spring-boot:run. Bulma es la alternativa a Bootstrap que permite la rúbrica. La base linksport_db se crea a mano en pgAdmin; las tablas las genera Hibernate al iniciar.</a:t>
            </a:r>
          </a:p>
          <a:p/>
          <a:p>
            <a:r>
              <a:t>RESPALDO · modularidad: Esta diapositiva responde al criterio de modularidad: el backend está organizado en paquetes y clases independientes dentro del paquete raíz com.linksport.linksport_backend (código 1 del informe). Recorrer el árbol: HomeController y la clase principal LinksportBackendApplication están en la raíz; controller (ProductoController y UsuarioController, REST); service (ProductoService y UsuarioService); repository (cuatro interfaces que extienden JpaRepository); model (las cinco entidades). Cada clase tiene una responsabilidad: el controlador no consulta la base, el servicio no conoce HTTP y el repositorio no tiene lógica de negocio. Las dependencias se reciben por constructor, así que cambiar la persistencia no obliga a tocar las otras capas. En resources: application.properties (conexión), import.sql (datos iniciales), templates (Thymeleaf) y static (CSS, js e imágenes).</a:t>
            </a:r>
          </a:p>
          <a:p/>
          <a:p>
            <a:r>
              <a:t>RESPALDO · ProductoService: ProductoService concentra la lógica del catálogo y ya no usa colecciones en memoria: recibe por constructor los repositorios de productos, ventas y usuarios, y delega en ellos el acceso a la base de datos. Métodos: obtenerTodos() llama a productoRepository.findAll(); buscarPorId() usa findById y devuelve un Optional; guardar() y actualizar() persisten con save() (actualizar copia nombre, precio e imagen sobre el producto existente); eliminar() verifica con existsById y luego deleteById; registrarVentaDesdeWeb() persiste las compras del carrito (se explica en la diapositiva 11). Honestidad: UsuarioService expone obtenerTodos(), registrar() y buscarPorCorreo(), pero conserva el ArrayList del Avance 2 para el registro de cuentas; la entidad Usuario sí está mapeada a la tabla usuarios y es la que usa el registro de ventas. Si te preguntan por qué un servicio: separa la lógica del controlador y permite reutilizarla desde la vista web y desde la API REST.</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Expone: Díaz Malca, Jhon Franklin. [⏱ ~40 s] Tabla 4 del informe. ProductoController y UsuarioController son controladores REST; HomeController es un controlador de vistas que atiende / y /ver-productos, filtra los productos por categoría y por la marca de destacado, y procesa el formulario del panel (/admin/productos/guardar). Relación con los verbos HTTP: GET consulta (mostrar y buscar), POST ingresa, PUT edita y DELETE elimina. Los códigos de respuesta: 200 correcto, 400 datos inválidos o nombre repetido en la categoría, 404 no existe el id, 302 redirección después de guardar desde el panel. También existen /api/usuarios (listado) y /api/usuarios/registro (rechaza correos duplicados). Las operaciones REST se verificaron con el archivo pruebas_crud.http desde VS Code con la extensión REST Client. Pase a Jean: “Jean explica ahora cómo se mapean las entidades con JPA y Hibernate y cómo quedan las tablas en PostgreSQL”.</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Expone: Doza Rudas, Jean Franco. [⏱ ~40 s] Se definieron cinco entidades: Producto, Categoria, Usuario, Venta y DetalleVenta. Cada una lleva @Entity y @Table, clave primaria autogenerada con @Id y @GeneratedValue (estrategia IDENTITY) y restricciones de columna con @Column. Código 5 (Producto): nombre es obligatorio y único; la relación con Categoria es @ManyToOne con carga LAZY y la columna categoria_id (opcional). Producto concentra el mapeo y las reglas de validación. Código 7 (repositorios): ProductoRepository, CategoriaRepository y VentaRepository extienden JpaRepository, por lo que no hace falta escribir SQL para el CRUD (save, findAll, findById, deleteById). UsuarioRepository agrega la consulta derivada findByCorreo: Spring arma la consulta a partir del nombre del método. Idea clave: JPA define las anotaciones, Hibernate las traduce a SQL y Spring Data genera la implementación de los repositorios en tiempo de ejecución.</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Expone: Doza Rudas, Jean Franco. [⏱ ~35 s] Este es el modelo relacional que Hibernate genera a partir de las entidades (figura 5 del informe), resumido con sus claves y algunos atributos. Leer las cuatro relaciones, todas de uno a muchos: una categoría tiene muchos productos (productos.categoria_id, opcional); un producto aparece en muchos detalles de venta (detalles_ventas.producto_id); una venta tiene muchos detalles (detalles_ventas.venta_id); un usuario realiza muchas ventas (ventas.usuario_id). La tabla detalles_ventas es la que une venta y producto: cada línea guarda la cantidad y el precio unitario de ese producto en esa compra. Eso permite reconstruir el historial de ventas. Las claves foráneas de venta y detalle son obligatorias (nullable = false); la de categoría en producto es opcional según el mapeo. Los atributos que no se muestran (imagen_src, cantidad en productos, etc.) existen en las tablas reales.</a:t>
            </a:r>
          </a:p>
          <a:p/>
          <a:p>
            <a:r>
              <a:t>RESPALDO · mapeo de las relaciones en JPA: Tabla 5 del informe: las cuatro relaciones del modelo son uno a muchos y en la base de datos se materializan como claves foráneas. Cómo leerlo: @ManyToOne va en el lado “muchos” y es el que crea la clave foránea (por ejemplo ventas.usuario_id). @OneToMany con mappedBy va en el lado “uno” y representa el lado inverso: no crea otra columna. La relación más importante es Venta–DetalleVenta (código 6): en Venta, la lista de detalles tiene cascade = ALL y orphanRemoval = true; por eso una sola llamada a ventaRepository.save() guarda la cabecera y todas sus líneas, y si una línea sale de la colección se elimina. fetch = LAZY difiere la carga de la asociación hasta que se necesita (Bauer et al., 2015). Categoría–Producto también tiene cascade ALL en Categoría; la clave categoria_id es opcional. Las demás claves (usuario_id, venta_id, producto_id) son obligatorias. Con show-sql activo se ve en consola el DDL con los alter table … add constraint … foreign key que crean estas relaciones (figura 6 del informe).</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Expone: Doza Rudas, Jean Franco. [⏱ ~30 s] Evidencia de que el modelo se creó en PostgreSQL. A la izquierda (figura 7 del informe): en pgAdmin 4, dentro de linksport_db, el nodo Tables (5) muestra categorias, detalles_ventas, productos, usuarios y ventas. Las tablas no se crean a mano: las genera Hibernate al arrancar; solo se crea la base de datos vacía. Al centro (figura 8): la consulta SELECT * FROM public.productos ORDER BY id ASC devuelve los doce productos con su precio, su categoria_id, su id y su nombre. Ese catálogo inicial viene de import.sql. Aclaración que conviene decir en voz alta: con ddl-auto=create-drop el esquema se recrea al iniciar y se elimina al detener, así que los cambios hechos durante una sesión no se conservan entre reinicios. Es suficiente para desarrollo; la mejora es un esquema persistente y versionado. Pase a la parte de validación.</a:t>
            </a:r>
          </a:p>
          <a:p/>
          <a:p>
            <a:r>
              <a:t>RESPALDO · configuración application.properties: Aquí se define cómo se conecta la aplicación con PostgreSQL y cómo se comporta Hibernate (código 4 del informe, application.properties). datasource: url hacia jdbc:postgresql://localhost:5432/linksport_db, usuario postgres y driver org.postgresql.Driver. Al iniciar, Spring Boot crea un pool de conexiones HikariCP y Hibernate ORM 7.4.5 inicializa la unidad de persistencia (figura 4 del informe). ddl-auto=create-drop: Hibernate crea las tablas a partir de las entidades al iniciar y las elimina al detener la aplicación. Es adecuado para desarrollo, pero los datos que se ingresan durante la ejecución no se conservan entre reinicios; para producción se cambiaría por un modo que preserve la información (mejora en la diapositiva 12). show-sql=true muestra en consola las sentencias SQL (DDL incluido). sql.init.mode=always con defer-datasource-initialization=true hace que import.sql se ejecute después de que Hibernate cree las tablas: carga tres categorías (Running, Fútbol, Accesorios), doce productos y un usuario de prueba. open-in-view=false evita mantener la sesión de Hibernate abierta durante el renderizado de la vista.</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Expone: Doza Rudas, Jean Franco. [⏱ ~30 s] La validación se implementó en tres puntos: las anotaciones sobre las clases del modelo (esta diapositiva), la activación en los controladores (siguiente) y los mensajes en las vistas Thymeleaf (la tercera). Se agregó la dependencia spring-boot-starter-validation al pom.xml. Anotaciones (tabla 6 y código 9 del informe), con mensajes en español para el usuario: nombre del producto con @NotBlank y @Size entre 3 y 100; precio con @Positive y @DecimalMin("1.00"), es decir, mínimo S/. 1.00; imagenSrc con @NotBlank. En Usuario: nombre @NotBlank, correo @NotBlank y @Email, password @NotBlank y @Size(min = 6). IMPORTANTE, decirlo con claridad: en esta versión las mismas clases del modelo se usan como objeto de entrada del formulario web y de la API REST; es decir, las anotaciones están en las entidades y no en un DTO separado. Separar las reglas en objetos DTO independientes está identificado como mejora (diapositiva 12). Si el docente pregunta por el DTO, la respuesta honesta es esa: la validación funciona igual, pero el diseño ideal separa entrada y entidad. En la diapositiva los mensajes largos del código 9 aparecen abreviados con “…”; el texto completo está en el informe.</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Expone: Doza Rudas, Jean Franco. [⏱ ~35 s] Activación de la validación en los controladores (códigos 10 y 11 del informe). API REST (izquierda): en ProductoController, @Valid sobre @RequestBody en los métodos POST y PUT. Si los datos no cumplen las restricciones, Spring responde automáticamente con código 400 sin ejecutar la lógica del método. Además hay una regla de negocio propia: no se permite registrar un producto cuyo nombre ya exista dentro de la misma categoría; en ese caso se devuelve badRequest con un mensaje. Panel web (derecha): HomeController recibe el formulario con @Valid y @ModelAttribute, y un objeto BindingResult que almacena los errores. Si existen errores, no se guarda el producto y se vuelve a mostrar el formulario (return "admin-productos"); si no los hay, se guarda y se redirige al listado. Con result.rejectValue() el error de duplicado se registra como error del campo nombre (esa condición se omite en la diapositiva para simplificar). Aclaración: se usa Jakarta Validation integrado por spring-boot-starter-validation; no hay una clase propia que implemente Validator. Los fragmentos son extractos del código del informe, reformateados en líneas cortas para proyectarlos.</a:t>
            </a:r>
          </a:p>
          <a:p/>
          <a:p>
            <a:r>
              <a:t>RESPALDO · mensajes de error en la vista: Tercer punto de la validación: mostrar los errores al usuario con Thymeleaf (código 12 del informe). La plantilla admin-productos.html enlaza cada campo con el objeto del modelo mediante th:field y, debajo de cada uno, muestra el mensaje solo cuando el campo no cumple la restricción, usando #fields.hasErrors('campo') y th:errors. El estilo is-danger de Bulma resalta el mensaje en rojo. En la diapositiva solo se muestra el campo nombre; precio e imagen se repiten igual. La captura (figura 12) es el resultado de enviar el formulario con el nombre vacío, un precio de 0.5 y sin imagen: aparecen “El nombre del artículo deportivo es obligatorio”, “El nombre debe tener entre 3 y 100 caracteres”, “El precio mínimo permitido es de S/. 1.00” y “La dirección URL de la imagen es obligatoria”. Esos textos son los mensajes definidos en las anotaciones de la diapositiva 9. Resumen del ciclo completo, útil para cerrar tu parte: anotaciones en el modelo → @Valid y BindingResult en el controlador → th:errors en la vista. Pase: “José continúa con la interfaz y el flujo de compra”.</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Sotomayor, José Luis. Se usó Bulma 1.0.4 como alternativa a Bootstrap, cargado desde CDN, sobre plantillas Thymeleaf con HTML5 semántico. Componentes principales (sección 3.7 del informe): navbar con navbar-burger que se colapsa en pantallas pequeñas; catálogo con columns is-multiline y una column is-3 por producto generada con th:each, que da cuatro productos por fila en pantallas medianas y grandes y una sola columna en móviles; cada producto es un card; tabla de inventario con table is-bordered is-striped is-hoverable is-fullwidth y formulario field/control/input en el panel; ventanas modales para inicio de sesión, registro y confirmación de compra; carrito lateral con subtotal en tiempo real. Bulma es exclusivamente CSS y no incluye JavaScript, así que script.js programa el carrusel, el carrito, la apertura de modales y el envío de la compra al servidor. Los modales de inicio de sesión y registro son una simulación de interfaz (se explica en mejoras). La imagen es la figura 13: la sección “Lo más vendido” y la colección Running generadas desde la base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Expone: Sotomayor, José Luis. [⏱ ~40 s + demo en vivo ~2 min] Seguir el flujo documentado en el informe, de izquierda a derecha. Paso 1: el cliente agrega una unidad de Polo Técnico Dry-Fit Pro (S/. 45.00) y una de Medias Técnicas de Compresión (S/. 25.00); el carrito lateral muestra S/. 70.00 en tiempo real (figura 9). Paso 2: al presionar “Proceder al pago”, script.js arma la lista mapeoProductos con lo que hay en el carrito. Paso 3: JavaScript ejecuta fetch con método POST y cabecera Content-Type application/json hacia /api/productos/procesar-pago, enviando el JSON (código 13). Si la respuesta no es correcta lanza un error; si lo es, cierra el carrito, muestra la confirmación, vacía el carrito y actualiza la pantalla. Paso 4: ProductoController recibe la petición y llama a registrarVentaDesdeWeb del servicio, cuyo detalle está en el respaldo al final de estas notas. El fragmento se reformateó para proyectarlo; el manejo completo de la respuesta está en el informe.</a:t>
            </a:r>
          </a:p>
          <a:p/>
          <a:p>
            <a:r>
              <a:t>GUION DE LA DEMO EN VIVO (~2 min): Guion de la demostración (cuatro momentos): 1) Catálogo: abrir http://localhost:8080, recorrer “Lo más vendido” y las colecciones, y elegir productos. 2) Panel: entrar a /ver-productos para mostrar el inventario cargado desde PostgreSQL y el formulario; explicar el alta o la edición con un producto de prueba. 3) Validación: enviar nombre vacío, precio 0 e imagen vacía y mostrar los errores devueltos por Spring mediante BindingResult y Thymeleaf (conecta con la diapositiva 10). 4) Compra: volver a la tienda, añadir Polo Técnico Dry-Fit Pro y Medias Técnicas de Compresión, abrir el carrito, comprobar S/. 70.00 y pulsar Proceder al pago. Luego consultar ventas y detalles_ventas en pgAdmin para mostrar la relación. Antes de empezar: la aplicación debe estar iniciada (la consola muestra Spring Boot 4.1.1 y Tomcat en el puerto 8080, figura 2) y pgAdmin abierto en linksport_db. Recordar que con create-drop los datos se recargan desde import.sql en cada arranque. Una nueva demostración puede generar un id de venta distinto; la venta 6 es la evidencia del informe. Plan B si algo falla: usar las capturas del informe (figuras 2, 3, 9 y 10).</a:t>
            </a:r>
          </a:p>
          <a:p/>
          <a:p>
            <a:r>
              <a:t>RESPALDO · registrarVentaDesdeWeb: Este es el método del servicio que persiste la compra (código 3 del informe). Se muestra resumido; el método completo incluye validaciones de carrito vacío y de usuario existente. Paso a paso: (1) si el carrito es nulo o está vacío no hace nada, y busca el usuario con id 1 (usuario de prueba, cargado por import.sql); (2) crea la cabecera Venta, le asigna el usuario y el total, que se calcula sumando precio por cantidad de cada producto del carrito; (3) por cada producto busca el producto real en la base con findById y crea un DetalleVenta con la venta, el producto, la cantidad y el precio unitario tomado de la base; (4) llama una sola vez a ventaRepository.save(nuevaVenta): gracias a cascade = ALL en la relación Venta–DetalleVenta se guardan la cabecera y todas sus líneas. Limitación que conviene reconocer: la cabecera toma el total con los precios enviados desde el navegador, no con los precios almacenados. La mejora es identificar los productos por su id de base de datos y recalcular el total en el servidor (diapositiva 12).</a:t>
            </a:r>
          </a:p>
          <a:p/>
          <a:p>
            <a:r>
              <a:t>RESPALDO · registro de la venta 6: Mostrar la figura 10 del informe: la tabla ventas en pgAdmin 4 después de la compra. Señalar la última fila: id 6, total_pagar 70, la fecha de compra y usuario_id 1. Relacionarla con el carrito de S/. 70.00 de la diapositiva 11. Las líneas de la compra se guardan en detalles_ventas, relacionadas con su venta y su producto mediante las claves foráneas venta_id y producto_id (el informe las menciona como figura 11). PENDIENTE PARA EL EQUIPO: el recuadro punteado indica la captura que falta. Ejecutar en pgAdmin SELECT id, venta_id, producto_id, cantidad, precio_unitario FROM detalles_ventas WHERE venta_id = 6; y capturar la consulta con sus resultados; luego reemplazar el recuadro por la imagen. Mantener los valores reales que aparezcan en la base y contrastarlos con la cabecera (45 + 25 = 70). Si se repite la demostración en vivo, el id de la nueva venta puede ser distinto de 6: la venta 6 es la evidencia del informe.</a:t>
            </a:r>
          </a:p>
          <a:p/>
          <a:p>
            <a:r>
              <a:t>RESPALDO · Bulma, Thymeleaf y JavaScript: Se usó Bulma 1.0.4 como alternativa a Bootstrap, cargado desde CDN, sobre plantillas Thymeleaf con HTML5 semántico. Componentes principales (sección 3.7 del informe): navbar con navbar-burger que se colapsa en pantallas pequeñas; catálogo con columns is-multiline y una column is-3 por producto generada con th:each, que da cuatro productos por fila en pantallas medianas y grandes y una sola columna en móviles; cada producto es un card; tabla de inventario con table is-bordered is-striped is-hoverable is-fullwidth y formulario field/control/input en el panel; ventanas modales para inicio de sesión, registro y confirmación de compra; carrito lateral con subtotal en tiempo real. Bulma es exclusivamente CSS y no incluye JavaScript, así que script.js programa el carrusel, el carrito, la apertura de modales y el envío de la compra al servidor. Los modales de inicio de sesión y registro son una simulación de interfaz (se explica en mejoras). La imagen es la figura 13: la sección “Lo más vendido” y la colección Running generadas desde la base de datos.</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Expone: Sotomayor, José Luis. [⏱ ~25 s] Cerrar relacionando cada conclusión con un objetivo del informe: 01 Persistencia: el catálogo se guarda en PostgreSQL mediante repositorios Spring Data JPA y el mapeo de Hibernate; los datos iniciales se cargan desde import.sql. Con create-drop es adecuado para desarrollo. 02 Modelo: cinco entidades (Categoría, Producto, Usuario, Venta y DetalleVenta) con claves foráneas organizan el catálogo por secciones y registran cada compra, guardada junto con sus detalles gracias a la cascada. 03 Validación: anotaciones en las entidades, @Valid y BindingResult en los controladores y th:errors en las vistas evitan nombres vacíos, precios inválidos o productos sin imagen. 04 Arquitectura: la capa de repositorio permitió sustituir la persistencia sin tocar las vistas, como se anticipó en el Avance 2, y mantiene paquetes de responsabilidad única. 05 Interfaz y evidencia: Bulma, Thymeleaf y JavaScript construyen una interfaz responsiva; el carrito envía la compra al servidor y la venta 6 por S/. 70.00 queda documentada. Frase final: “Con esto LINKSPORT pasa de un prototipo en memoria a una tienda con base de datos; los siguientes pasos son seguridad, DTO y un esquema persistente. Gracias; quedamos atentos a sus preguntas”.</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Expone: Sotomayor, José Luis. [⏱ se deja proyectada durante las preguntas] Presentar las fuentes que respaldan la arquitectura empresarial, el ORM, la validación, la interfaz y la base de datos. Los libros mantienen sus títulos y ediciones; las documentaciones oficiales corresponden a los frameworks y al motor utilizados. CAPECE (2023) aporta el contexto del comercio electrónico peruano. Dónde se citó cada una: Walls (2022) y Fowler (2002) en antecedentes y arquitectura; Bauer et al. (2015) en ORM, JPA y relaciones; Gamma et al. (1994) en MVC; Marcotte (2011) en diseño responsivo; Jakarta EE, Spring, Hibernate, PostgreSQL, Thymeleaf y Bulma en el fundamento teórico y las tecnologías. Cierre: agradecer y abrir a preguntas. REFERENCIAS COMPLETAS (con enlaces): Bauer, C., King, G., &amp; Gregory, G. (2015). Java persistence with Hibernate (2.ª ed.). Manning Publications. Bulma. (2025). Bulma documentation. https://bulma.io/documentation/ CAPECE. (2023). Reporte oficial de la industria Ecommerce en Perú 2022-2023. Cámara Peruana de Comercio Electrónico. https://www.capece.org.pe/congreso-observatorio-ecommerce/ Fowler, M. (2002). Patterns of enterprise application architecture. Addison-Wesley. Gamma, E., Helm, R., Johnson, R., &amp; Vlissides, J. (1994). Design patterns: Elements of reusable object-oriented software. Addison-Wesley. Hibernate. (s. f.). Hibernate ORM documentation. https://hibernate.org/orm/documentation/ Jakarta EE. (s. f.). Jakarta Bean Validation. https://jakarta.ee/specifications/bean-validation/ Marcotte, E. (2011). Responsive web design. A Book Apart. PostgreSQL Global Development Group. (s. f.). PostgreSQL documentation. https://www.postgresql.org/docs/ Spring. (s. f.-a). Spring Boot reference documentation. https://docs.spring.io/spring-boot/ Spring. (s. f.-b). Spring Data JPA. https://spring.io/projects/spring-data-jpa Thymeleaf. (2025). Using Thymeleaf. https://www.thymeleaf.org/documentation.html Walls, C. (2022). Spring in action (6.ª ed.). Manning Publications.</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70" y="899124"/>
            <a:ext cx="10566460" cy="391064"/>
          </a:xfrm>
          <a:prstGeom prst="rect">
            <a:avLst/>
          </a:prstGeom>
          <a:noFill/>
        </p:spPr>
        <p:txBody>
          <a:bodyPr wrap="square" lIns="0" tIns="0" rIns="0" bIns="0" rtlCol="0" anchor="t"/>
          <a:lstStyle>
            <a:lvl1pPr marL="0" indent="0" algn="l">
              <a:lnSpc>
                <a:spcPct val="115000"/>
              </a:lnSpc>
              <a:buNone/>
              <a:defRPr lang="en-US" sz="2800" dirty="0">
                <a:solidFill>
                  <a:srgbClr val="1E222B"/>
                </a:solidFill>
                <a:latin typeface="Lato" panose="020F0502020204030203" pitchFamily="34" charset="0"/>
                <a:ea typeface="Lato" panose="020F0502020204030203" pitchFamily="34" charset="-122"/>
                <a:cs typeface="Lato" panose="020F0502020204030203"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770" y="1594988"/>
            <a:ext cx="10566430" cy="4450212"/>
          </a:xfrm>
          <a:prstGeom prst="rect">
            <a:avLst/>
          </a:prstGeom>
          <a:noFill/>
        </p:spPr>
        <p:txBody>
          <a:bodyPr wrap="square" lIns="0" tIns="0" rIns="0" bIns="0" rtlCol="0" anchor="t"/>
          <a:lstStyle>
            <a:lvl1pPr marL="0" indent="0" algn="l">
              <a:lnSpc>
                <a:spcPct val="140000"/>
              </a:lnSpc>
              <a:buNone/>
              <a:defRPr lang="en-US" sz="1600" dirty="0">
                <a:solidFill>
                  <a:srgbClr val="1E222B"/>
                </a:solidFill>
                <a:latin typeface="Lato" panose="020F0502020204030203" pitchFamily="34" charset="0"/>
                <a:ea typeface="Lato" panose="020F0502020204030203" pitchFamily="34" charset="-122"/>
                <a:cs typeface="Lato" panose="020F0502020204030203"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70" y="899124"/>
            <a:ext cx="10566460" cy="391064"/>
          </a:xfrm>
          <a:prstGeom prst="rect">
            <a:avLst/>
          </a:prstGeom>
          <a:noFill/>
        </p:spPr>
        <p:txBody>
          <a:bodyPr wrap="square" lIns="0" tIns="0" rIns="0" bIns="0" rtlCol="0" anchor="t"/>
          <a:lstStyle>
            <a:lvl1pPr marL="0" indent="0" algn="l">
              <a:lnSpc>
                <a:spcPct val="115000"/>
              </a:lnSpc>
              <a:buNone/>
              <a:defRPr lang="en-US" sz="2800" dirty="0">
                <a:solidFill>
                  <a:srgbClr val="1E222B"/>
                </a:solidFill>
                <a:latin typeface="Lato" panose="020F0502020204030203" pitchFamily="34" charset="0"/>
                <a:ea typeface="Lato" panose="020F0502020204030203" pitchFamily="34" charset="-122"/>
                <a:cs typeface="Lato" panose="020F0502020204030203"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770" y="1594988"/>
            <a:ext cx="10566430" cy="4450212"/>
          </a:xfrm>
          <a:prstGeom prst="rect">
            <a:avLst/>
          </a:prstGeom>
          <a:noFill/>
        </p:spPr>
        <p:txBody>
          <a:bodyPr wrap="square" lIns="0" tIns="0" rIns="0" bIns="0" rtlCol="0" anchor="t"/>
          <a:lstStyle>
            <a:lvl1pPr marL="0" indent="0" algn="l">
              <a:lnSpc>
                <a:spcPct val="140000"/>
              </a:lnSpc>
              <a:buNone/>
              <a:defRPr lang="en-US" sz="1600" dirty="0">
                <a:solidFill>
                  <a:srgbClr val="1E222B"/>
                </a:solidFill>
                <a:latin typeface="Lato" panose="020F0502020204030203" pitchFamily="34" charset="0"/>
                <a:ea typeface="Lato" panose="020F0502020204030203" pitchFamily="34" charset="-122"/>
                <a:cs typeface="Lato" panose="020F0502020204030203"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22B"/>
        </a:solidFill>
        <a:effectLst/>
      </p:bgPr>
    </p:bg>
    <p:spTree>
      <p:nvGrpSpPr>
        <p:cNvPr id="1" name=""/>
        <p:cNvGrpSpPr/>
        <p:nvPr/>
      </p:nvGrpSpPr>
      <p:grpSpPr>
        <a:xfrm>
          <a:off x="0" y="0"/>
          <a:ext cx="0" cy="0"/>
          <a:chOff x="0" y="0"/>
          <a:chExt cx="0" cy="0"/>
        </a:xfrm>
      </p:grpSpPr>
      <p:sp>
        <p:nvSpPr>
          <p:cNvPr id="2" name="Shape 0"/>
          <p:cNvSpPr/>
          <p:nvPr/>
        </p:nvSpPr>
        <p:spPr>
          <a:xfrm>
            <a:off x="7873940" y="0"/>
            <a:ext cx="4317970" cy="6858000"/>
          </a:xfrm>
          <a:prstGeom prst="rect">
            <a:avLst/>
          </a:prstGeom>
          <a:solidFill>
            <a:srgbClr val="FBBF24"/>
          </a:solidFill>
        </p:spPr>
        <p:txBody>
          <a:bodyPr/>
          <a:lstStyle/>
          <a:p>
            <a:endParaRPr lang="es-PE"/>
          </a:p>
        </p:txBody>
      </p:sp>
      <p:sp>
        <p:nvSpPr>
          <p:cNvPr id="3" name="Text 1"/>
          <p:cNvSpPr/>
          <p:nvPr/>
        </p:nvSpPr>
        <p:spPr>
          <a:xfrm>
            <a:off x="812770" y="812770"/>
            <a:ext cx="6540439" cy="238724"/>
          </a:xfrm>
          <a:prstGeom prst="rect">
            <a:avLst/>
          </a:prstGeom>
          <a:noFill/>
        </p:spPr>
        <p:txBody>
          <a:bodyPr wrap="square" lIns="0" tIns="0" rIns="0" bIns="0" rtlCol="0" anchor="t">
            <a:normAutofit/>
          </a:bodyPr>
          <a:lstStyle/>
          <a:p>
            <a:pPr marL="0" indent="0" algn="l">
              <a:lnSpc>
                <a:spcPts val="1680"/>
              </a:lnSpc>
              <a:buNone/>
            </a:pPr>
            <a:r>
              <a:rPr lang="en-US" sz="1200" b="1" kern="0" spc="100" dirty="0">
                <a:solidFill>
                  <a:srgbClr val="FBBF24"/>
                </a:solidFill>
                <a:latin typeface="Lato" panose="020F0502020204030203" pitchFamily="34" charset="0"/>
                <a:ea typeface="Lato" panose="020F0502020204030203" pitchFamily="34" charset="-122"/>
                <a:cs typeface="Lato" panose="020F0502020204030203" pitchFamily="34" charset="-120"/>
              </a:rPr>
              <a:t>UNIVERSIDAD TECNOLÓGICA DEL PERÚ</a:t>
            </a:r>
            <a:endParaRPr lang="en-US" sz="1200" dirty="0"/>
          </a:p>
        </p:txBody>
      </p:sp>
      <p:sp>
        <p:nvSpPr>
          <p:cNvPr id="4" name="Shape 2"/>
          <p:cNvSpPr/>
          <p:nvPr/>
        </p:nvSpPr>
        <p:spPr>
          <a:xfrm>
            <a:off x="812770" y="1811278"/>
            <a:ext cx="609600" cy="63440"/>
          </a:xfrm>
          <a:prstGeom prst="rect">
            <a:avLst/>
          </a:prstGeom>
          <a:solidFill>
            <a:srgbClr val="FBBF24"/>
          </a:solidFill>
        </p:spPr>
        <p:txBody>
          <a:bodyPr/>
          <a:lstStyle/>
          <a:p>
            <a:endParaRPr lang="es-PE"/>
          </a:p>
        </p:txBody>
      </p:sp>
      <p:sp>
        <p:nvSpPr>
          <p:cNvPr id="5" name="Text 3"/>
          <p:cNvSpPr>
            <a:spLocks noGrp="1"/>
          </p:cNvSpPr>
          <p:nvPr>
            <p:ph type="title"/>
          </p:nvPr>
        </p:nvSpPr>
        <p:spPr>
          <a:xfrm>
            <a:off x="812770" y="2027118"/>
            <a:ext cx="6540439" cy="1930400"/>
          </a:xfrm>
          <a:prstGeom prst="rect">
            <a:avLst/>
          </a:prstGeom>
          <a:noFill/>
        </p:spPr>
        <p:txBody>
          <a:bodyPr wrap="square" lIns="0" tIns="0" rIns="0" bIns="0" rtlCol="0" anchor="t">
            <a:normAutofit/>
          </a:bodyPr>
          <a:lstStyle/>
          <a:p>
            <a:pPr marL="0" indent="0" algn="l">
              <a:lnSpc>
                <a:spcPts val="7500"/>
              </a:lnSpc>
              <a:buNone/>
            </a:pPr>
            <a:r>
              <a:rPr lang="en-US" sz="7500" b="1" i="0" dirty="0">
                <a:solidFill>
                  <a:srgbClr val="F6F5F1"/>
                </a:solidFill>
                <a:latin typeface="Lato" panose="020F0502020204030203" pitchFamily="34" charset="0"/>
                <a:ea typeface="Lato" panose="020F0502020204030203" pitchFamily="34" charset="-122"/>
                <a:cs typeface="Lato" panose="020F0502020204030203" pitchFamily="34" charset="-120"/>
              </a:rPr>
              <a:t>LINK</a:t>
            </a:r>
            <a:endParaRPr lang="en-US" sz="7500" dirty="0"/>
          </a:p>
          <a:p>
            <a:pPr marL="0" indent="0" algn="l">
              <a:lnSpc>
                <a:spcPts val="7500"/>
              </a:lnSpc>
              <a:buNone/>
            </a:pPr>
            <a:r>
              <a:rPr lang="en-US" sz="7500" b="1" i="0" dirty="0">
                <a:solidFill>
                  <a:srgbClr val="F6F5F1"/>
                </a:solidFill>
                <a:latin typeface="Lato" panose="020F0502020204030203" pitchFamily="34" charset="0"/>
                <a:ea typeface="Lato" panose="020F0502020204030203" pitchFamily="34" charset="-122"/>
                <a:cs typeface="Lato" panose="020F0502020204030203" pitchFamily="34" charset="-120"/>
              </a:rPr>
              <a:t>SPORT</a:t>
            </a:r>
            <a:endParaRPr lang="en-US" sz="7500" dirty="0"/>
          </a:p>
        </p:txBody>
      </p:sp>
      <p:sp>
        <p:nvSpPr>
          <p:cNvPr id="6" name="Text 4"/>
          <p:cNvSpPr/>
          <p:nvPr/>
        </p:nvSpPr>
        <p:spPr>
          <a:xfrm>
            <a:off x="812770" y="4084518"/>
            <a:ext cx="6540439" cy="345386"/>
          </a:xfrm>
          <a:prstGeom prst="rect">
            <a:avLst/>
          </a:prstGeom>
          <a:noFill/>
        </p:spPr>
        <p:txBody>
          <a:bodyPr wrap="square" lIns="0" tIns="0" rIns="0" bIns="0" rtlCol="0" anchor="t">
            <a:normAutofit/>
          </a:bodyPr>
          <a:lstStyle/>
          <a:p>
            <a:pPr marL="0" indent="0" algn="l">
              <a:lnSpc>
                <a:spcPts val="2520"/>
              </a:lnSpc>
              <a:buNone/>
            </a:pPr>
            <a:r>
              <a:rPr lang="en-US" sz="1800" dirty="0">
                <a:solidFill>
                  <a:srgbClr val="F6F5F1"/>
                </a:solidFill>
                <a:latin typeface="Lato" panose="020F0502020204030203" pitchFamily="34" charset="0"/>
                <a:ea typeface="Lato" panose="020F0502020204030203" pitchFamily="34" charset="-122"/>
                <a:cs typeface="Lato" panose="020F0502020204030203" pitchFamily="34" charset="-120"/>
              </a:rPr>
              <a:t>Plataforma e-commerce de indumentaria deportiva</a:t>
            </a:r>
            <a:endParaRPr lang="en-US" sz="1800" dirty="0"/>
          </a:p>
        </p:txBody>
      </p:sp>
      <p:sp>
        <p:nvSpPr>
          <p:cNvPr id="7" name="Text 5"/>
          <p:cNvSpPr/>
          <p:nvPr/>
        </p:nvSpPr>
        <p:spPr>
          <a:xfrm>
            <a:off x="812770" y="5189598"/>
            <a:ext cx="6540439" cy="292100"/>
          </a:xfrm>
          <a:prstGeom prst="rect">
            <a:avLst/>
          </a:prstGeom>
          <a:noFill/>
        </p:spPr>
        <p:txBody>
          <a:bodyPr wrap="square" lIns="0" tIns="0" rIns="0" bIns="0" rtlCol="0" anchor="t">
            <a:normAutofit/>
          </a:bodyPr>
          <a:lstStyle/>
          <a:p>
            <a:pPr marL="0" indent="0" algn="l">
              <a:lnSpc>
                <a:spcPts val="2100"/>
              </a:lnSpc>
              <a:buNone/>
            </a:pPr>
            <a:r>
              <a:rPr lang="en-US" sz="1500" b="1" dirty="0">
                <a:solidFill>
                  <a:srgbClr val="F6F5F1"/>
                </a:solidFill>
                <a:latin typeface="Lato" panose="020F0502020204030203" pitchFamily="34" charset="0"/>
                <a:ea typeface="Lato" panose="020F0502020204030203" pitchFamily="34" charset="-122"/>
                <a:cs typeface="Lato" panose="020F0502020204030203" pitchFamily="34" charset="-120"/>
              </a:rPr>
              <a:t>Marcos de Desarrollo Web · Ciclo 2026-II · Lima</a:t>
            </a:r>
            <a:endParaRPr lang="en-US" sz="1500" dirty="0"/>
          </a:p>
        </p:txBody>
      </p:sp>
      <p:sp>
        <p:nvSpPr>
          <p:cNvPr id="8" name="Text 6"/>
          <p:cNvSpPr/>
          <p:nvPr/>
        </p:nvSpPr>
        <p:spPr>
          <a:xfrm>
            <a:off x="812770" y="5519738"/>
            <a:ext cx="6540439" cy="256426"/>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C9CEDA"/>
                </a:solidFill>
                <a:latin typeface="Lato" panose="020F0502020204030203" pitchFamily="34" charset="0"/>
                <a:ea typeface="Lato" panose="020F0502020204030203" pitchFamily="34" charset="-122"/>
                <a:cs typeface="Lato" panose="020F0502020204030203" pitchFamily="34" charset="-120"/>
              </a:rPr>
              <a:t>Docente: Bernardo Climaco Hermitaño Atencio</a:t>
            </a:r>
            <a:endParaRPr lang="en-US" sz="1300" dirty="0"/>
          </a:p>
        </p:txBody>
      </p:sp>
      <p:sp>
        <p:nvSpPr>
          <p:cNvPr id="9" name="Text 7"/>
          <p:cNvSpPr/>
          <p:nvPr/>
        </p:nvSpPr>
        <p:spPr>
          <a:xfrm>
            <a:off x="812770" y="5814204"/>
            <a:ext cx="6540439" cy="256426"/>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C9CEDA"/>
                </a:solidFill>
                <a:latin typeface="Lato" panose="020F0502020204030203" pitchFamily="34" charset="0"/>
                <a:ea typeface="Lato" panose="020F0502020204030203" pitchFamily="34" charset="-122"/>
                <a:cs typeface="Lato" panose="020F0502020204030203" pitchFamily="34" charset="-120"/>
              </a:rPr>
              <a:t>Díaz Malca, Jhon Franklin · Doza Rudas, Jean Franco · Sotomayor, José Luis</a:t>
            </a:r>
            <a:endParaRPr lang="en-US" sz="1300" dirty="0"/>
          </a:p>
        </p:txBody>
      </p:sp>
      <p:pic>
        <p:nvPicPr>
          <p:cNvPr id="10" name="Image 0" descr="Logo de la Universidad Tecnológica del Perú"/>
          <p:cNvPicPr>
            <a:picLocks noChangeAspect="1"/>
          </p:cNvPicPr>
          <p:nvPr/>
        </p:nvPicPr>
        <p:blipFill>
          <a:blip r:embed="rId1"/>
          <a:srcRect l="-133" r="-133"/>
          <a:stretch>
            <a:fillRect/>
          </a:stretch>
        </p:blipFill>
        <p:spPr>
          <a:xfrm>
            <a:off x="8382000" y="812770"/>
            <a:ext cx="2666910" cy="1009650"/>
          </a:xfrm>
          <a:prstGeom prst="rect">
            <a:avLst/>
          </a:prstGeom>
        </p:spPr>
      </p:pic>
      <p:sp>
        <p:nvSpPr>
          <p:cNvPr id="11" name="Text 8"/>
          <p:cNvSpPr/>
          <p:nvPr/>
        </p:nvSpPr>
        <p:spPr>
          <a:xfrm>
            <a:off x="8382000" y="2158940"/>
            <a:ext cx="2877789" cy="1676370"/>
          </a:xfrm>
          <a:prstGeom prst="rect">
            <a:avLst/>
          </a:prstGeom>
          <a:noFill/>
        </p:spPr>
        <p:txBody>
          <a:bodyPr wrap="square" lIns="0" tIns="0" rIns="0" bIns="0" rtlCol="0" anchor="t">
            <a:normAutofit/>
          </a:bodyPr>
          <a:lstStyle/>
          <a:p>
            <a:pPr marL="0" indent="0" algn="l">
              <a:lnSpc>
                <a:spcPts val="13000"/>
              </a:lnSpc>
              <a:buNone/>
            </a:pPr>
            <a:r>
              <a:rPr lang="en-US" sz="13000" b="1" dirty="0">
                <a:solidFill>
                  <a:srgbClr val="1E222B"/>
                </a:solidFill>
                <a:latin typeface="Lato" panose="020F0502020204030203" pitchFamily="34" charset="0"/>
                <a:ea typeface="Lato" panose="020F0502020204030203" pitchFamily="34" charset="-122"/>
                <a:cs typeface="Lato" panose="020F0502020204030203" pitchFamily="34" charset="-120"/>
              </a:rPr>
              <a:t>03</a:t>
            </a:r>
            <a:endParaRPr lang="en-US" sz="13000" dirty="0"/>
          </a:p>
        </p:txBody>
      </p:sp>
      <p:sp>
        <p:nvSpPr>
          <p:cNvPr id="12" name="Text 9"/>
          <p:cNvSpPr/>
          <p:nvPr/>
        </p:nvSpPr>
        <p:spPr>
          <a:xfrm>
            <a:off x="8382000" y="4191000"/>
            <a:ext cx="2877789" cy="609660"/>
          </a:xfrm>
          <a:prstGeom prst="rect">
            <a:avLst/>
          </a:prstGeom>
          <a:noFill/>
        </p:spPr>
        <p:txBody>
          <a:bodyPr wrap="square" lIns="0" tIns="0" rIns="0" bIns="0" rtlCol="0" anchor="t">
            <a:normAutofit/>
          </a:bodyPr>
          <a:lstStyle/>
          <a:p>
            <a:pPr marL="0" indent="0" algn="l">
              <a:lnSpc>
                <a:spcPts val="2300"/>
              </a:lnSpc>
              <a:buNone/>
            </a:pPr>
            <a:r>
              <a:rPr lang="en-US" sz="2000" b="1" kern="0" spc="50" dirty="0">
                <a:solidFill>
                  <a:srgbClr val="1E222B"/>
                </a:solidFill>
                <a:latin typeface="Lato" panose="020F0502020204030203" pitchFamily="34" charset="0"/>
                <a:ea typeface="Lato" panose="020F0502020204030203" pitchFamily="34" charset="-122"/>
                <a:cs typeface="Lato" panose="020F0502020204030203" pitchFamily="34" charset="-120"/>
              </a:rPr>
              <a:t>AVANCE DE</a:t>
            </a:r>
            <a:endParaRPr lang="en-US" sz="2000" dirty="0"/>
          </a:p>
          <a:p>
            <a:pPr marL="0" indent="0" algn="l">
              <a:lnSpc>
                <a:spcPts val="2300"/>
              </a:lnSpc>
              <a:buNone/>
            </a:pPr>
            <a:r>
              <a:rPr lang="en-US" sz="2000" b="1" kern="0" spc="50" dirty="0">
                <a:solidFill>
                  <a:srgbClr val="1E222B"/>
                </a:solidFill>
                <a:latin typeface="Lato" panose="020F0502020204030203" pitchFamily="34" charset="0"/>
                <a:ea typeface="Lato" panose="020F0502020204030203" pitchFamily="34" charset="-122"/>
                <a:cs typeface="Lato" panose="020F0502020204030203" pitchFamily="34" charset="-120"/>
              </a:rPr>
              <a:t>TRABAJO FINAL</a:t>
            </a:r>
            <a:endParaRPr lang="en-US" sz="2000" dirty="0"/>
          </a:p>
        </p:txBody>
      </p:sp>
      <p:sp>
        <p:nvSpPr>
          <p:cNvPr id="13" name="Text 10"/>
          <p:cNvSpPr/>
          <p:nvPr/>
        </p:nvSpPr>
        <p:spPr>
          <a:xfrm>
            <a:off x="8382000" y="5206940"/>
            <a:ext cx="2877789" cy="273050"/>
          </a:xfrm>
          <a:prstGeom prst="rect">
            <a:avLst/>
          </a:prstGeom>
          <a:noFill/>
        </p:spPr>
        <p:txBody>
          <a:bodyPr wrap="square" lIns="0" tIns="0" rIns="0" bIns="0" rtlCol="0" anchor="t">
            <a:normAutofit/>
          </a:bodyPr>
          <a:lstStyle/>
          <a:p>
            <a:pPr marL="0" indent="0" algn="l">
              <a:lnSpc>
                <a:spcPts val="1950"/>
              </a:lnSpc>
              <a:buNone/>
            </a:pPr>
            <a:r>
              <a:rPr lang="en-US" sz="1500" b="1" dirty="0">
                <a:solidFill>
                  <a:srgbClr val="1E222B"/>
                </a:solidFill>
                <a:latin typeface="Lato" panose="020F0502020204030203" pitchFamily="34" charset="0"/>
                <a:ea typeface="Lato" panose="020F0502020204030203" pitchFamily="34" charset="-122"/>
                <a:cs typeface="Lato" panose="020F0502020204030203" pitchFamily="34" charset="-120"/>
              </a:rPr>
              <a:t>Aplicación web empresarial</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5F1"/>
        </a:solidFill>
        <a:effectLst/>
      </p:bgPr>
    </p:bg>
    <p:spTree>
      <p:nvGrpSpPr>
        <p:cNvPr id="1" name=""/>
        <p:cNvGrpSpPr/>
        <p:nvPr/>
      </p:nvGrpSpPr>
      <p:grpSpPr>
        <a:xfrm>
          <a:off x="0" y="0"/>
          <a:ext cx="0" cy="0"/>
          <a:chOff x="0" y="0"/>
          <a:chExt cx="0" cy="0"/>
        </a:xfrm>
      </p:grpSpPr>
      <p:sp>
        <p:nvSpPr>
          <p:cNvPr id="2" name="Shape 0"/>
          <p:cNvSpPr/>
          <p:nvPr/>
        </p:nvSpPr>
        <p:spPr>
          <a:xfrm>
            <a:off x="812770" y="690832"/>
            <a:ext cx="355570" cy="50770"/>
          </a:xfrm>
          <a:prstGeom prst="rect">
            <a:avLst/>
          </a:prstGeom>
          <a:solidFill>
            <a:srgbClr val="FBBF24"/>
          </a:solidFill>
        </p:spPr>
        <p:txBody>
          <a:bodyPr/>
          <a:lstStyle/>
          <a:p>
            <a:endParaRPr lang="es-PE"/>
          </a:p>
        </p:txBody>
      </p:sp>
      <p:sp>
        <p:nvSpPr>
          <p:cNvPr id="3" name="Text 1"/>
          <p:cNvSpPr/>
          <p:nvPr/>
        </p:nvSpPr>
        <p:spPr>
          <a:xfrm>
            <a:off x="1269880" y="609600"/>
            <a:ext cx="4542994" cy="238724"/>
          </a:xfrm>
          <a:prstGeom prst="rect">
            <a:avLst/>
          </a:prstGeom>
          <a:noFill/>
        </p:spPr>
        <p:txBody>
          <a:bodyPr wrap="square" lIns="0" tIns="0" rIns="0" bIns="0" rtlCol="0" anchor="t">
            <a:normAutofit/>
          </a:bodyPr>
          <a:lstStyle/>
          <a:p>
            <a:pPr marL="0" indent="0" algn="l">
              <a:lnSpc>
                <a:spcPts val="1680"/>
              </a:lnSpc>
              <a:buNone/>
            </a:pPr>
            <a:r>
              <a:rPr lang="en-US" sz="1200" b="1" kern="0" spc="100" dirty="0">
                <a:solidFill>
                  <a:srgbClr val="596070"/>
                </a:solidFill>
                <a:latin typeface="Lato" panose="020F0502020204030203" pitchFamily="34" charset="0"/>
                <a:ea typeface="Lato" panose="020F0502020204030203" pitchFamily="34" charset="-122"/>
                <a:cs typeface="Lato" panose="020F0502020204030203" pitchFamily="34" charset="-120"/>
              </a:rPr>
              <a:t>CAPÍTULO 1 / 1.1 DEFINICIÓN DEL PROBLEMA</a:t>
            </a:r>
            <a:endParaRPr lang="en-US" sz="1200" dirty="0"/>
          </a:p>
        </p:txBody>
      </p:sp>
      <p:sp>
        <p:nvSpPr>
          <p:cNvPr id="4" name="Text 2"/>
          <p:cNvSpPr>
            <a:spLocks noGrp="1"/>
          </p:cNvSpPr>
          <p:nvPr>
            <p:ph type="title"/>
          </p:nvPr>
        </p:nvSpPr>
        <p:spPr>
          <a:xfrm>
            <a:off x="812770" y="899125"/>
            <a:ext cx="10883453" cy="416464"/>
          </a:xfrm>
          <a:prstGeom prst="rect">
            <a:avLst/>
          </a:prstGeom>
          <a:noFill/>
        </p:spPr>
        <p:txBody>
          <a:bodyPr wrap="square" lIns="0" tIns="0" rIns="0" bIns="0" rtlCol="0" anchor="t">
            <a:normAutofit/>
          </a:bodyPr>
          <a:lstStyle/>
          <a:p>
            <a:pPr marL="0" indent="0" algn="l">
              <a:lnSpc>
                <a:spcPts val="3080"/>
              </a:lnSpc>
              <a:buNone/>
            </a:pPr>
            <a:r>
              <a:rPr lang="en-US" sz="2800" b="1" i="0" dirty="0">
                <a:solidFill>
                  <a:srgbClr val="1E222B"/>
                </a:solidFill>
                <a:latin typeface="Lato" panose="020F0502020204030203" pitchFamily="34" charset="0"/>
                <a:ea typeface="Lato" panose="020F0502020204030203" pitchFamily="34" charset="-122"/>
                <a:cs typeface="Lato" panose="020F0502020204030203" pitchFamily="34" charset="-120"/>
              </a:rPr>
              <a:t>Del Avance 2 al Avance 3</a:t>
            </a:r>
            <a:endParaRPr lang="en-US" sz="2800" dirty="0"/>
          </a:p>
        </p:txBody>
      </p:sp>
      <p:sp>
        <p:nvSpPr>
          <p:cNvPr id="5" name="Text 3"/>
          <p:cNvSpPr/>
          <p:nvPr/>
        </p:nvSpPr>
        <p:spPr>
          <a:xfrm>
            <a:off x="812770" y="1467929"/>
            <a:ext cx="5003860" cy="314864"/>
          </a:xfrm>
          <a:prstGeom prst="roundRect">
            <a:avLst>
              <a:gd name="adj" fmla="val 20167"/>
            </a:avLst>
          </a:prstGeom>
          <a:solidFill>
            <a:srgbClr val="1E222B"/>
          </a:solidFill>
        </p:spPr>
        <p:txBody>
          <a:bodyPr wrap="square" lIns="108401" tIns="32201" rIns="0" bIns="6801" rtlCol="0" anchor="t">
            <a:normAutofit/>
          </a:bodyPr>
          <a:lstStyle/>
          <a:p>
            <a:pPr marL="0" indent="0" algn="l">
              <a:lnSpc>
                <a:spcPts val="1680"/>
              </a:lnSpc>
              <a:buNone/>
            </a:pPr>
            <a:r>
              <a:rPr lang="en-US" sz="1200" b="1" kern="0" spc="50" dirty="0">
                <a:solidFill>
                  <a:srgbClr val="F6F5F1"/>
                </a:solidFill>
                <a:latin typeface="Lato" panose="020F0502020204030203" pitchFamily="34" charset="0"/>
                <a:ea typeface="Lato" panose="020F0502020204030203" pitchFamily="34" charset="-122"/>
                <a:cs typeface="Lato" panose="020F0502020204030203" pitchFamily="34" charset="-120"/>
              </a:rPr>
              <a:t>AVANCE 2 · ARRAYLIST EN MEMORIA</a:t>
            </a:r>
            <a:endParaRPr lang="en-US" sz="1200" dirty="0"/>
          </a:p>
        </p:txBody>
      </p:sp>
      <p:sp>
        <p:nvSpPr>
          <p:cNvPr id="6" name="Text 4"/>
          <p:cNvSpPr/>
          <p:nvPr/>
        </p:nvSpPr>
        <p:spPr>
          <a:xfrm>
            <a:off x="6375280" y="1467929"/>
            <a:ext cx="5003950" cy="314864"/>
          </a:xfrm>
          <a:prstGeom prst="roundRect">
            <a:avLst>
              <a:gd name="adj" fmla="val 20167"/>
            </a:avLst>
          </a:prstGeom>
          <a:solidFill>
            <a:srgbClr val="FBBF24"/>
          </a:solidFill>
        </p:spPr>
        <p:txBody>
          <a:bodyPr wrap="square" lIns="108401" tIns="32201" rIns="0" bIns="6801" rtlCol="0" anchor="t">
            <a:normAutofit/>
          </a:bodyPr>
          <a:lstStyle/>
          <a:p>
            <a:pPr marL="0" indent="0" algn="l">
              <a:lnSpc>
                <a:spcPts val="1680"/>
              </a:lnSpc>
              <a:buNone/>
            </a:pPr>
            <a:r>
              <a:rPr lang="en-US" sz="1200" b="1" kern="0" spc="50" dirty="0">
                <a:solidFill>
                  <a:srgbClr val="1E222B"/>
                </a:solidFill>
                <a:latin typeface="Lato" panose="020F0502020204030203" pitchFamily="34" charset="0"/>
                <a:ea typeface="Lato" panose="020F0502020204030203" pitchFamily="34" charset="-122"/>
                <a:cs typeface="Lato" panose="020F0502020204030203" pitchFamily="34" charset="-120"/>
              </a:rPr>
              <a:t>AVANCE 3 · POSTGRESQL CON JPA</a:t>
            </a:r>
            <a:endParaRPr lang="en-US" sz="1200" dirty="0"/>
          </a:p>
        </p:txBody>
      </p:sp>
      <p:sp>
        <p:nvSpPr>
          <p:cNvPr id="7" name="Shape 5"/>
          <p:cNvSpPr/>
          <p:nvPr/>
        </p:nvSpPr>
        <p:spPr>
          <a:xfrm>
            <a:off x="815945" y="1874838"/>
            <a:ext cx="4997510" cy="705958"/>
          </a:xfrm>
          <a:prstGeom prst="roundRect">
            <a:avLst>
              <a:gd name="adj" fmla="val 12143"/>
            </a:avLst>
          </a:prstGeom>
          <a:solidFill>
            <a:srgbClr val="FDFCF9"/>
          </a:solidFill>
          <a:ln w="6350">
            <a:solidFill>
              <a:srgbClr val="DDD9CC"/>
            </a:solidFill>
            <a:prstDash val="solid"/>
          </a:ln>
        </p:spPr>
        <p:txBody>
          <a:bodyPr/>
          <a:lstStyle/>
          <a:p>
            <a:endParaRPr lang="es-PE"/>
          </a:p>
        </p:txBody>
      </p:sp>
      <p:sp>
        <p:nvSpPr>
          <p:cNvPr id="8" name="Text 6"/>
          <p:cNvSpPr/>
          <p:nvPr/>
        </p:nvSpPr>
        <p:spPr>
          <a:xfrm>
            <a:off x="970921" y="1978954"/>
            <a:ext cx="4828185" cy="292100"/>
          </a:xfrm>
          <a:prstGeom prst="rect">
            <a:avLst/>
          </a:prstGeom>
          <a:noFill/>
        </p:spPr>
        <p:txBody>
          <a:bodyPr wrap="square" lIns="0" tIns="0" rIns="0" bIns="0" rtlCol="0" anchor="t">
            <a:normAutofit/>
          </a:bodyPr>
          <a:lstStyle/>
          <a:p>
            <a:pPr marL="0" indent="0" algn="l">
              <a:lnSpc>
                <a:spcPts val="2100"/>
              </a:lnSpc>
              <a:buNone/>
            </a:pPr>
            <a:r>
              <a:rPr lang="en-US" sz="1500" b="1" dirty="0">
                <a:solidFill>
                  <a:srgbClr val="1E222B"/>
                </a:solidFill>
                <a:latin typeface="Lato" panose="020F0502020204030203" pitchFamily="34" charset="0"/>
                <a:ea typeface="Lato" panose="020F0502020204030203" pitchFamily="34" charset="-122"/>
                <a:cs typeface="Lato" panose="020F0502020204030203" pitchFamily="34" charset="-120"/>
              </a:rPr>
              <a:t>Catálogo en memoria</a:t>
            </a:r>
            <a:endParaRPr lang="en-US" sz="1500" dirty="0"/>
          </a:p>
        </p:txBody>
      </p:sp>
      <p:sp>
        <p:nvSpPr>
          <p:cNvPr id="9" name="Text 7"/>
          <p:cNvSpPr/>
          <p:nvPr/>
        </p:nvSpPr>
        <p:spPr>
          <a:xfrm>
            <a:off x="970921" y="2245654"/>
            <a:ext cx="4828185" cy="256426"/>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596070"/>
                </a:solidFill>
                <a:latin typeface="Lato" panose="020F0502020204030203" pitchFamily="34" charset="0"/>
                <a:ea typeface="Lato" panose="020F0502020204030203" pitchFamily="34" charset="-122"/>
                <a:cs typeface="Lato" panose="020F0502020204030203" pitchFamily="34" charset="-120"/>
              </a:rPr>
              <a:t>Los registros se perdían al reiniciar la aplicación.</a:t>
            </a:r>
            <a:endParaRPr lang="en-US" sz="1300" dirty="0"/>
          </a:p>
        </p:txBody>
      </p:sp>
      <p:pic>
        <p:nvPicPr>
          <p:cNvPr id="10" name="Image 0" descr="arrow-right"/>
          <p:cNvPicPr>
            <a:picLocks noChangeAspect="1"/>
          </p:cNvPicPr>
          <p:nvPr/>
        </p:nvPicPr>
        <p:blipFill>
          <a:blip r:embed="rId1"/>
          <a:srcRect l="-13" r="-13"/>
          <a:stretch>
            <a:fillRect/>
          </a:stretch>
        </p:blipFill>
        <p:spPr>
          <a:xfrm>
            <a:off x="5918170" y="2138902"/>
            <a:ext cx="355570" cy="177740"/>
          </a:xfrm>
          <a:prstGeom prst="rect">
            <a:avLst/>
          </a:prstGeom>
        </p:spPr>
      </p:pic>
      <p:sp>
        <p:nvSpPr>
          <p:cNvPr id="11" name="Shape 8"/>
          <p:cNvSpPr/>
          <p:nvPr/>
        </p:nvSpPr>
        <p:spPr>
          <a:xfrm>
            <a:off x="6375280" y="1877414"/>
            <a:ext cx="5003950" cy="700806"/>
          </a:xfrm>
          <a:prstGeom prst="roundRect">
            <a:avLst>
              <a:gd name="adj" fmla="val 12685"/>
            </a:avLst>
          </a:prstGeom>
          <a:solidFill>
            <a:srgbClr val="FBBF24"/>
          </a:solidFill>
        </p:spPr>
        <p:txBody>
          <a:bodyPr/>
          <a:lstStyle/>
          <a:p>
            <a:endParaRPr lang="es-PE"/>
          </a:p>
        </p:txBody>
      </p:sp>
      <p:sp>
        <p:nvSpPr>
          <p:cNvPr id="12" name="Text 9"/>
          <p:cNvSpPr/>
          <p:nvPr/>
        </p:nvSpPr>
        <p:spPr>
          <a:xfrm>
            <a:off x="6527681" y="1978954"/>
            <a:ext cx="4840124" cy="292100"/>
          </a:xfrm>
          <a:prstGeom prst="rect">
            <a:avLst/>
          </a:prstGeom>
          <a:noFill/>
        </p:spPr>
        <p:txBody>
          <a:bodyPr wrap="square" lIns="0" tIns="0" rIns="0" bIns="0" rtlCol="0" anchor="t">
            <a:normAutofit/>
          </a:bodyPr>
          <a:lstStyle/>
          <a:p>
            <a:pPr marL="0" indent="0" algn="l">
              <a:lnSpc>
                <a:spcPts val="2100"/>
              </a:lnSpc>
              <a:buNone/>
            </a:pPr>
            <a:r>
              <a:rPr lang="en-US" sz="1500" b="1" dirty="0">
                <a:solidFill>
                  <a:srgbClr val="1E222B"/>
                </a:solidFill>
                <a:latin typeface="Lato" panose="020F0502020204030203" pitchFamily="34" charset="0"/>
                <a:ea typeface="Lato" panose="020F0502020204030203" pitchFamily="34" charset="-122"/>
                <a:cs typeface="Lato" panose="020F0502020204030203" pitchFamily="34" charset="-120"/>
              </a:rPr>
              <a:t>Repositorios JPA y PostgreSQL</a:t>
            </a:r>
            <a:endParaRPr lang="en-US" sz="1500" dirty="0"/>
          </a:p>
        </p:txBody>
      </p:sp>
      <p:sp>
        <p:nvSpPr>
          <p:cNvPr id="13" name="Text 10"/>
          <p:cNvSpPr/>
          <p:nvPr/>
        </p:nvSpPr>
        <p:spPr>
          <a:xfrm>
            <a:off x="6527681" y="2245654"/>
            <a:ext cx="4840124" cy="256426"/>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2B303B"/>
                </a:solidFill>
                <a:latin typeface="Lato" panose="020F0502020204030203" pitchFamily="34" charset="0"/>
                <a:ea typeface="Lato" panose="020F0502020204030203" pitchFamily="34" charset="-122"/>
                <a:cs typeface="Lato" panose="020F0502020204030203" pitchFamily="34" charset="-120"/>
              </a:rPr>
              <a:t>El catálogo se guarda en tablas de linksport_db.</a:t>
            </a:r>
            <a:endParaRPr lang="en-US" sz="1300" dirty="0"/>
          </a:p>
        </p:txBody>
      </p:sp>
      <p:sp>
        <p:nvSpPr>
          <p:cNvPr id="14" name="Shape 11"/>
          <p:cNvSpPr/>
          <p:nvPr/>
        </p:nvSpPr>
        <p:spPr>
          <a:xfrm>
            <a:off x="815945" y="2676017"/>
            <a:ext cx="4997510" cy="705958"/>
          </a:xfrm>
          <a:prstGeom prst="roundRect">
            <a:avLst>
              <a:gd name="adj" fmla="val 12143"/>
            </a:avLst>
          </a:prstGeom>
          <a:solidFill>
            <a:srgbClr val="FDFCF9"/>
          </a:solidFill>
          <a:ln w="6350">
            <a:solidFill>
              <a:srgbClr val="DDD9CC"/>
            </a:solidFill>
            <a:prstDash val="solid"/>
          </a:ln>
        </p:spPr>
        <p:txBody>
          <a:bodyPr/>
          <a:lstStyle/>
          <a:p>
            <a:endParaRPr lang="es-PE"/>
          </a:p>
        </p:txBody>
      </p:sp>
      <p:sp>
        <p:nvSpPr>
          <p:cNvPr id="15" name="Text 12"/>
          <p:cNvSpPr/>
          <p:nvPr/>
        </p:nvSpPr>
        <p:spPr>
          <a:xfrm>
            <a:off x="970921" y="2780133"/>
            <a:ext cx="4828185" cy="292100"/>
          </a:xfrm>
          <a:prstGeom prst="rect">
            <a:avLst/>
          </a:prstGeom>
          <a:noFill/>
        </p:spPr>
        <p:txBody>
          <a:bodyPr wrap="square" lIns="0" tIns="0" rIns="0" bIns="0" rtlCol="0" anchor="t">
            <a:normAutofit/>
          </a:bodyPr>
          <a:lstStyle/>
          <a:p>
            <a:pPr marL="0" indent="0" algn="l">
              <a:lnSpc>
                <a:spcPts val="2100"/>
              </a:lnSpc>
              <a:buNone/>
            </a:pPr>
            <a:r>
              <a:rPr lang="en-US" sz="1500" b="1" dirty="0">
                <a:solidFill>
                  <a:srgbClr val="1E222B"/>
                </a:solidFill>
                <a:latin typeface="Lato" panose="020F0502020204030203" pitchFamily="34" charset="0"/>
                <a:ea typeface="Lato" panose="020F0502020204030203" pitchFamily="34" charset="-122"/>
                <a:cs typeface="Lato" panose="020F0502020204030203" pitchFamily="34" charset="-120"/>
              </a:rPr>
              <a:t>Datos sin relaciones</a:t>
            </a:r>
            <a:endParaRPr lang="en-US" sz="1500" dirty="0"/>
          </a:p>
        </p:txBody>
      </p:sp>
      <p:sp>
        <p:nvSpPr>
          <p:cNvPr id="16" name="Text 13"/>
          <p:cNvSpPr/>
          <p:nvPr/>
        </p:nvSpPr>
        <p:spPr>
          <a:xfrm>
            <a:off x="970921" y="3046833"/>
            <a:ext cx="4828185" cy="256426"/>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596070"/>
                </a:solidFill>
                <a:latin typeface="Lato" panose="020F0502020204030203" pitchFamily="34" charset="0"/>
                <a:ea typeface="Lato" panose="020F0502020204030203" pitchFamily="34" charset="-122"/>
                <a:cs typeface="Lato" panose="020F0502020204030203" pitchFamily="34" charset="-120"/>
              </a:rPr>
              <a:t>Sin categorías ni historial de compras.</a:t>
            </a:r>
            <a:endParaRPr lang="en-US" sz="1300" dirty="0"/>
          </a:p>
        </p:txBody>
      </p:sp>
      <p:pic>
        <p:nvPicPr>
          <p:cNvPr id="17" name="Image 1" descr="arrow-right"/>
          <p:cNvPicPr>
            <a:picLocks noChangeAspect="1"/>
          </p:cNvPicPr>
          <p:nvPr/>
        </p:nvPicPr>
        <p:blipFill>
          <a:blip r:embed="rId1"/>
          <a:srcRect l="-13" r="-13"/>
          <a:stretch>
            <a:fillRect/>
          </a:stretch>
        </p:blipFill>
        <p:spPr>
          <a:xfrm>
            <a:off x="5918170" y="2940079"/>
            <a:ext cx="355570" cy="177740"/>
          </a:xfrm>
          <a:prstGeom prst="rect">
            <a:avLst/>
          </a:prstGeom>
        </p:spPr>
      </p:pic>
      <p:sp>
        <p:nvSpPr>
          <p:cNvPr id="18" name="Shape 14"/>
          <p:cNvSpPr/>
          <p:nvPr/>
        </p:nvSpPr>
        <p:spPr>
          <a:xfrm>
            <a:off x="6375280" y="2678592"/>
            <a:ext cx="5003950" cy="700806"/>
          </a:xfrm>
          <a:prstGeom prst="roundRect">
            <a:avLst>
              <a:gd name="adj" fmla="val 12685"/>
            </a:avLst>
          </a:prstGeom>
          <a:solidFill>
            <a:srgbClr val="FBBF24"/>
          </a:solidFill>
        </p:spPr>
        <p:txBody>
          <a:bodyPr/>
          <a:lstStyle/>
          <a:p>
            <a:endParaRPr lang="es-PE"/>
          </a:p>
        </p:txBody>
      </p:sp>
      <p:sp>
        <p:nvSpPr>
          <p:cNvPr id="19" name="Text 15"/>
          <p:cNvSpPr/>
          <p:nvPr/>
        </p:nvSpPr>
        <p:spPr>
          <a:xfrm>
            <a:off x="6527681" y="2780133"/>
            <a:ext cx="4840124" cy="292100"/>
          </a:xfrm>
          <a:prstGeom prst="rect">
            <a:avLst/>
          </a:prstGeom>
          <a:noFill/>
        </p:spPr>
        <p:txBody>
          <a:bodyPr wrap="square" lIns="0" tIns="0" rIns="0" bIns="0" rtlCol="0" anchor="t">
            <a:normAutofit/>
          </a:bodyPr>
          <a:lstStyle/>
          <a:p>
            <a:pPr marL="0" indent="0" algn="l">
              <a:lnSpc>
                <a:spcPts val="2100"/>
              </a:lnSpc>
              <a:buNone/>
            </a:pPr>
            <a:r>
              <a:rPr lang="en-US" sz="1500" b="1" dirty="0">
                <a:solidFill>
                  <a:srgbClr val="1E222B"/>
                </a:solidFill>
                <a:latin typeface="Lato" panose="020F0502020204030203" pitchFamily="34" charset="0"/>
                <a:ea typeface="Lato" panose="020F0502020204030203" pitchFamily="34" charset="-122"/>
                <a:cs typeface="Lato" panose="020F0502020204030203" pitchFamily="34" charset="-120"/>
              </a:rPr>
              <a:t>Cinco entidades y claves foráneas</a:t>
            </a:r>
            <a:endParaRPr lang="en-US" sz="1500" dirty="0"/>
          </a:p>
        </p:txBody>
      </p:sp>
      <p:sp>
        <p:nvSpPr>
          <p:cNvPr id="20" name="Text 16"/>
          <p:cNvSpPr/>
          <p:nvPr/>
        </p:nvSpPr>
        <p:spPr>
          <a:xfrm>
            <a:off x="6527681" y="3046833"/>
            <a:ext cx="4840124" cy="256426"/>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2B303B"/>
                </a:solidFill>
                <a:latin typeface="Lato" panose="020F0502020204030203" pitchFamily="34" charset="0"/>
                <a:ea typeface="Lato" panose="020F0502020204030203" pitchFamily="34" charset="-122"/>
                <a:cs typeface="Lato" panose="020F0502020204030203" pitchFamily="34" charset="-120"/>
              </a:rPr>
              <a:t>Categoría, producto, usuario, venta y detalle.</a:t>
            </a:r>
            <a:endParaRPr lang="en-US" sz="1300" dirty="0"/>
          </a:p>
        </p:txBody>
      </p:sp>
      <p:sp>
        <p:nvSpPr>
          <p:cNvPr id="21" name="Shape 17"/>
          <p:cNvSpPr/>
          <p:nvPr/>
        </p:nvSpPr>
        <p:spPr>
          <a:xfrm>
            <a:off x="815945" y="3477194"/>
            <a:ext cx="4997510" cy="705958"/>
          </a:xfrm>
          <a:prstGeom prst="roundRect">
            <a:avLst>
              <a:gd name="adj" fmla="val 12143"/>
            </a:avLst>
          </a:prstGeom>
          <a:solidFill>
            <a:srgbClr val="FDFCF9"/>
          </a:solidFill>
          <a:ln w="6350">
            <a:solidFill>
              <a:srgbClr val="DDD9CC"/>
            </a:solidFill>
            <a:prstDash val="solid"/>
          </a:ln>
        </p:spPr>
        <p:txBody>
          <a:bodyPr/>
          <a:lstStyle/>
          <a:p>
            <a:endParaRPr lang="es-PE"/>
          </a:p>
        </p:txBody>
      </p:sp>
      <p:sp>
        <p:nvSpPr>
          <p:cNvPr id="22" name="Text 18"/>
          <p:cNvSpPr/>
          <p:nvPr/>
        </p:nvSpPr>
        <p:spPr>
          <a:xfrm>
            <a:off x="970921" y="3581310"/>
            <a:ext cx="4828185" cy="292100"/>
          </a:xfrm>
          <a:prstGeom prst="rect">
            <a:avLst/>
          </a:prstGeom>
          <a:noFill/>
        </p:spPr>
        <p:txBody>
          <a:bodyPr wrap="square" lIns="0" tIns="0" rIns="0" bIns="0" rtlCol="0" anchor="t">
            <a:normAutofit/>
          </a:bodyPr>
          <a:lstStyle/>
          <a:p>
            <a:pPr marL="0" indent="0" algn="l">
              <a:lnSpc>
                <a:spcPts val="2100"/>
              </a:lnSpc>
              <a:buNone/>
            </a:pPr>
            <a:r>
              <a:rPr lang="en-US" sz="1500" b="1" dirty="0">
                <a:solidFill>
                  <a:srgbClr val="1E222B"/>
                </a:solidFill>
                <a:latin typeface="Lato" panose="020F0502020204030203" pitchFamily="34" charset="0"/>
                <a:ea typeface="Lato" panose="020F0502020204030203" pitchFamily="34" charset="-122"/>
                <a:cs typeface="Lato" panose="020F0502020204030203" pitchFamily="34" charset="-120"/>
              </a:rPr>
              <a:t>Entradas sin validación</a:t>
            </a:r>
            <a:endParaRPr lang="en-US" sz="1500" dirty="0"/>
          </a:p>
        </p:txBody>
      </p:sp>
      <p:sp>
        <p:nvSpPr>
          <p:cNvPr id="23" name="Text 19"/>
          <p:cNvSpPr/>
          <p:nvPr/>
        </p:nvSpPr>
        <p:spPr>
          <a:xfrm>
            <a:off x="970921" y="3848010"/>
            <a:ext cx="4828185" cy="256426"/>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596070"/>
                </a:solidFill>
                <a:latin typeface="Lato" panose="020F0502020204030203" pitchFamily="34" charset="0"/>
                <a:ea typeface="Lato" panose="020F0502020204030203" pitchFamily="34" charset="-122"/>
                <a:cs typeface="Lato" panose="020F0502020204030203" pitchFamily="34" charset="-120"/>
              </a:rPr>
              <a:t>Aceptaba nombres vacíos o precios negativos.</a:t>
            </a:r>
            <a:endParaRPr lang="en-US" sz="1300" dirty="0"/>
          </a:p>
        </p:txBody>
      </p:sp>
      <p:pic>
        <p:nvPicPr>
          <p:cNvPr id="24" name="Image 2" descr="arrow-right"/>
          <p:cNvPicPr>
            <a:picLocks noChangeAspect="1"/>
          </p:cNvPicPr>
          <p:nvPr/>
        </p:nvPicPr>
        <p:blipFill>
          <a:blip r:embed="rId1"/>
          <a:srcRect l="-13" r="-13"/>
          <a:stretch>
            <a:fillRect/>
          </a:stretch>
        </p:blipFill>
        <p:spPr>
          <a:xfrm>
            <a:off x="5918170" y="3741258"/>
            <a:ext cx="355570" cy="177740"/>
          </a:xfrm>
          <a:prstGeom prst="rect">
            <a:avLst/>
          </a:prstGeom>
        </p:spPr>
      </p:pic>
      <p:sp>
        <p:nvSpPr>
          <p:cNvPr id="25" name="Shape 20"/>
          <p:cNvSpPr/>
          <p:nvPr/>
        </p:nvSpPr>
        <p:spPr>
          <a:xfrm>
            <a:off x="6375280" y="3479771"/>
            <a:ext cx="5003950" cy="700806"/>
          </a:xfrm>
          <a:prstGeom prst="roundRect">
            <a:avLst>
              <a:gd name="adj" fmla="val 12685"/>
            </a:avLst>
          </a:prstGeom>
          <a:solidFill>
            <a:srgbClr val="FBBF24"/>
          </a:solidFill>
        </p:spPr>
        <p:txBody>
          <a:bodyPr/>
          <a:lstStyle/>
          <a:p>
            <a:endParaRPr lang="es-PE"/>
          </a:p>
        </p:txBody>
      </p:sp>
      <p:sp>
        <p:nvSpPr>
          <p:cNvPr id="26" name="Text 21"/>
          <p:cNvSpPr/>
          <p:nvPr/>
        </p:nvSpPr>
        <p:spPr>
          <a:xfrm>
            <a:off x="6527681" y="3581310"/>
            <a:ext cx="4840124" cy="292100"/>
          </a:xfrm>
          <a:prstGeom prst="rect">
            <a:avLst/>
          </a:prstGeom>
          <a:noFill/>
        </p:spPr>
        <p:txBody>
          <a:bodyPr wrap="square" lIns="0" tIns="0" rIns="0" bIns="0" rtlCol="0" anchor="t">
            <a:normAutofit/>
          </a:bodyPr>
          <a:lstStyle/>
          <a:p>
            <a:pPr marL="0" indent="0" algn="l">
              <a:lnSpc>
                <a:spcPts val="2100"/>
              </a:lnSpc>
              <a:buNone/>
            </a:pPr>
            <a:r>
              <a:rPr lang="en-US" sz="1500" b="1" dirty="0">
                <a:solidFill>
                  <a:srgbClr val="1E222B"/>
                </a:solidFill>
                <a:latin typeface="Lato" panose="020F0502020204030203" pitchFamily="34" charset="0"/>
                <a:ea typeface="Lato" panose="020F0502020204030203" pitchFamily="34" charset="-122"/>
                <a:cs typeface="Lato" panose="020F0502020204030203" pitchFamily="34" charset="-120"/>
              </a:rPr>
              <a:t>Restricciones y errores por campo</a:t>
            </a:r>
            <a:endParaRPr lang="en-US" sz="1500" dirty="0"/>
          </a:p>
        </p:txBody>
      </p:sp>
      <p:sp>
        <p:nvSpPr>
          <p:cNvPr id="27" name="Text 22"/>
          <p:cNvSpPr/>
          <p:nvPr/>
        </p:nvSpPr>
        <p:spPr>
          <a:xfrm>
            <a:off x="6527681" y="3848010"/>
            <a:ext cx="4840124" cy="256426"/>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2B303B"/>
                </a:solidFill>
                <a:latin typeface="Lato" panose="020F0502020204030203" pitchFamily="34" charset="0"/>
                <a:ea typeface="Lato" panose="020F0502020204030203" pitchFamily="34" charset="-122"/>
                <a:cs typeface="Lato" panose="020F0502020204030203" pitchFamily="34" charset="-120"/>
              </a:rPr>
              <a:t>Spring Validation con mensajes en la vista.</a:t>
            </a:r>
            <a:endParaRPr lang="en-US" sz="1300" dirty="0"/>
          </a:p>
        </p:txBody>
      </p:sp>
      <p:sp>
        <p:nvSpPr>
          <p:cNvPr id="28" name="Shape 23"/>
          <p:cNvSpPr/>
          <p:nvPr/>
        </p:nvSpPr>
        <p:spPr>
          <a:xfrm>
            <a:off x="815945" y="4278373"/>
            <a:ext cx="4997510" cy="705958"/>
          </a:xfrm>
          <a:prstGeom prst="roundRect">
            <a:avLst>
              <a:gd name="adj" fmla="val 12143"/>
            </a:avLst>
          </a:prstGeom>
          <a:solidFill>
            <a:srgbClr val="FDFCF9"/>
          </a:solidFill>
          <a:ln w="6350">
            <a:solidFill>
              <a:srgbClr val="DDD9CC"/>
            </a:solidFill>
            <a:prstDash val="solid"/>
          </a:ln>
        </p:spPr>
        <p:txBody>
          <a:bodyPr/>
          <a:lstStyle/>
          <a:p>
            <a:endParaRPr lang="es-PE"/>
          </a:p>
        </p:txBody>
      </p:sp>
      <p:sp>
        <p:nvSpPr>
          <p:cNvPr id="29" name="Text 24"/>
          <p:cNvSpPr/>
          <p:nvPr/>
        </p:nvSpPr>
        <p:spPr>
          <a:xfrm>
            <a:off x="970921" y="4382489"/>
            <a:ext cx="4828185" cy="292100"/>
          </a:xfrm>
          <a:prstGeom prst="rect">
            <a:avLst/>
          </a:prstGeom>
          <a:noFill/>
        </p:spPr>
        <p:txBody>
          <a:bodyPr wrap="square" lIns="0" tIns="0" rIns="0" bIns="0" rtlCol="0" anchor="t">
            <a:normAutofit/>
          </a:bodyPr>
          <a:lstStyle/>
          <a:p>
            <a:pPr marL="0" indent="0" algn="l">
              <a:lnSpc>
                <a:spcPts val="2100"/>
              </a:lnSpc>
              <a:buNone/>
            </a:pPr>
            <a:r>
              <a:rPr lang="en-US" sz="1500" b="1" dirty="0">
                <a:solidFill>
                  <a:srgbClr val="1E222B"/>
                </a:solidFill>
                <a:latin typeface="Lato" panose="020F0502020204030203" pitchFamily="34" charset="0"/>
                <a:ea typeface="Lato" panose="020F0502020204030203" pitchFamily="34" charset="-122"/>
                <a:cs typeface="Lato" panose="020F0502020204030203" pitchFamily="34" charset="-120"/>
              </a:rPr>
              <a:t>Carrito sin historial</a:t>
            </a:r>
            <a:endParaRPr lang="en-US" sz="1500" dirty="0"/>
          </a:p>
        </p:txBody>
      </p:sp>
      <p:sp>
        <p:nvSpPr>
          <p:cNvPr id="30" name="Text 25"/>
          <p:cNvSpPr/>
          <p:nvPr/>
        </p:nvSpPr>
        <p:spPr>
          <a:xfrm>
            <a:off x="970921" y="4649189"/>
            <a:ext cx="4828185" cy="256426"/>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596070"/>
                </a:solidFill>
                <a:latin typeface="Lato" panose="020F0502020204030203" pitchFamily="34" charset="0"/>
                <a:ea typeface="Lato" panose="020F0502020204030203" pitchFamily="34" charset="-122"/>
                <a:cs typeface="Lato" panose="020F0502020204030203" pitchFamily="34" charset="-120"/>
              </a:rPr>
              <a:t>El subtotal solo existía en el navegador.</a:t>
            </a:r>
            <a:endParaRPr lang="en-US" sz="1300" dirty="0"/>
          </a:p>
        </p:txBody>
      </p:sp>
      <p:pic>
        <p:nvPicPr>
          <p:cNvPr id="31" name="Image 3" descr="arrow-right"/>
          <p:cNvPicPr>
            <a:picLocks noChangeAspect="1"/>
          </p:cNvPicPr>
          <p:nvPr/>
        </p:nvPicPr>
        <p:blipFill>
          <a:blip r:embed="rId1"/>
          <a:srcRect l="-13" r="-13"/>
          <a:stretch>
            <a:fillRect/>
          </a:stretch>
        </p:blipFill>
        <p:spPr>
          <a:xfrm>
            <a:off x="5918170" y="4542437"/>
            <a:ext cx="355570" cy="177740"/>
          </a:xfrm>
          <a:prstGeom prst="rect">
            <a:avLst/>
          </a:prstGeom>
        </p:spPr>
      </p:pic>
      <p:sp>
        <p:nvSpPr>
          <p:cNvPr id="32" name="Shape 26"/>
          <p:cNvSpPr/>
          <p:nvPr/>
        </p:nvSpPr>
        <p:spPr>
          <a:xfrm>
            <a:off x="6375280" y="4280948"/>
            <a:ext cx="5003950" cy="700806"/>
          </a:xfrm>
          <a:prstGeom prst="roundRect">
            <a:avLst>
              <a:gd name="adj" fmla="val 12685"/>
            </a:avLst>
          </a:prstGeom>
          <a:solidFill>
            <a:srgbClr val="FBBF24"/>
          </a:solidFill>
        </p:spPr>
        <p:txBody>
          <a:bodyPr/>
          <a:lstStyle/>
          <a:p>
            <a:endParaRPr lang="es-PE"/>
          </a:p>
        </p:txBody>
      </p:sp>
      <p:sp>
        <p:nvSpPr>
          <p:cNvPr id="33" name="Text 27"/>
          <p:cNvSpPr/>
          <p:nvPr/>
        </p:nvSpPr>
        <p:spPr>
          <a:xfrm>
            <a:off x="6527681" y="4382489"/>
            <a:ext cx="4840124" cy="292100"/>
          </a:xfrm>
          <a:prstGeom prst="rect">
            <a:avLst/>
          </a:prstGeom>
          <a:noFill/>
        </p:spPr>
        <p:txBody>
          <a:bodyPr wrap="square" lIns="0" tIns="0" rIns="0" bIns="0" rtlCol="0" anchor="t">
            <a:normAutofit/>
          </a:bodyPr>
          <a:lstStyle/>
          <a:p>
            <a:pPr marL="0" indent="0" algn="l">
              <a:lnSpc>
                <a:spcPts val="2100"/>
              </a:lnSpc>
              <a:buNone/>
            </a:pPr>
            <a:r>
              <a:rPr lang="en-US" sz="1500" b="1" dirty="0">
                <a:solidFill>
                  <a:srgbClr val="1E222B"/>
                </a:solidFill>
                <a:latin typeface="Lato" panose="020F0502020204030203" pitchFamily="34" charset="0"/>
                <a:ea typeface="Lato" panose="020F0502020204030203" pitchFamily="34" charset="-122"/>
                <a:cs typeface="Lato" panose="020F0502020204030203" pitchFamily="34" charset="-120"/>
              </a:rPr>
              <a:t>Registro en ventas y detalles_ventas</a:t>
            </a:r>
            <a:endParaRPr lang="en-US" sz="1500" dirty="0"/>
          </a:p>
        </p:txBody>
      </p:sp>
      <p:sp>
        <p:nvSpPr>
          <p:cNvPr id="34" name="Text 28"/>
          <p:cNvSpPr/>
          <p:nvPr/>
        </p:nvSpPr>
        <p:spPr>
          <a:xfrm>
            <a:off x="6527681" y="4649189"/>
            <a:ext cx="4840124" cy="256426"/>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2B303B"/>
                </a:solidFill>
                <a:latin typeface="Lato" panose="020F0502020204030203" pitchFamily="34" charset="0"/>
                <a:ea typeface="Lato" panose="020F0502020204030203" pitchFamily="34" charset="-122"/>
                <a:cs typeface="Lato" panose="020F0502020204030203" pitchFamily="34" charset="-120"/>
              </a:rPr>
              <a:t>Cada compra queda como cabecera y líneas.</a:t>
            </a:r>
            <a:endParaRPr lang="en-US" sz="1300" dirty="0"/>
          </a:p>
        </p:txBody>
      </p:sp>
      <p:sp>
        <p:nvSpPr>
          <p:cNvPr id="35" name="Text 29"/>
          <p:cNvSpPr/>
          <p:nvPr/>
        </p:nvSpPr>
        <p:spPr>
          <a:xfrm>
            <a:off x="812770" y="6238335"/>
            <a:ext cx="7325299" cy="238724"/>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596070"/>
                </a:solidFill>
                <a:latin typeface="Lato" panose="020F0502020204030203" pitchFamily="34" charset="0"/>
                <a:ea typeface="Lato" panose="020F0502020204030203" pitchFamily="34" charset="-122"/>
                <a:cs typeface="Lato" panose="020F0502020204030203" pitchFamily="34" charset="-120"/>
              </a:rPr>
              <a:t>LINKSPORT · AVANCE 03 · Informe final, sección 1.1</a:t>
            </a:r>
            <a:endParaRPr lang="en-US" sz="1200" dirty="0"/>
          </a:p>
        </p:txBody>
      </p:sp>
      <p:sp>
        <p:nvSpPr>
          <p:cNvPr id="36" name="Text 30"/>
          <p:cNvSpPr/>
          <p:nvPr/>
        </p:nvSpPr>
        <p:spPr>
          <a:xfrm>
            <a:off x="8108921" y="6238335"/>
            <a:ext cx="3270219" cy="238724"/>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596070"/>
                </a:solidFill>
                <a:latin typeface="Lato" panose="020F0502020204030203" pitchFamily="34" charset="0"/>
                <a:ea typeface="Lato" panose="020F0502020204030203" pitchFamily="34" charset="-122"/>
                <a:cs typeface="Lato" panose="020F0502020204030203" pitchFamily="34" charset="-120"/>
              </a:rPr>
              <a:t>Expone: Jhon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5F1"/>
        </a:solidFill>
        <a:effectLst/>
      </p:bgPr>
    </p:bg>
    <p:spTree>
      <p:nvGrpSpPr>
        <p:cNvPr id="1" name=""/>
        <p:cNvGrpSpPr/>
        <p:nvPr/>
      </p:nvGrpSpPr>
      <p:grpSpPr>
        <a:xfrm>
          <a:off x="0" y="0"/>
          <a:ext cx="0" cy="0"/>
          <a:chOff x="0" y="0"/>
          <a:chExt cx="0" cy="0"/>
        </a:xfrm>
      </p:grpSpPr>
      <p:sp>
        <p:nvSpPr>
          <p:cNvPr id="2" name="Shape 0"/>
          <p:cNvSpPr/>
          <p:nvPr/>
        </p:nvSpPr>
        <p:spPr>
          <a:xfrm>
            <a:off x="812770" y="690832"/>
            <a:ext cx="355570" cy="50770"/>
          </a:xfrm>
          <a:prstGeom prst="rect">
            <a:avLst/>
          </a:prstGeom>
          <a:solidFill>
            <a:srgbClr val="FBBF24"/>
          </a:solidFill>
        </p:spPr>
        <p:txBody>
          <a:bodyPr/>
          <a:lstStyle/>
          <a:p>
            <a:endParaRPr lang="es-PE"/>
          </a:p>
        </p:txBody>
      </p:sp>
      <p:sp>
        <p:nvSpPr>
          <p:cNvPr id="3" name="Text 1"/>
          <p:cNvSpPr/>
          <p:nvPr/>
        </p:nvSpPr>
        <p:spPr>
          <a:xfrm>
            <a:off x="1269880" y="609600"/>
            <a:ext cx="2852432" cy="238724"/>
          </a:xfrm>
          <a:prstGeom prst="rect">
            <a:avLst/>
          </a:prstGeom>
          <a:noFill/>
        </p:spPr>
        <p:txBody>
          <a:bodyPr wrap="square" lIns="0" tIns="0" rIns="0" bIns="0" rtlCol="0" anchor="t">
            <a:normAutofit/>
          </a:bodyPr>
          <a:lstStyle/>
          <a:p>
            <a:pPr marL="0" indent="0" algn="l">
              <a:lnSpc>
                <a:spcPts val="1680"/>
              </a:lnSpc>
              <a:buNone/>
            </a:pPr>
            <a:r>
              <a:rPr lang="en-US" sz="1200" b="1" kern="0" spc="100" dirty="0">
                <a:solidFill>
                  <a:srgbClr val="596070"/>
                </a:solidFill>
                <a:latin typeface="Lato" panose="020F0502020204030203" pitchFamily="34" charset="0"/>
                <a:ea typeface="Lato" panose="020F0502020204030203" pitchFamily="34" charset="-122"/>
                <a:cs typeface="Lato" panose="020F0502020204030203" pitchFamily="34" charset="-120"/>
              </a:rPr>
              <a:t>CAPÍTULO 1 / 1.2 OBJETIVOS</a:t>
            </a:r>
            <a:endParaRPr lang="en-US" sz="1200" dirty="0"/>
          </a:p>
        </p:txBody>
      </p:sp>
      <p:sp>
        <p:nvSpPr>
          <p:cNvPr id="4" name="Text 2"/>
          <p:cNvSpPr>
            <a:spLocks noGrp="1"/>
          </p:cNvSpPr>
          <p:nvPr>
            <p:ph type="title"/>
          </p:nvPr>
        </p:nvSpPr>
        <p:spPr>
          <a:xfrm>
            <a:off x="812770" y="899125"/>
            <a:ext cx="10883453" cy="416464"/>
          </a:xfrm>
          <a:prstGeom prst="rect">
            <a:avLst/>
          </a:prstGeom>
          <a:noFill/>
        </p:spPr>
        <p:txBody>
          <a:bodyPr wrap="square" lIns="0" tIns="0" rIns="0" bIns="0" rtlCol="0" anchor="t">
            <a:normAutofit/>
          </a:bodyPr>
          <a:lstStyle/>
          <a:p>
            <a:pPr marL="0" indent="0" algn="l">
              <a:lnSpc>
                <a:spcPts val="3080"/>
              </a:lnSpc>
              <a:buNone/>
            </a:pPr>
            <a:r>
              <a:rPr lang="en-US" sz="2800" b="1" i="0" dirty="0">
                <a:solidFill>
                  <a:srgbClr val="1E222B"/>
                </a:solidFill>
                <a:latin typeface="Lato" panose="020F0502020204030203" pitchFamily="34" charset="0"/>
                <a:ea typeface="Lato" panose="020F0502020204030203" pitchFamily="34" charset="-122"/>
                <a:cs typeface="Lato" panose="020F0502020204030203" pitchFamily="34" charset="-120"/>
              </a:rPr>
              <a:t>Integrar catálogo, validación y compras</a:t>
            </a:r>
            <a:endParaRPr lang="en-US" sz="2800" dirty="0"/>
          </a:p>
        </p:txBody>
      </p:sp>
      <p:sp>
        <p:nvSpPr>
          <p:cNvPr id="5" name="Shape 3"/>
          <p:cNvSpPr/>
          <p:nvPr/>
        </p:nvSpPr>
        <p:spPr>
          <a:xfrm>
            <a:off x="812770" y="1467929"/>
            <a:ext cx="10566460" cy="1095914"/>
          </a:xfrm>
          <a:prstGeom prst="roundRect">
            <a:avLst>
              <a:gd name="adj" fmla="val 9271"/>
            </a:avLst>
          </a:prstGeom>
          <a:solidFill>
            <a:srgbClr val="1E222B"/>
          </a:solidFill>
        </p:spPr>
        <p:txBody>
          <a:bodyPr/>
          <a:lstStyle/>
          <a:p>
            <a:endParaRPr lang="es-PE"/>
          </a:p>
        </p:txBody>
      </p:sp>
      <p:sp>
        <p:nvSpPr>
          <p:cNvPr id="6" name="Text 4"/>
          <p:cNvSpPr/>
          <p:nvPr/>
        </p:nvSpPr>
        <p:spPr>
          <a:xfrm>
            <a:off x="1015940" y="1620329"/>
            <a:ext cx="10464924" cy="238724"/>
          </a:xfrm>
          <a:prstGeom prst="rect">
            <a:avLst/>
          </a:prstGeom>
          <a:noFill/>
        </p:spPr>
        <p:txBody>
          <a:bodyPr wrap="square" lIns="0" tIns="0" rIns="0" bIns="0" rtlCol="0" anchor="t">
            <a:normAutofit/>
          </a:bodyPr>
          <a:lstStyle/>
          <a:p>
            <a:pPr marL="0" indent="0" algn="l">
              <a:lnSpc>
                <a:spcPts val="1680"/>
              </a:lnSpc>
              <a:buNone/>
            </a:pPr>
            <a:r>
              <a:rPr lang="en-US" sz="1200" b="1" kern="0" spc="50" dirty="0">
                <a:solidFill>
                  <a:srgbClr val="FBBF24"/>
                </a:solidFill>
                <a:latin typeface="Lato" panose="020F0502020204030203" pitchFamily="34" charset="0"/>
                <a:ea typeface="Lato" panose="020F0502020204030203" pitchFamily="34" charset="-122"/>
                <a:cs typeface="Lato" panose="020F0502020204030203" pitchFamily="34" charset="-120"/>
              </a:rPr>
              <a:t>OBJETIVO GENERAL</a:t>
            </a:r>
            <a:endParaRPr lang="en-US" sz="1200" dirty="0"/>
          </a:p>
        </p:txBody>
      </p:sp>
      <p:sp>
        <p:nvSpPr>
          <p:cNvPr id="7" name="Text 5"/>
          <p:cNvSpPr/>
          <p:nvPr/>
        </p:nvSpPr>
        <p:spPr>
          <a:xfrm>
            <a:off x="1015940" y="1897094"/>
            <a:ext cx="10464924" cy="539750"/>
          </a:xfrm>
          <a:prstGeom prst="rect">
            <a:avLst/>
          </a:prstGeom>
          <a:noFill/>
        </p:spPr>
        <p:txBody>
          <a:bodyPr wrap="square" lIns="0" tIns="0" rIns="0" bIns="0" rtlCol="0" anchor="t">
            <a:normAutofit/>
          </a:bodyPr>
          <a:lstStyle/>
          <a:p>
            <a:pPr marL="0" indent="0" algn="l">
              <a:lnSpc>
                <a:spcPts val="2025"/>
              </a:lnSpc>
              <a:buNone/>
            </a:pPr>
            <a:r>
              <a:rPr lang="en-US" sz="1500" dirty="0">
                <a:solidFill>
                  <a:srgbClr val="F6F5F1"/>
                </a:solidFill>
                <a:latin typeface="Lato" panose="020F0502020204030203" pitchFamily="34" charset="0"/>
                <a:ea typeface="Lato" panose="020F0502020204030203" pitchFamily="34" charset="-122"/>
                <a:cs typeface="Lato" panose="020F0502020204030203" pitchFamily="34" charset="-120"/>
              </a:rPr>
              <a:t>Desarrollar el frontend y la lógica de backend de LINKSPORT con persistencia en PostgreSQL mediante JPA e Hibernate, validación con Spring Validation e interfaz responsiva con Bulma.</a:t>
            </a:r>
            <a:endParaRPr lang="en-US" sz="1500" dirty="0"/>
          </a:p>
        </p:txBody>
      </p:sp>
      <p:sp>
        <p:nvSpPr>
          <p:cNvPr id="8" name="Text 6"/>
          <p:cNvSpPr/>
          <p:nvPr/>
        </p:nvSpPr>
        <p:spPr>
          <a:xfrm>
            <a:off x="812770" y="2741583"/>
            <a:ext cx="10883453" cy="238724"/>
          </a:xfrm>
          <a:prstGeom prst="rect">
            <a:avLst/>
          </a:prstGeom>
          <a:noFill/>
        </p:spPr>
        <p:txBody>
          <a:bodyPr wrap="square" lIns="0" tIns="0" rIns="0" bIns="0" rtlCol="0" anchor="t">
            <a:normAutofit/>
          </a:bodyPr>
          <a:lstStyle/>
          <a:p>
            <a:pPr marL="0" indent="0" algn="l">
              <a:lnSpc>
                <a:spcPts val="1680"/>
              </a:lnSpc>
              <a:buNone/>
            </a:pPr>
            <a:r>
              <a:rPr lang="en-US" sz="1200" b="1" kern="0" spc="50" dirty="0">
                <a:solidFill>
                  <a:srgbClr val="596070"/>
                </a:solidFill>
                <a:latin typeface="Lato" panose="020F0502020204030203" pitchFamily="34" charset="0"/>
                <a:ea typeface="Lato" panose="020F0502020204030203" pitchFamily="34" charset="-122"/>
                <a:cs typeface="Lato" panose="020F0502020204030203" pitchFamily="34" charset="-120"/>
              </a:rPr>
              <a:t>OBJETIVOS ESPECÍFICOS</a:t>
            </a:r>
            <a:endParaRPr lang="en-US" sz="1200" dirty="0"/>
          </a:p>
        </p:txBody>
      </p:sp>
      <p:sp>
        <p:nvSpPr>
          <p:cNvPr id="9" name="Shape 7"/>
          <p:cNvSpPr/>
          <p:nvPr/>
        </p:nvSpPr>
        <p:spPr>
          <a:xfrm>
            <a:off x="815945" y="3135823"/>
            <a:ext cx="5213350" cy="653751"/>
          </a:xfrm>
          <a:prstGeom prst="roundRect">
            <a:avLst>
              <a:gd name="adj" fmla="val 13113"/>
            </a:avLst>
          </a:prstGeom>
          <a:solidFill>
            <a:srgbClr val="FDFCF9"/>
          </a:solidFill>
          <a:ln w="6350">
            <a:solidFill>
              <a:srgbClr val="DDD9CC"/>
            </a:solidFill>
            <a:prstDash val="solid"/>
          </a:ln>
        </p:spPr>
        <p:txBody>
          <a:bodyPr/>
          <a:lstStyle/>
          <a:p>
            <a:endParaRPr lang="es-PE"/>
          </a:p>
        </p:txBody>
      </p:sp>
      <p:sp>
        <p:nvSpPr>
          <p:cNvPr id="10" name="Text 8"/>
          <p:cNvSpPr/>
          <p:nvPr/>
        </p:nvSpPr>
        <p:spPr>
          <a:xfrm>
            <a:off x="945491" y="3239939"/>
            <a:ext cx="406370" cy="327684"/>
          </a:xfrm>
          <a:prstGeom prst="rect">
            <a:avLst/>
          </a:prstGeom>
          <a:noFill/>
        </p:spPr>
        <p:txBody>
          <a:bodyPr wrap="square" lIns="0" tIns="0" rIns="0" bIns="0" rtlCol="0" anchor="t">
            <a:normAutofit/>
          </a:bodyPr>
          <a:lstStyle/>
          <a:p>
            <a:pPr marL="0" indent="0" algn="l">
              <a:lnSpc>
                <a:spcPts val="2380"/>
              </a:lnSpc>
              <a:buNone/>
            </a:pPr>
            <a:r>
              <a:rPr lang="en-US" sz="1700" b="1" dirty="0">
                <a:solidFill>
                  <a:srgbClr val="B7791F"/>
                </a:solidFill>
                <a:latin typeface="Lato" panose="020F0502020204030203" pitchFamily="34" charset="0"/>
                <a:ea typeface="Lato" panose="020F0502020204030203" pitchFamily="34" charset="-122"/>
                <a:cs typeface="Lato" panose="020F0502020204030203" pitchFamily="34" charset="-120"/>
              </a:rPr>
              <a:t>01</a:t>
            </a:r>
            <a:endParaRPr lang="en-US" sz="1700" dirty="0"/>
          </a:p>
        </p:txBody>
      </p:sp>
      <p:sp>
        <p:nvSpPr>
          <p:cNvPr id="11" name="Text 9"/>
          <p:cNvSpPr/>
          <p:nvPr/>
        </p:nvSpPr>
        <p:spPr>
          <a:xfrm>
            <a:off x="1402601" y="3239939"/>
            <a:ext cx="4632062" cy="248159"/>
          </a:xfrm>
          <a:prstGeom prst="rect">
            <a:avLst/>
          </a:prstGeom>
          <a:noFill/>
        </p:spPr>
        <p:txBody>
          <a:bodyPr wrap="square" lIns="0" tIns="0" rIns="0" bIns="0" rtlCol="0" anchor="t">
            <a:normAutofit/>
          </a:bodyPr>
          <a:lstStyle/>
          <a:p>
            <a:pPr marL="0" indent="0" algn="l">
              <a:lnSpc>
                <a:spcPts val="1755"/>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Modelar cinco entidades JPA y sus relaciones uno a muchos.</a:t>
            </a:r>
            <a:endParaRPr lang="en-US" sz="1300" dirty="0"/>
          </a:p>
        </p:txBody>
      </p:sp>
      <p:sp>
        <p:nvSpPr>
          <p:cNvPr id="12" name="Shape 10"/>
          <p:cNvSpPr/>
          <p:nvPr/>
        </p:nvSpPr>
        <p:spPr>
          <a:xfrm>
            <a:off x="6162615" y="3135823"/>
            <a:ext cx="5213440" cy="653751"/>
          </a:xfrm>
          <a:prstGeom prst="roundRect">
            <a:avLst>
              <a:gd name="adj" fmla="val 13113"/>
            </a:avLst>
          </a:prstGeom>
          <a:solidFill>
            <a:srgbClr val="FDFCF9"/>
          </a:solidFill>
          <a:ln w="6350">
            <a:solidFill>
              <a:srgbClr val="DDD9CC"/>
            </a:solidFill>
            <a:prstDash val="solid"/>
          </a:ln>
        </p:spPr>
        <p:txBody>
          <a:bodyPr/>
          <a:lstStyle/>
          <a:p>
            <a:endParaRPr lang="es-PE"/>
          </a:p>
        </p:txBody>
      </p:sp>
      <p:sp>
        <p:nvSpPr>
          <p:cNvPr id="13" name="Text 11"/>
          <p:cNvSpPr/>
          <p:nvPr/>
        </p:nvSpPr>
        <p:spPr>
          <a:xfrm>
            <a:off x="6292161" y="3239939"/>
            <a:ext cx="406370" cy="327684"/>
          </a:xfrm>
          <a:prstGeom prst="rect">
            <a:avLst/>
          </a:prstGeom>
          <a:noFill/>
        </p:spPr>
        <p:txBody>
          <a:bodyPr wrap="square" lIns="0" tIns="0" rIns="0" bIns="0" rtlCol="0" anchor="t">
            <a:normAutofit/>
          </a:bodyPr>
          <a:lstStyle/>
          <a:p>
            <a:pPr marL="0" indent="0" algn="l">
              <a:lnSpc>
                <a:spcPts val="2380"/>
              </a:lnSpc>
              <a:buNone/>
            </a:pPr>
            <a:r>
              <a:rPr lang="en-US" sz="1700" b="1" dirty="0">
                <a:solidFill>
                  <a:srgbClr val="B7791F"/>
                </a:solidFill>
                <a:latin typeface="Lato" panose="020F0502020204030203" pitchFamily="34" charset="0"/>
                <a:ea typeface="Lato" panose="020F0502020204030203" pitchFamily="34" charset="-122"/>
                <a:cs typeface="Lato" panose="020F0502020204030203" pitchFamily="34" charset="-120"/>
              </a:rPr>
              <a:t>02</a:t>
            </a:r>
            <a:endParaRPr lang="en-US" sz="1700" dirty="0"/>
          </a:p>
        </p:txBody>
      </p:sp>
      <p:sp>
        <p:nvSpPr>
          <p:cNvPr id="14" name="Text 12"/>
          <p:cNvSpPr/>
          <p:nvPr/>
        </p:nvSpPr>
        <p:spPr>
          <a:xfrm>
            <a:off x="6749271" y="3239939"/>
            <a:ext cx="4632155" cy="470918"/>
          </a:xfrm>
          <a:prstGeom prst="rect">
            <a:avLst/>
          </a:prstGeom>
          <a:noFill/>
        </p:spPr>
        <p:txBody>
          <a:bodyPr wrap="square" lIns="0" tIns="0" rIns="0" bIns="0" rtlCol="0" anchor="t">
            <a:normAutofit/>
          </a:bodyPr>
          <a:lstStyle/>
          <a:p>
            <a:pPr marL="0" indent="0" algn="l">
              <a:lnSpc>
                <a:spcPts val="1755"/>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Reemplazar la memoria por repositorios Spring Data JPA con PostgreSQL.</a:t>
            </a:r>
            <a:endParaRPr lang="en-US" sz="1300" dirty="0"/>
          </a:p>
        </p:txBody>
      </p:sp>
      <p:sp>
        <p:nvSpPr>
          <p:cNvPr id="15" name="Shape 13"/>
          <p:cNvSpPr/>
          <p:nvPr/>
        </p:nvSpPr>
        <p:spPr>
          <a:xfrm>
            <a:off x="815945" y="3897463"/>
            <a:ext cx="5213350" cy="653751"/>
          </a:xfrm>
          <a:prstGeom prst="roundRect">
            <a:avLst>
              <a:gd name="adj" fmla="val 13113"/>
            </a:avLst>
          </a:prstGeom>
          <a:solidFill>
            <a:srgbClr val="FDFCF9"/>
          </a:solidFill>
          <a:ln w="6350">
            <a:solidFill>
              <a:srgbClr val="DDD9CC"/>
            </a:solidFill>
            <a:prstDash val="solid"/>
          </a:ln>
        </p:spPr>
        <p:txBody>
          <a:bodyPr/>
          <a:lstStyle/>
          <a:p>
            <a:endParaRPr lang="es-PE"/>
          </a:p>
        </p:txBody>
      </p:sp>
      <p:sp>
        <p:nvSpPr>
          <p:cNvPr id="16" name="Text 14"/>
          <p:cNvSpPr/>
          <p:nvPr/>
        </p:nvSpPr>
        <p:spPr>
          <a:xfrm>
            <a:off x="945491" y="4001579"/>
            <a:ext cx="406370" cy="327684"/>
          </a:xfrm>
          <a:prstGeom prst="rect">
            <a:avLst/>
          </a:prstGeom>
          <a:noFill/>
        </p:spPr>
        <p:txBody>
          <a:bodyPr wrap="square" lIns="0" tIns="0" rIns="0" bIns="0" rtlCol="0" anchor="t">
            <a:normAutofit/>
          </a:bodyPr>
          <a:lstStyle/>
          <a:p>
            <a:pPr marL="0" indent="0" algn="l">
              <a:lnSpc>
                <a:spcPts val="2380"/>
              </a:lnSpc>
              <a:buNone/>
            </a:pPr>
            <a:r>
              <a:rPr lang="en-US" sz="1700" b="1" dirty="0">
                <a:solidFill>
                  <a:srgbClr val="B7791F"/>
                </a:solidFill>
                <a:latin typeface="Lato" panose="020F0502020204030203" pitchFamily="34" charset="0"/>
                <a:ea typeface="Lato" panose="020F0502020204030203" pitchFamily="34" charset="-122"/>
                <a:cs typeface="Lato" panose="020F0502020204030203" pitchFamily="34" charset="-120"/>
              </a:rPr>
              <a:t>03</a:t>
            </a:r>
            <a:endParaRPr lang="en-US" sz="1700" dirty="0"/>
          </a:p>
        </p:txBody>
      </p:sp>
      <p:sp>
        <p:nvSpPr>
          <p:cNvPr id="17" name="Text 15"/>
          <p:cNvSpPr/>
          <p:nvPr/>
        </p:nvSpPr>
        <p:spPr>
          <a:xfrm>
            <a:off x="1402601" y="4001579"/>
            <a:ext cx="4632062" cy="470918"/>
          </a:xfrm>
          <a:prstGeom prst="rect">
            <a:avLst/>
          </a:prstGeom>
          <a:noFill/>
        </p:spPr>
        <p:txBody>
          <a:bodyPr wrap="square" lIns="0" tIns="0" rIns="0" bIns="0" rtlCol="0" anchor="t">
            <a:normAutofit/>
          </a:bodyPr>
          <a:lstStyle/>
          <a:p>
            <a:pPr marL="0" indent="0" algn="l">
              <a:lnSpc>
                <a:spcPts val="1755"/>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Ingresar, mostrar, buscar, editar y eliminar productos por REST y por panel web.</a:t>
            </a:r>
            <a:endParaRPr lang="en-US" sz="1300" dirty="0"/>
          </a:p>
        </p:txBody>
      </p:sp>
      <p:sp>
        <p:nvSpPr>
          <p:cNvPr id="18" name="Shape 16"/>
          <p:cNvSpPr/>
          <p:nvPr/>
        </p:nvSpPr>
        <p:spPr>
          <a:xfrm>
            <a:off x="6162615" y="3897463"/>
            <a:ext cx="5213440" cy="653751"/>
          </a:xfrm>
          <a:prstGeom prst="roundRect">
            <a:avLst>
              <a:gd name="adj" fmla="val 13113"/>
            </a:avLst>
          </a:prstGeom>
          <a:solidFill>
            <a:srgbClr val="FDFCF9"/>
          </a:solidFill>
          <a:ln w="6350">
            <a:solidFill>
              <a:srgbClr val="DDD9CC"/>
            </a:solidFill>
            <a:prstDash val="solid"/>
          </a:ln>
        </p:spPr>
        <p:txBody>
          <a:bodyPr/>
          <a:lstStyle/>
          <a:p>
            <a:endParaRPr lang="es-PE"/>
          </a:p>
        </p:txBody>
      </p:sp>
      <p:sp>
        <p:nvSpPr>
          <p:cNvPr id="19" name="Text 17"/>
          <p:cNvSpPr/>
          <p:nvPr/>
        </p:nvSpPr>
        <p:spPr>
          <a:xfrm>
            <a:off x="6292161" y="4001579"/>
            <a:ext cx="406370" cy="327684"/>
          </a:xfrm>
          <a:prstGeom prst="rect">
            <a:avLst/>
          </a:prstGeom>
          <a:noFill/>
        </p:spPr>
        <p:txBody>
          <a:bodyPr wrap="square" lIns="0" tIns="0" rIns="0" bIns="0" rtlCol="0" anchor="t">
            <a:normAutofit/>
          </a:bodyPr>
          <a:lstStyle/>
          <a:p>
            <a:pPr marL="0" indent="0" algn="l">
              <a:lnSpc>
                <a:spcPts val="2380"/>
              </a:lnSpc>
              <a:buNone/>
            </a:pPr>
            <a:r>
              <a:rPr lang="en-US" sz="1700" b="1" dirty="0">
                <a:solidFill>
                  <a:srgbClr val="B7791F"/>
                </a:solidFill>
                <a:latin typeface="Lato" panose="020F0502020204030203" pitchFamily="34" charset="0"/>
                <a:ea typeface="Lato" panose="020F0502020204030203" pitchFamily="34" charset="-122"/>
                <a:cs typeface="Lato" panose="020F0502020204030203" pitchFamily="34" charset="-120"/>
              </a:rPr>
              <a:t>04</a:t>
            </a:r>
            <a:endParaRPr lang="en-US" sz="1700" dirty="0"/>
          </a:p>
        </p:txBody>
      </p:sp>
      <p:sp>
        <p:nvSpPr>
          <p:cNvPr id="20" name="Text 18"/>
          <p:cNvSpPr/>
          <p:nvPr/>
        </p:nvSpPr>
        <p:spPr>
          <a:xfrm>
            <a:off x="6749271" y="4001579"/>
            <a:ext cx="4632155" cy="470918"/>
          </a:xfrm>
          <a:prstGeom prst="rect">
            <a:avLst/>
          </a:prstGeom>
          <a:noFill/>
        </p:spPr>
        <p:txBody>
          <a:bodyPr wrap="square" lIns="0" tIns="0" rIns="0" bIns="0" rtlCol="0" anchor="t">
            <a:normAutofit/>
          </a:bodyPr>
          <a:lstStyle/>
          <a:p>
            <a:pPr marL="0" indent="0" algn="l">
              <a:lnSpc>
                <a:spcPts val="1755"/>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Aplicar Spring Validation, activarlo en los controladores y mostrar los errores.</a:t>
            </a:r>
            <a:endParaRPr lang="en-US" sz="1300" dirty="0"/>
          </a:p>
        </p:txBody>
      </p:sp>
      <p:sp>
        <p:nvSpPr>
          <p:cNvPr id="21" name="Shape 19"/>
          <p:cNvSpPr/>
          <p:nvPr/>
        </p:nvSpPr>
        <p:spPr>
          <a:xfrm>
            <a:off x="815945" y="4659103"/>
            <a:ext cx="5213350" cy="510516"/>
          </a:xfrm>
          <a:prstGeom prst="roundRect">
            <a:avLst>
              <a:gd name="adj" fmla="val 16792"/>
            </a:avLst>
          </a:prstGeom>
          <a:solidFill>
            <a:srgbClr val="FDFCF9"/>
          </a:solidFill>
          <a:ln w="6350">
            <a:solidFill>
              <a:srgbClr val="DDD9CC"/>
            </a:solidFill>
            <a:prstDash val="solid"/>
          </a:ln>
        </p:spPr>
        <p:txBody>
          <a:bodyPr/>
          <a:lstStyle/>
          <a:p>
            <a:endParaRPr lang="es-PE"/>
          </a:p>
        </p:txBody>
      </p:sp>
      <p:sp>
        <p:nvSpPr>
          <p:cNvPr id="22" name="Text 20"/>
          <p:cNvSpPr/>
          <p:nvPr/>
        </p:nvSpPr>
        <p:spPr>
          <a:xfrm>
            <a:off x="945491" y="4763219"/>
            <a:ext cx="406370" cy="327684"/>
          </a:xfrm>
          <a:prstGeom prst="rect">
            <a:avLst/>
          </a:prstGeom>
          <a:noFill/>
        </p:spPr>
        <p:txBody>
          <a:bodyPr wrap="square" lIns="0" tIns="0" rIns="0" bIns="0" rtlCol="0" anchor="t">
            <a:normAutofit/>
          </a:bodyPr>
          <a:lstStyle/>
          <a:p>
            <a:pPr marL="0" indent="0" algn="l">
              <a:lnSpc>
                <a:spcPts val="2380"/>
              </a:lnSpc>
              <a:buNone/>
            </a:pPr>
            <a:r>
              <a:rPr lang="en-US" sz="1700" b="1" dirty="0">
                <a:solidFill>
                  <a:srgbClr val="B7791F"/>
                </a:solidFill>
                <a:latin typeface="Lato" panose="020F0502020204030203" pitchFamily="34" charset="0"/>
                <a:ea typeface="Lato" panose="020F0502020204030203" pitchFamily="34" charset="-122"/>
                <a:cs typeface="Lato" panose="020F0502020204030203" pitchFamily="34" charset="-120"/>
              </a:rPr>
              <a:t>05</a:t>
            </a:r>
            <a:endParaRPr lang="en-US" sz="1700" dirty="0"/>
          </a:p>
        </p:txBody>
      </p:sp>
      <p:sp>
        <p:nvSpPr>
          <p:cNvPr id="23" name="Text 21"/>
          <p:cNvSpPr/>
          <p:nvPr/>
        </p:nvSpPr>
        <p:spPr>
          <a:xfrm>
            <a:off x="1402601" y="4763219"/>
            <a:ext cx="4632062" cy="248159"/>
          </a:xfrm>
          <a:prstGeom prst="rect">
            <a:avLst/>
          </a:prstGeom>
          <a:noFill/>
        </p:spPr>
        <p:txBody>
          <a:bodyPr wrap="square" lIns="0" tIns="0" rIns="0" bIns="0" rtlCol="0" anchor="t">
            <a:normAutofit/>
          </a:bodyPr>
          <a:lstStyle/>
          <a:p>
            <a:pPr marL="0" indent="0" algn="l">
              <a:lnSpc>
                <a:spcPts val="1755"/>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Registrar cada compra del carrito como venta con sus detalles.</a:t>
            </a:r>
            <a:endParaRPr lang="en-US" sz="1300" dirty="0"/>
          </a:p>
        </p:txBody>
      </p:sp>
      <p:sp>
        <p:nvSpPr>
          <p:cNvPr id="24" name="Shape 22"/>
          <p:cNvSpPr/>
          <p:nvPr/>
        </p:nvSpPr>
        <p:spPr>
          <a:xfrm>
            <a:off x="6162615" y="4659103"/>
            <a:ext cx="5213440" cy="510516"/>
          </a:xfrm>
          <a:prstGeom prst="roundRect">
            <a:avLst>
              <a:gd name="adj" fmla="val 16792"/>
            </a:avLst>
          </a:prstGeom>
          <a:solidFill>
            <a:srgbClr val="FDFCF9"/>
          </a:solidFill>
          <a:ln w="6350">
            <a:solidFill>
              <a:srgbClr val="DDD9CC"/>
            </a:solidFill>
            <a:prstDash val="solid"/>
          </a:ln>
        </p:spPr>
        <p:txBody>
          <a:bodyPr/>
          <a:lstStyle/>
          <a:p>
            <a:endParaRPr lang="es-PE"/>
          </a:p>
        </p:txBody>
      </p:sp>
      <p:sp>
        <p:nvSpPr>
          <p:cNvPr id="25" name="Text 23"/>
          <p:cNvSpPr/>
          <p:nvPr/>
        </p:nvSpPr>
        <p:spPr>
          <a:xfrm>
            <a:off x="6292161" y="4763219"/>
            <a:ext cx="406370" cy="327684"/>
          </a:xfrm>
          <a:prstGeom prst="rect">
            <a:avLst/>
          </a:prstGeom>
          <a:noFill/>
        </p:spPr>
        <p:txBody>
          <a:bodyPr wrap="square" lIns="0" tIns="0" rIns="0" bIns="0" rtlCol="0" anchor="t">
            <a:normAutofit/>
          </a:bodyPr>
          <a:lstStyle/>
          <a:p>
            <a:pPr marL="0" indent="0" algn="l">
              <a:lnSpc>
                <a:spcPts val="2380"/>
              </a:lnSpc>
              <a:buNone/>
            </a:pPr>
            <a:r>
              <a:rPr lang="en-US" sz="1700" b="1" dirty="0">
                <a:solidFill>
                  <a:srgbClr val="B7791F"/>
                </a:solidFill>
                <a:latin typeface="Lato" panose="020F0502020204030203" pitchFamily="34" charset="0"/>
                <a:ea typeface="Lato" panose="020F0502020204030203" pitchFamily="34" charset="-122"/>
                <a:cs typeface="Lato" panose="020F0502020204030203" pitchFamily="34" charset="-120"/>
              </a:rPr>
              <a:t>06</a:t>
            </a:r>
            <a:endParaRPr lang="en-US" sz="1700" dirty="0"/>
          </a:p>
        </p:txBody>
      </p:sp>
      <p:sp>
        <p:nvSpPr>
          <p:cNvPr id="26" name="Text 24"/>
          <p:cNvSpPr/>
          <p:nvPr/>
        </p:nvSpPr>
        <p:spPr>
          <a:xfrm>
            <a:off x="6749271" y="4763219"/>
            <a:ext cx="4632155" cy="248159"/>
          </a:xfrm>
          <a:prstGeom prst="rect">
            <a:avLst/>
          </a:prstGeom>
          <a:noFill/>
        </p:spPr>
        <p:txBody>
          <a:bodyPr wrap="square" lIns="0" tIns="0" rIns="0" bIns="0" rtlCol="0" anchor="t">
            <a:normAutofit/>
          </a:bodyPr>
          <a:lstStyle/>
          <a:p>
            <a:pPr marL="0" indent="0" algn="l">
              <a:lnSpc>
                <a:spcPts val="1755"/>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Diseñar vistas responsivas con HTML5 semántico y Bulma.</a:t>
            </a:r>
            <a:endParaRPr lang="en-US" sz="1300" dirty="0"/>
          </a:p>
        </p:txBody>
      </p:sp>
      <p:sp>
        <p:nvSpPr>
          <p:cNvPr id="27" name="Text 25"/>
          <p:cNvSpPr/>
          <p:nvPr/>
        </p:nvSpPr>
        <p:spPr>
          <a:xfrm>
            <a:off x="812770" y="6238335"/>
            <a:ext cx="7325299" cy="238724"/>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596070"/>
                </a:solidFill>
                <a:latin typeface="Lato" panose="020F0502020204030203" pitchFamily="34" charset="0"/>
                <a:ea typeface="Lato" panose="020F0502020204030203" pitchFamily="34" charset="-122"/>
                <a:cs typeface="Lato" panose="020F0502020204030203" pitchFamily="34" charset="-120"/>
              </a:rPr>
              <a:t>LINKSPORT · AVANCE 03 · Informe final, secciones 1.2.1 y 1.2.2</a:t>
            </a:r>
            <a:endParaRPr lang="en-US" sz="1200" dirty="0"/>
          </a:p>
        </p:txBody>
      </p:sp>
      <p:sp>
        <p:nvSpPr>
          <p:cNvPr id="28" name="Text 26"/>
          <p:cNvSpPr/>
          <p:nvPr/>
        </p:nvSpPr>
        <p:spPr>
          <a:xfrm>
            <a:off x="8108921" y="6238335"/>
            <a:ext cx="3270219" cy="238724"/>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596070"/>
                </a:solidFill>
                <a:latin typeface="Lato" panose="020F0502020204030203" pitchFamily="34" charset="0"/>
                <a:ea typeface="Lato" panose="020F0502020204030203" pitchFamily="34" charset="-122"/>
                <a:cs typeface="Lato" panose="020F0502020204030203" pitchFamily="34" charset="-120"/>
              </a:rPr>
              <a:t>Expone: Jhon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5F1"/>
        </a:solidFill>
        <a:effectLst/>
      </p:bgPr>
    </p:bg>
    <p:spTree>
      <p:nvGrpSpPr>
        <p:cNvPr id="1" name=""/>
        <p:cNvGrpSpPr/>
        <p:nvPr/>
      </p:nvGrpSpPr>
      <p:grpSpPr>
        <a:xfrm>
          <a:off x="0" y="0"/>
          <a:ext cx="0" cy="0"/>
          <a:chOff x="0" y="0"/>
          <a:chExt cx="0" cy="0"/>
        </a:xfrm>
      </p:grpSpPr>
      <p:sp>
        <p:nvSpPr>
          <p:cNvPr id="2" name="Shape 0"/>
          <p:cNvSpPr/>
          <p:nvPr/>
        </p:nvSpPr>
        <p:spPr>
          <a:xfrm>
            <a:off x="812770" y="690832"/>
            <a:ext cx="355570" cy="50770"/>
          </a:xfrm>
          <a:prstGeom prst="rect">
            <a:avLst/>
          </a:prstGeom>
          <a:solidFill>
            <a:srgbClr val="FBBF24"/>
          </a:solidFill>
        </p:spPr>
        <p:txBody>
          <a:bodyPr/>
          <a:lstStyle/>
          <a:p>
            <a:endParaRPr lang="es-PE"/>
          </a:p>
        </p:txBody>
      </p:sp>
      <p:sp>
        <p:nvSpPr>
          <p:cNvPr id="3" name="Text 1"/>
          <p:cNvSpPr/>
          <p:nvPr/>
        </p:nvSpPr>
        <p:spPr>
          <a:xfrm>
            <a:off x="1269880" y="609600"/>
            <a:ext cx="4773858" cy="238724"/>
          </a:xfrm>
          <a:prstGeom prst="rect">
            <a:avLst/>
          </a:prstGeom>
          <a:noFill/>
        </p:spPr>
        <p:txBody>
          <a:bodyPr wrap="square" lIns="0" tIns="0" rIns="0" bIns="0" rtlCol="0" anchor="t">
            <a:normAutofit/>
          </a:bodyPr>
          <a:lstStyle/>
          <a:p>
            <a:pPr marL="0" indent="0" algn="l">
              <a:lnSpc>
                <a:spcPts val="1680"/>
              </a:lnSpc>
              <a:buNone/>
            </a:pPr>
            <a:r>
              <a:rPr lang="en-US" sz="1200" b="1" kern="0" spc="100" dirty="0">
                <a:solidFill>
                  <a:srgbClr val="596070"/>
                </a:solidFill>
                <a:latin typeface="Lato" panose="020F0502020204030203" pitchFamily="34" charset="0"/>
                <a:ea typeface="Lato" panose="020F0502020204030203" pitchFamily="34" charset="-122"/>
                <a:cs typeface="Lato" panose="020F0502020204030203" pitchFamily="34" charset="-120"/>
              </a:rPr>
              <a:t>CAPÍTULO 3 / 3.2 DISEÑO DE LA ARQUITECTURA</a:t>
            </a:r>
            <a:endParaRPr lang="en-US" sz="1200" dirty="0"/>
          </a:p>
        </p:txBody>
      </p:sp>
      <p:sp>
        <p:nvSpPr>
          <p:cNvPr id="4" name="Text 2"/>
          <p:cNvSpPr>
            <a:spLocks noGrp="1"/>
          </p:cNvSpPr>
          <p:nvPr>
            <p:ph type="title"/>
          </p:nvPr>
        </p:nvSpPr>
        <p:spPr>
          <a:xfrm>
            <a:off x="812770" y="899123"/>
            <a:ext cx="10883453" cy="416464"/>
          </a:xfrm>
          <a:prstGeom prst="rect">
            <a:avLst/>
          </a:prstGeom>
          <a:noFill/>
        </p:spPr>
        <p:txBody>
          <a:bodyPr wrap="square" lIns="0" tIns="0" rIns="0" bIns="0" rtlCol="0" anchor="t">
            <a:normAutofit/>
          </a:bodyPr>
          <a:lstStyle/>
          <a:p>
            <a:pPr marL="0" indent="0" algn="l">
              <a:lnSpc>
                <a:spcPts val="3080"/>
              </a:lnSpc>
              <a:buNone/>
            </a:pPr>
            <a:r>
              <a:rPr lang="en-US" sz="2800" b="1" i="0" dirty="0">
                <a:solidFill>
                  <a:srgbClr val="1E222B"/>
                </a:solidFill>
                <a:latin typeface="Lato" panose="020F0502020204030203" pitchFamily="34" charset="0"/>
                <a:ea typeface="Lato" panose="020F0502020204030203" pitchFamily="34" charset="-122"/>
                <a:cs typeface="Lato" panose="020F0502020204030203" pitchFamily="34" charset="-120"/>
              </a:rPr>
              <a:t>Arquitectura por capas con repositorios</a:t>
            </a:r>
            <a:endParaRPr lang="en-US" sz="2800" dirty="0"/>
          </a:p>
        </p:txBody>
      </p:sp>
      <p:sp>
        <p:nvSpPr>
          <p:cNvPr id="5" name="Text 3"/>
          <p:cNvSpPr/>
          <p:nvPr/>
        </p:nvSpPr>
        <p:spPr>
          <a:xfrm>
            <a:off x="812770" y="1467929"/>
            <a:ext cx="1767876" cy="383426"/>
          </a:xfrm>
          <a:custGeom>
            <a:avLst/>
            <a:gdLst/>
            <a:ahLst/>
            <a:cxnLst/>
            <a:rect l="l" t="t" r="r" b="b"/>
            <a:pathLst>
              <a:path w="1767876" h="383426">
                <a:moveTo>
                  <a:pt x="63500" y="0"/>
                </a:moveTo>
                <a:lnTo>
                  <a:pt x="1704376" y="0"/>
                </a:lnTo>
                <a:arcTo wR="63500" hR="63500" stAng="16200000" swAng="5400000"/>
                <a:lnTo>
                  <a:pt x="1767876" y="319926"/>
                </a:lnTo>
                <a:arcTo wR="63500" hR="63500" stAng="0" swAng="5400000"/>
                <a:lnTo>
                  <a:pt x="63500" y="383426"/>
                </a:lnTo>
                <a:arcTo wR="63500" hR="63500" stAng="5400000" swAng="5400000"/>
                <a:lnTo>
                  <a:pt x="0" y="63500"/>
                </a:lnTo>
                <a:arcTo wR="63500" hR="63500" stAng="10800000" swAng="5400000"/>
                <a:close/>
              </a:path>
            </a:pathLst>
          </a:custGeom>
          <a:solidFill>
            <a:srgbClr val="1E222B"/>
          </a:solidFill>
        </p:spPr>
        <p:txBody>
          <a:bodyPr wrap="square" lIns="25400" tIns="76200" rIns="25400" bIns="50800" rtlCol="0" anchor="t">
            <a:normAutofit/>
          </a:bodyPr>
          <a:lstStyle/>
          <a:p>
            <a:pPr marL="0" indent="0" algn="ctr">
              <a:lnSpc>
                <a:spcPts val="1820"/>
              </a:lnSpc>
              <a:buNone/>
            </a:pPr>
            <a:r>
              <a:rPr lang="en-US" sz="1300" b="1" dirty="0">
                <a:solidFill>
                  <a:srgbClr val="F6F5F1"/>
                </a:solidFill>
                <a:latin typeface="Lato" panose="020F0502020204030203" pitchFamily="34" charset="0"/>
                <a:ea typeface="Lato" panose="020F0502020204030203" pitchFamily="34" charset="-122"/>
                <a:cs typeface="Lato" panose="020F0502020204030203" pitchFamily="34" charset="-120"/>
              </a:rPr>
              <a:t>Vista</a:t>
            </a:r>
            <a:endParaRPr lang="en-US" sz="1300" dirty="0"/>
          </a:p>
        </p:txBody>
      </p:sp>
      <p:pic>
        <p:nvPicPr>
          <p:cNvPr id="6" name="Image 0" descr="arrow-right"/>
          <p:cNvPicPr>
            <a:picLocks noChangeAspect="1"/>
          </p:cNvPicPr>
          <p:nvPr/>
        </p:nvPicPr>
        <p:blipFill>
          <a:blip r:embed="rId1"/>
          <a:srcRect t="-12" b="-12"/>
          <a:stretch>
            <a:fillRect/>
          </a:stretch>
        </p:blipFill>
        <p:spPr>
          <a:xfrm>
            <a:off x="2669516" y="1583398"/>
            <a:ext cx="253940" cy="152400"/>
          </a:xfrm>
          <a:prstGeom prst="rect">
            <a:avLst/>
          </a:prstGeom>
        </p:spPr>
      </p:pic>
      <p:sp>
        <p:nvSpPr>
          <p:cNvPr id="7" name="Text 4"/>
          <p:cNvSpPr/>
          <p:nvPr/>
        </p:nvSpPr>
        <p:spPr>
          <a:xfrm>
            <a:off x="3012326" y="1467929"/>
            <a:ext cx="1767966" cy="383426"/>
          </a:xfrm>
          <a:custGeom>
            <a:avLst/>
            <a:gdLst/>
            <a:ahLst/>
            <a:cxnLst/>
            <a:rect l="l" t="t" r="r" b="b"/>
            <a:pathLst>
              <a:path w="1767966" h="383426">
                <a:moveTo>
                  <a:pt x="63500" y="0"/>
                </a:moveTo>
                <a:lnTo>
                  <a:pt x="1704466" y="0"/>
                </a:lnTo>
                <a:arcTo wR="63500" hR="63500" stAng="16200000" swAng="5400000"/>
                <a:lnTo>
                  <a:pt x="1767966" y="319926"/>
                </a:lnTo>
                <a:arcTo wR="63500" hR="63500" stAng="0" swAng="5400000"/>
                <a:lnTo>
                  <a:pt x="63500" y="383426"/>
                </a:lnTo>
                <a:arcTo wR="63500" hR="63500" stAng="5400000" swAng="5400000"/>
                <a:lnTo>
                  <a:pt x="0" y="63500"/>
                </a:lnTo>
                <a:arcTo wR="63500" hR="63500" stAng="10800000" swAng="5400000"/>
                <a:close/>
              </a:path>
            </a:pathLst>
          </a:custGeom>
          <a:solidFill>
            <a:srgbClr val="1E222B"/>
          </a:solidFill>
        </p:spPr>
        <p:txBody>
          <a:bodyPr wrap="square" lIns="25400" tIns="76200" rIns="25400" bIns="50800" rtlCol="0" anchor="t">
            <a:normAutofit/>
          </a:bodyPr>
          <a:lstStyle/>
          <a:p>
            <a:pPr marL="0" indent="0" algn="ctr">
              <a:lnSpc>
                <a:spcPts val="1820"/>
              </a:lnSpc>
              <a:buNone/>
            </a:pPr>
            <a:r>
              <a:rPr lang="en-US" sz="1300" b="1" dirty="0">
                <a:solidFill>
                  <a:srgbClr val="F6F5F1"/>
                </a:solidFill>
                <a:latin typeface="Lato" panose="020F0502020204030203" pitchFamily="34" charset="0"/>
                <a:ea typeface="Lato" panose="020F0502020204030203" pitchFamily="34" charset="-122"/>
                <a:cs typeface="Lato" panose="020F0502020204030203" pitchFamily="34" charset="-120"/>
              </a:rPr>
              <a:t>Controlador</a:t>
            </a:r>
            <a:endParaRPr lang="en-US" sz="1300" dirty="0"/>
          </a:p>
        </p:txBody>
      </p:sp>
      <p:pic>
        <p:nvPicPr>
          <p:cNvPr id="8" name="Image 1" descr="arrow-right"/>
          <p:cNvPicPr>
            <a:picLocks noChangeAspect="1"/>
          </p:cNvPicPr>
          <p:nvPr/>
        </p:nvPicPr>
        <p:blipFill>
          <a:blip r:embed="rId1"/>
          <a:srcRect t="-12" b="-12"/>
          <a:stretch>
            <a:fillRect/>
          </a:stretch>
        </p:blipFill>
        <p:spPr>
          <a:xfrm>
            <a:off x="4869162" y="1583398"/>
            <a:ext cx="253940" cy="152400"/>
          </a:xfrm>
          <a:prstGeom prst="rect">
            <a:avLst/>
          </a:prstGeom>
        </p:spPr>
      </p:pic>
      <p:sp>
        <p:nvSpPr>
          <p:cNvPr id="9" name="Text 5"/>
          <p:cNvSpPr/>
          <p:nvPr/>
        </p:nvSpPr>
        <p:spPr>
          <a:xfrm>
            <a:off x="5211972" y="1467929"/>
            <a:ext cx="1767966" cy="383426"/>
          </a:xfrm>
          <a:custGeom>
            <a:avLst/>
            <a:gdLst/>
            <a:ahLst/>
            <a:cxnLst/>
            <a:rect l="l" t="t" r="r" b="b"/>
            <a:pathLst>
              <a:path w="1767966" h="383426">
                <a:moveTo>
                  <a:pt x="63500" y="0"/>
                </a:moveTo>
                <a:lnTo>
                  <a:pt x="1704466" y="0"/>
                </a:lnTo>
                <a:arcTo wR="63500" hR="63500" stAng="16200000" swAng="5400000"/>
                <a:lnTo>
                  <a:pt x="1767966" y="319926"/>
                </a:lnTo>
                <a:arcTo wR="63500" hR="63500" stAng="0" swAng="5400000"/>
                <a:lnTo>
                  <a:pt x="63500" y="383426"/>
                </a:lnTo>
                <a:arcTo wR="63500" hR="63500" stAng="5400000" swAng="5400000"/>
                <a:lnTo>
                  <a:pt x="0" y="63500"/>
                </a:lnTo>
                <a:arcTo wR="63500" hR="63500" stAng="10800000" swAng="5400000"/>
                <a:close/>
              </a:path>
            </a:pathLst>
          </a:custGeom>
          <a:solidFill>
            <a:srgbClr val="1E222B"/>
          </a:solidFill>
        </p:spPr>
        <p:txBody>
          <a:bodyPr wrap="square" lIns="25400" tIns="76200" rIns="25400" bIns="50800" rtlCol="0" anchor="t">
            <a:normAutofit/>
          </a:bodyPr>
          <a:lstStyle/>
          <a:p>
            <a:pPr marL="0" indent="0" algn="ctr">
              <a:lnSpc>
                <a:spcPts val="1820"/>
              </a:lnSpc>
              <a:buNone/>
            </a:pPr>
            <a:r>
              <a:rPr lang="en-US" sz="1300" b="1" dirty="0">
                <a:solidFill>
                  <a:srgbClr val="F6F5F1"/>
                </a:solidFill>
                <a:latin typeface="Lato" panose="020F0502020204030203" pitchFamily="34" charset="0"/>
                <a:ea typeface="Lato" panose="020F0502020204030203" pitchFamily="34" charset="-122"/>
                <a:cs typeface="Lato" panose="020F0502020204030203" pitchFamily="34" charset="-120"/>
              </a:rPr>
              <a:t>Servicio</a:t>
            </a:r>
            <a:endParaRPr lang="en-US" sz="1300" dirty="0"/>
          </a:p>
        </p:txBody>
      </p:sp>
      <p:pic>
        <p:nvPicPr>
          <p:cNvPr id="10" name="Image 2" descr="arrow-right"/>
          <p:cNvPicPr>
            <a:picLocks noChangeAspect="1"/>
          </p:cNvPicPr>
          <p:nvPr/>
        </p:nvPicPr>
        <p:blipFill>
          <a:blip r:embed="rId1"/>
          <a:srcRect t="-12" b="-12"/>
          <a:stretch>
            <a:fillRect/>
          </a:stretch>
        </p:blipFill>
        <p:spPr>
          <a:xfrm>
            <a:off x="7068808" y="1583398"/>
            <a:ext cx="253940" cy="152400"/>
          </a:xfrm>
          <a:prstGeom prst="rect">
            <a:avLst/>
          </a:prstGeom>
        </p:spPr>
      </p:pic>
      <p:sp>
        <p:nvSpPr>
          <p:cNvPr id="11" name="Text 6"/>
          <p:cNvSpPr/>
          <p:nvPr/>
        </p:nvSpPr>
        <p:spPr>
          <a:xfrm>
            <a:off x="7411618" y="1467929"/>
            <a:ext cx="1767966" cy="383426"/>
          </a:xfrm>
          <a:custGeom>
            <a:avLst/>
            <a:gdLst/>
            <a:ahLst/>
            <a:cxnLst/>
            <a:rect l="l" t="t" r="r" b="b"/>
            <a:pathLst>
              <a:path w="1767966" h="383426">
                <a:moveTo>
                  <a:pt x="63500" y="0"/>
                </a:moveTo>
                <a:lnTo>
                  <a:pt x="1704466" y="0"/>
                </a:lnTo>
                <a:arcTo wR="63500" hR="63500" stAng="16200000" swAng="5400000"/>
                <a:lnTo>
                  <a:pt x="1767966" y="319926"/>
                </a:lnTo>
                <a:arcTo wR="63500" hR="63500" stAng="0" swAng="5400000"/>
                <a:lnTo>
                  <a:pt x="63500" y="383426"/>
                </a:lnTo>
                <a:arcTo wR="63500" hR="63500" stAng="5400000" swAng="5400000"/>
                <a:lnTo>
                  <a:pt x="0" y="63500"/>
                </a:lnTo>
                <a:arcTo wR="63500" hR="63500" stAng="10800000" swAng="5400000"/>
                <a:close/>
              </a:path>
            </a:pathLst>
          </a:custGeom>
          <a:solidFill>
            <a:srgbClr val="1E222B"/>
          </a:solidFill>
        </p:spPr>
        <p:txBody>
          <a:bodyPr wrap="square" lIns="25400" tIns="76200" rIns="25400" bIns="50800" rtlCol="0" anchor="t">
            <a:normAutofit/>
          </a:bodyPr>
          <a:lstStyle/>
          <a:p>
            <a:pPr marL="0" indent="0" algn="ctr">
              <a:lnSpc>
                <a:spcPts val="1820"/>
              </a:lnSpc>
              <a:buNone/>
            </a:pPr>
            <a:r>
              <a:rPr lang="en-US" sz="1300" b="1" dirty="0">
                <a:solidFill>
                  <a:srgbClr val="F6F5F1"/>
                </a:solidFill>
                <a:latin typeface="Lato" panose="020F0502020204030203" pitchFamily="34" charset="0"/>
                <a:ea typeface="Lato" panose="020F0502020204030203" pitchFamily="34" charset="-122"/>
                <a:cs typeface="Lato" panose="020F0502020204030203" pitchFamily="34" charset="-120"/>
              </a:rPr>
              <a:t>Repositorio</a:t>
            </a:r>
            <a:endParaRPr lang="en-US" sz="1300" dirty="0"/>
          </a:p>
        </p:txBody>
      </p:sp>
      <p:pic>
        <p:nvPicPr>
          <p:cNvPr id="12" name="Image 3" descr="arrow-right"/>
          <p:cNvPicPr>
            <a:picLocks noChangeAspect="1"/>
          </p:cNvPicPr>
          <p:nvPr/>
        </p:nvPicPr>
        <p:blipFill>
          <a:blip r:embed="rId1"/>
          <a:srcRect t="-12" b="-12"/>
          <a:stretch>
            <a:fillRect/>
          </a:stretch>
        </p:blipFill>
        <p:spPr>
          <a:xfrm>
            <a:off x="9268454" y="1583398"/>
            <a:ext cx="253940" cy="152400"/>
          </a:xfrm>
          <a:prstGeom prst="rect">
            <a:avLst/>
          </a:prstGeom>
        </p:spPr>
      </p:pic>
      <p:sp>
        <p:nvSpPr>
          <p:cNvPr id="13" name="Text 7"/>
          <p:cNvSpPr/>
          <p:nvPr/>
        </p:nvSpPr>
        <p:spPr>
          <a:xfrm>
            <a:off x="9611265" y="1467929"/>
            <a:ext cx="1767966" cy="383426"/>
          </a:xfrm>
          <a:custGeom>
            <a:avLst/>
            <a:gdLst/>
            <a:ahLst/>
            <a:cxnLst/>
            <a:rect l="l" t="t" r="r" b="b"/>
            <a:pathLst>
              <a:path w="1767966" h="383426">
                <a:moveTo>
                  <a:pt x="63500" y="0"/>
                </a:moveTo>
                <a:lnTo>
                  <a:pt x="1704466" y="0"/>
                </a:lnTo>
                <a:arcTo wR="63500" hR="63500" stAng="16200000" swAng="5400000"/>
                <a:lnTo>
                  <a:pt x="1767966" y="319926"/>
                </a:lnTo>
                <a:arcTo wR="63500" hR="63500" stAng="0" swAng="5400000"/>
                <a:lnTo>
                  <a:pt x="63500" y="383426"/>
                </a:lnTo>
                <a:arcTo wR="63500" hR="63500" stAng="5400000" swAng="5400000"/>
                <a:lnTo>
                  <a:pt x="0" y="63500"/>
                </a:lnTo>
                <a:arcTo wR="63500" hR="63500" stAng="10800000" swAng="5400000"/>
                <a:close/>
              </a:path>
            </a:pathLst>
          </a:custGeom>
          <a:solidFill>
            <a:srgbClr val="FBBF24"/>
          </a:solidFill>
        </p:spPr>
        <p:txBody>
          <a:bodyPr wrap="square" lIns="25400" tIns="76200" rIns="25400" bIns="50800" rtlCol="0" anchor="t">
            <a:normAutofit/>
          </a:bodyPr>
          <a:lstStyle/>
          <a:p>
            <a:pPr marL="0" indent="0" algn="ctr">
              <a:lnSpc>
                <a:spcPts val="1820"/>
              </a:lnSpc>
              <a:buNone/>
            </a:pPr>
            <a:r>
              <a:rPr lang="en-US" sz="1300" b="1" dirty="0">
                <a:solidFill>
                  <a:srgbClr val="1E222B"/>
                </a:solidFill>
                <a:latin typeface="Lato" panose="020F0502020204030203" pitchFamily="34" charset="0"/>
                <a:ea typeface="Lato" panose="020F0502020204030203" pitchFamily="34" charset="-122"/>
                <a:cs typeface="Lato" panose="020F0502020204030203" pitchFamily="34" charset="-120"/>
              </a:rPr>
              <a:t>PostgreSQL</a:t>
            </a:r>
            <a:endParaRPr lang="en-US" sz="1300" dirty="0"/>
          </a:p>
        </p:txBody>
      </p:sp>
      <p:sp>
        <p:nvSpPr>
          <p:cNvPr id="14" name="Shape 8"/>
          <p:cNvSpPr/>
          <p:nvPr/>
        </p:nvSpPr>
        <p:spPr>
          <a:xfrm>
            <a:off x="812770" y="2029095"/>
            <a:ext cx="10566371" cy="2627822"/>
          </a:xfrm>
          <a:prstGeom prst="rect">
            <a:avLst/>
          </a:prstGeom>
          <a:solidFill>
            <a:srgbClr val="FDFCF9"/>
          </a:solidFill>
        </p:spPr>
        <p:txBody>
          <a:bodyPr/>
          <a:lstStyle/>
          <a:p>
            <a:endParaRPr lang="es-PE"/>
          </a:p>
        </p:txBody>
      </p:sp>
      <p:sp>
        <p:nvSpPr>
          <p:cNvPr id="15" name="Shape 9"/>
          <p:cNvSpPr/>
          <p:nvPr/>
        </p:nvSpPr>
        <p:spPr>
          <a:xfrm>
            <a:off x="11375966" y="2029095"/>
            <a:ext cx="0" cy="2627822"/>
          </a:xfrm>
          <a:prstGeom prst="line">
            <a:avLst/>
          </a:prstGeom>
          <a:noFill/>
          <a:ln w="6350">
            <a:solidFill>
              <a:srgbClr val="DDD9CC"/>
            </a:solidFill>
            <a:prstDash val="solid"/>
          </a:ln>
        </p:spPr>
        <p:txBody>
          <a:bodyPr/>
          <a:lstStyle/>
          <a:p>
            <a:endParaRPr lang="es-PE"/>
          </a:p>
        </p:txBody>
      </p:sp>
      <p:sp>
        <p:nvSpPr>
          <p:cNvPr id="16" name="Shape 10"/>
          <p:cNvSpPr/>
          <p:nvPr/>
        </p:nvSpPr>
        <p:spPr>
          <a:xfrm>
            <a:off x="812770" y="4653742"/>
            <a:ext cx="10566371" cy="0"/>
          </a:xfrm>
          <a:prstGeom prst="line">
            <a:avLst/>
          </a:prstGeom>
          <a:noFill/>
          <a:ln w="6350">
            <a:solidFill>
              <a:srgbClr val="DDD9CC"/>
            </a:solidFill>
            <a:prstDash val="solid"/>
          </a:ln>
        </p:spPr>
        <p:txBody>
          <a:bodyPr/>
          <a:lstStyle/>
          <a:p>
            <a:endParaRPr lang="es-PE"/>
          </a:p>
        </p:txBody>
      </p:sp>
      <p:graphicFrame>
        <p:nvGraphicFramePr>
          <p:cNvPr id="17" name="Table 0"/>
          <p:cNvGraphicFramePr>
            <a:graphicFrameLocks noGrp="1"/>
          </p:cNvGraphicFramePr>
          <p:nvPr/>
        </p:nvGraphicFramePr>
        <p:xfrm>
          <a:off x="824272" y="2040597"/>
          <a:ext cx="10549118" cy="2610568"/>
        </p:xfrm>
        <a:graphic>
          <a:graphicData uri="http://schemas.openxmlformats.org/drawingml/2006/table">
            <a:tbl>
              <a:tblPr/>
              <a:tblGrid>
                <a:gridCol w="1582368"/>
                <a:gridCol w="4219647"/>
                <a:gridCol w="4747103"/>
              </a:tblGrid>
              <a:tr h="358086">
                <a:tc>
                  <a:txBody>
                    <a:bodyPr/>
                    <a:lstStyle/>
                    <a:p>
                      <a:pPr marL="0" indent="0">
                        <a:lnSpc>
                          <a:spcPts val="1820"/>
                        </a:lnSpc>
                        <a:buNone/>
                      </a:pPr>
                      <a:r>
                        <a:rPr lang="en-US" sz="1300" b="1" dirty="0">
                          <a:solidFill>
                            <a:srgbClr val="F6F5F1"/>
                          </a:solidFill>
                          <a:latin typeface="Lato" panose="020F0502020204030203" pitchFamily="34" charset="0"/>
                          <a:ea typeface="Lato" panose="020F0502020204030203" pitchFamily="34" charset="-122"/>
                          <a:cs typeface="Lato" panose="020F0502020204030203" pitchFamily="34" charset="-120"/>
                        </a:rPr>
                        <a:t>Capa</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1C1F2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C1F26"/>
                      </a:solidFill>
                      <a:prstDash val="solid"/>
                      <a:round/>
                      <a:headEnd type="none" w="med" len="med"/>
                      <a:tailEnd type="none" w="med" len="med"/>
                    </a:lnB>
                    <a:solidFill>
                      <a:srgbClr val="1E222B"/>
                    </a:solidFill>
                  </a:tcPr>
                </a:tc>
                <a:tc>
                  <a:txBody>
                    <a:bodyPr/>
                    <a:lstStyle/>
                    <a:p>
                      <a:pPr marL="0" indent="0">
                        <a:lnSpc>
                          <a:spcPts val="1820"/>
                        </a:lnSpc>
                        <a:buNone/>
                      </a:pPr>
                      <a:r>
                        <a:rPr lang="en-US" sz="1300" b="1" dirty="0">
                          <a:solidFill>
                            <a:srgbClr val="F6F5F1"/>
                          </a:solidFill>
                          <a:latin typeface="Lato" panose="020F0502020204030203" pitchFamily="34" charset="0"/>
                          <a:ea typeface="Lato" panose="020F0502020204030203" pitchFamily="34" charset="-122"/>
                          <a:cs typeface="Lato" panose="020F0502020204030203" pitchFamily="34" charset="-120"/>
                        </a:rPr>
                        <a:t>Componentes</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1C1F26"/>
                      </a:solidFill>
                      <a:prstDash val="solid"/>
                      <a:round/>
                      <a:headEnd type="none" w="med" len="med"/>
                      <a:tailEnd type="none" w="med" len="med"/>
                    </a:lnL>
                    <a:lnR w="12700" cap="flat" cmpd="sng" algn="ctr">
                      <a:solidFill>
                        <a:srgbClr val="1C1F2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C1F26"/>
                      </a:solidFill>
                      <a:prstDash val="solid"/>
                      <a:round/>
                      <a:headEnd type="none" w="med" len="med"/>
                      <a:tailEnd type="none" w="med" len="med"/>
                    </a:lnB>
                    <a:solidFill>
                      <a:srgbClr val="1E222B"/>
                    </a:solidFill>
                  </a:tcPr>
                </a:tc>
                <a:tc>
                  <a:txBody>
                    <a:bodyPr/>
                    <a:lstStyle/>
                    <a:p>
                      <a:pPr marL="0" indent="0">
                        <a:lnSpc>
                          <a:spcPts val="1820"/>
                        </a:lnSpc>
                        <a:buNone/>
                      </a:pPr>
                      <a:r>
                        <a:rPr lang="en-US" sz="1300" b="1" dirty="0">
                          <a:solidFill>
                            <a:srgbClr val="F6F5F1"/>
                          </a:solidFill>
                          <a:latin typeface="Lato" panose="020F0502020204030203" pitchFamily="34" charset="0"/>
                          <a:ea typeface="Lato" panose="020F0502020204030203" pitchFamily="34" charset="-122"/>
                          <a:cs typeface="Lato" panose="020F0502020204030203" pitchFamily="34" charset="-120"/>
                        </a:rPr>
                        <a:t>Responsabilidad</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1C1F26"/>
                      </a:solidFill>
                      <a:prstDash val="solid"/>
                      <a:round/>
                      <a:headEnd type="none" w="med" len="med"/>
                      <a:tailEnd type="none" w="med" len="med"/>
                    </a:lnL>
                    <a:lnR w="12700" cap="flat" cmpd="sng" algn="ctr">
                      <a:solidFill>
                        <a:srgbClr val="1C1F2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C1F26"/>
                      </a:solidFill>
                      <a:prstDash val="solid"/>
                      <a:round/>
                      <a:headEnd type="none" w="med" len="med"/>
                      <a:tailEnd type="none" w="med" len="med"/>
                    </a:lnB>
                    <a:solidFill>
                      <a:srgbClr val="1E222B"/>
                    </a:solidFill>
                  </a:tcPr>
                </a:tc>
              </a:tr>
              <a:tr h="589112">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Vista</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C1F2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index, admin-productos y admin-usuarios (Thymeleaf y Bulma)</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C1F2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Presenta datos y muestra los errores de validación</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C1F2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589112">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Controlador</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6"/>
                    </a:solidFill>
                  </a:tcPr>
                </a:tc>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HomeController, ProductoController, UsuarioController</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6"/>
                    </a:solidFill>
                  </a:tcPr>
                </a:tc>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Recibe peticiones HTTP, activa la validación y devuelve vista o JSON</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6"/>
                    </a:solidFill>
                  </a:tcPr>
                </a:tc>
              </a:tr>
              <a:tr h="358086">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Servicio</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ProductoService, UsuarioService</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Aplica la lógica de negocio, incluido el registro de ventas</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58086">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Repositorio</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6"/>
                    </a:solidFill>
                  </a:tcPr>
                </a:tc>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Producto, Categoria, Usuario y Venta (Repository)</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6"/>
                    </a:solidFill>
                  </a:tcPr>
                </a:tc>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Accede a PostgreSQL con Spring Data JPA</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6"/>
                    </a:solidFill>
                  </a:tcPr>
                </a:tc>
              </a:tr>
              <a:tr h="358086">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Modelo</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Producto, Categoria, Usuario, Venta, DetalleVenta</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Representa las entidades y sus restricciones</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bl>
          </a:graphicData>
        </a:graphic>
      </p:graphicFrame>
      <p:sp>
        <p:nvSpPr>
          <p:cNvPr id="18" name="Text 11"/>
          <p:cNvSpPr/>
          <p:nvPr/>
        </p:nvSpPr>
        <p:spPr>
          <a:xfrm>
            <a:off x="812770" y="4834657"/>
            <a:ext cx="10883453" cy="248159"/>
          </a:xfrm>
          <a:prstGeom prst="rect">
            <a:avLst/>
          </a:prstGeom>
          <a:noFill/>
        </p:spPr>
        <p:txBody>
          <a:bodyPr wrap="square" lIns="0" tIns="0" rIns="0" bIns="0" rtlCol="0" anchor="t">
            <a:normAutofit/>
          </a:bodyPr>
          <a:lstStyle/>
          <a:p>
            <a:pPr marL="0" indent="0" algn="l">
              <a:lnSpc>
                <a:spcPts val="1755"/>
              </a:lnSpc>
              <a:buNone/>
            </a:pPr>
            <a:r>
              <a:rPr lang="en-US" sz="1300" dirty="0">
                <a:solidFill>
                  <a:srgbClr val="596070"/>
                </a:solidFill>
                <a:latin typeface="Lato" panose="020F0502020204030203" pitchFamily="34" charset="0"/>
                <a:ea typeface="Lato" panose="020F0502020204030203" pitchFamily="34" charset="-122"/>
                <a:cs typeface="Lato" panose="020F0502020204030203" pitchFamily="34" charset="-120"/>
              </a:rPr>
              <a:t>Cada capa recibe a la siguiente por inyección de dependencias en el constructor.</a:t>
            </a:r>
            <a:endParaRPr lang="en-US" sz="1300" dirty="0"/>
          </a:p>
        </p:txBody>
      </p:sp>
      <p:sp>
        <p:nvSpPr>
          <p:cNvPr id="19" name="Text 12"/>
          <p:cNvSpPr/>
          <p:nvPr/>
        </p:nvSpPr>
        <p:spPr>
          <a:xfrm>
            <a:off x="812770" y="6238335"/>
            <a:ext cx="7325299" cy="238724"/>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596070"/>
                </a:solidFill>
                <a:latin typeface="Lato" panose="020F0502020204030203" pitchFamily="34" charset="0"/>
                <a:ea typeface="Lato" panose="020F0502020204030203" pitchFamily="34" charset="-122"/>
                <a:cs typeface="Lato" panose="020F0502020204030203" pitchFamily="34" charset="-120"/>
              </a:rPr>
              <a:t>LINKSPORT · AVANCE 03 · Informe final, sección 3.2 (tabla 2)</a:t>
            </a:r>
            <a:endParaRPr lang="en-US" sz="1200" dirty="0"/>
          </a:p>
        </p:txBody>
      </p:sp>
      <p:sp>
        <p:nvSpPr>
          <p:cNvPr id="20" name="Text 13"/>
          <p:cNvSpPr/>
          <p:nvPr/>
        </p:nvSpPr>
        <p:spPr>
          <a:xfrm>
            <a:off x="8108921" y="6238335"/>
            <a:ext cx="3270219" cy="238724"/>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596070"/>
                </a:solidFill>
                <a:latin typeface="Lato" panose="020F0502020204030203" pitchFamily="34" charset="0"/>
                <a:ea typeface="Lato" panose="020F0502020204030203" pitchFamily="34" charset="-122"/>
                <a:cs typeface="Lato" panose="020F0502020204030203" pitchFamily="34" charset="-120"/>
              </a:rPr>
              <a:t>Expone: Jhon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5F1"/>
        </a:solidFill>
        <a:effectLst/>
      </p:bgPr>
    </p:bg>
    <p:spTree>
      <p:nvGrpSpPr>
        <p:cNvPr id="1" name=""/>
        <p:cNvGrpSpPr/>
        <p:nvPr/>
      </p:nvGrpSpPr>
      <p:grpSpPr>
        <a:xfrm>
          <a:off x="0" y="0"/>
          <a:ext cx="0" cy="0"/>
          <a:chOff x="0" y="0"/>
          <a:chExt cx="0" cy="0"/>
        </a:xfrm>
      </p:grpSpPr>
      <p:sp>
        <p:nvSpPr>
          <p:cNvPr id="2" name="Shape 0"/>
          <p:cNvSpPr/>
          <p:nvPr/>
        </p:nvSpPr>
        <p:spPr>
          <a:xfrm>
            <a:off x="812770" y="690835"/>
            <a:ext cx="355570" cy="50770"/>
          </a:xfrm>
          <a:prstGeom prst="rect">
            <a:avLst/>
          </a:prstGeom>
          <a:solidFill>
            <a:srgbClr val="FBBF24"/>
          </a:solidFill>
        </p:spPr>
        <p:txBody>
          <a:bodyPr/>
          <a:lstStyle/>
          <a:p>
            <a:endParaRPr lang="es-PE"/>
          </a:p>
        </p:txBody>
      </p:sp>
      <p:sp>
        <p:nvSpPr>
          <p:cNvPr id="3" name="Text 1"/>
          <p:cNvSpPr/>
          <p:nvPr/>
        </p:nvSpPr>
        <p:spPr>
          <a:xfrm>
            <a:off x="1269880" y="609600"/>
            <a:ext cx="6507444" cy="238724"/>
          </a:xfrm>
          <a:prstGeom prst="rect">
            <a:avLst/>
          </a:prstGeom>
          <a:noFill/>
        </p:spPr>
        <p:txBody>
          <a:bodyPr wrap="square" lIns="0" tIns="0" rIns="0" bIns="0" rtlCol="0" anchor="t">
            <a:normAutofit/>
          </a:bodyPr>
          <a:lstStyle/>
          <a:p>
            <a:pPr marL="0" indent="0" algn="l">
              <a:lnSpc>
                <a:spcPts val="1680"/>
              </a:lnSpc>
              <a:buNone/>
            </a:pPr>
            <a:r>
              <a:rPr lang="en-US" sz="1200" b="1" kern="0" spc="100" dirty="0">
                <a:solidFill>
                  <a:srgbClr val="596070"/>
                </a:solidFill>
                <a:latin typeface="Lato" panose="020F0502020204030203" pitchFamily="34" charset="0"/>
                <a:ea typeface="Lato" panose="020F0502020204030203" pitchFamily="34" charset="-122"/>
                <a:cs typeface="Lato" panose="020F0502020204030203" pitchFamily="34" charset="-120"/>
              </a:rPr>
              <a:t>CAPÍTULO 3 / 3.4 BACKEND CON SPRING · PAQUETE CONTROLLER</a:t>
            </a:r>
            <a:endParaRPr lang="en-US" sz="1200" dirty="0"/>
          </a:p>
        </p:txBody>
      </p:sp>
      <p:sp>
        <p:nvSpPr>
          <p:cNvPr id="4" name="Text 2"/>
          <p:cNvSpPr>
            <a:spLocks noGrp="1"/>
          </p:cNvSpPr>
          <p:nvPr>
            <p:ph type="title"/>
          </p:nvPr>
        </p:nvSpPr>
        <p:spPr>
          <a:xfrm>
            <a:off x="812770" y="899127"/>
            <a:ext cx="10883453" cy="416464"/>
          </a:xfrm>
          <a:prstGeom prst="rect">
            <a:avLst/>
          </a:prstGeom>
          <a:noFill/>
        </p:spPr>
        <p:txBody>
          <a:bodyPr wrap="square" lIns="0" tIns="0" rIns="0" bIns="0" rtlCol="0" anchor="t">
            <a:normAutofit/>
          </a:bodyPr>
          <a:lstStyle/>
          <a:p>
            <a:pPr marL="0" indent="0" algn="l">
              <a:lnSpc>
                <a:spcPts val="3080"/>
              </a:lnSpc>
              <a:buNone/>
            </a:pPr>
            <a:r>
              <a:rPr lang="en-US" sz="2800" b="1" i="0" dirty="0">
                <a:solidFill>
                  <a:srgbClr val="1E222B"/>
                </a:solidFill>
                <a:latin typeface="Lato" panose="020F0502020204030203" pitchFamily="34" charset="0"/>
                <a:ea typeface="Lato" panose="020F0502020204030203" pitchFamily="34" charset="-122"/>
                <a:cs typeface="Lato" panose="020F0502020204030203" pitchFamily="34" charset="-120"/>
              </a:rPr>
              <a:t>Controladores y API REST del CRUD</a:t>
            </a:r>
            <a:endParaRPr lang="en-US" sz="2800" dirty="0"/>
          </a:p>
        </p:txBody>
      </p:sp>
      <p:sp>
        <p:nvSpPr>
          <p:cNvPr id="5" name="Shape 3"/>
          <p:cNvSpPr/>
          <p:nvPr/>
        </p:nvSpPr>
        <p:spPr>
          <a:xfrm>
            <a:off x="812770" y="1467929"/>
            <a:ext cx="10566371" cy="2881942"/>
          </a:xfrm>
          <a:prstGeom prst="rect">
            <a:avLst/>
          </a:prstGeom>
          <a:solidFill>
            <a:srgbClr val="FDFCF9"/>
          </a:solidFill>
        </p:spPr>
        <p:txBody>
          <a:bodyPr/>
          <a:lstStyle/>
          <a:p>
            <a:endParaRPr lang="es-PE"/>
          </a:p>
        </p:txBody>
      </p:sp>
      <p:sp>
        <p:nvSpPr>
          <p:cNvPr id="6" name="Shape 4"/>
          <p:cNvSpPr/>
          <p:nvPr/>
        </p:nvSpPr>
        <p:spPr>
          <a:xfrm>
            <a:off x="11375966" y="1467929"/>
            <a:ext cx="0" cy="2881942"/>
          </a:xfrm>
          <a:prstGeom prst="line">
            <a:avLst/>
          </a:prstGeom>
          <a:noFill/>
          <a:ln w="6350">
            <a:solidFill>
              <a:srgbClr val="DDD9CC"/>
            </a:solidFill>
            <a:prstDash val="solid"/>
          </a:ln>
        </p:spPr>
        <p:txBody>
          <a:bodyPr/>
          <a:lstStyle/>
          <a:p>
            <a:endParaRPr lang="es-PE"/>
          </a:p>
        </p:txBody>
      </p:sp>
      <p:sp>
        <p:nvSpPr>
          <p:cNvPr id="7" name="Shape 5"/>
          <p:cNvSpPr/>
          <p:nvPr/>
        </p:nvSpPr>
        <p:spPr>
          <a:xfrm>
            <a:off x="812770" y="4346696"/>
            <a:ext cx="10566371" cy="0"/>
          </a:xfrm>
          <a:prstGeom prst="line">
            <a:avLst/>
          </a:prstGeom>
          <a:noFill/>
          <a:ln w="6350">
            <a:solidFill>
              <a:srgbClr val="DDD9CC"/>
            </a:solidFill>
            <a:prstDash val="solid"/>
          </a:ln>
        </p:spPr>
        <p:txBody>
          <a:bodyPr/>
          <a:lstStyle/>
          <a:p>
            <a:endParaRPr lang="es-PE"/>
          </a:p>
        </p:txBody>
      </p:sp>
      <p:graphicFrame>
        <p:nvGraphicFramePr>
          <p:cNvPr id="8" name="Table 0"/>
          <p:cNvGraphicFramePr>
            <a:graphicFrameLocks noGrp="1"/>
          </p:cNvGraphicFramePr>
          <p:nvPr/>
        </p:nvGraphicFramePr>
        <p:xfrm>
          <a:off x="824272" y="1479431"/>
          <a:ext cx="10549118" cy="2864688"/>
        </p:xfrm>
        <a:graphic>
          <a:graphicData uri="http://schemas.openxmlformats.org/drawingml/2006/table">
            <a:tbl>
              <a:tblPr/>
              <a:tblGrid>
                <a:gridCol w="1793350"/>
                <a:gridCol w="4219647"/>
                <a:gridCol w="1687859"/>
                <a:gridCol w="2848262"/>
              </a:tblGrid>
              <a:tr h="358086">
                <a:tc>
                  <a:txBody>
                    <a:bodyPr/>
                    <a:lstStyle/>
                    <a:p>
                      <a:pPr marL="0" indent="0">
                        <a:lnSpc>
                          <a:spcPts val="1820"/>
                        </a:lnSpc>
                        <a:buNone/>
                      </a:pPr>
                      <a:r>
                        <a:rPr lang="en-US" sz="1300" b="1" dirty="0">
                          <a:solidFill>
                            <a:srgbClr val="F6F5F1"/>
                          </a:solidFill>
                          <a:latin typeface="Lato" panose="020F0502020204030203" pitchFamily="34" charset="0"/>
                          <a:ea typeface="Lato" panose="020F0502020204030203" pitchFamily="34" charset="-122"/>
                          <a:cs typeface="Lato" panose="020F0502020204030203" pitchFamily="34" charset="-120"/>
                        </a:rPr>
                        <a:t>Operación</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1C1F2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C1F26"/>
                      </a:solidFill>
                      <a:prstDash val="solid"/>
                      <a:round/>
                      <a:headEnd type="none" w="med" len="med"/>
                      <a:tailEnd type="none" w="med" len="med"/>
                    </a:lnB>
                    <a:solidFill>
                      <a:srgbClr val="1E222B"/>
                    </a:solidFill>
                  </a:tcPr>
                </a:tc>
                <a:tc>
                  <a:txBody>
                    <a:bodyPr/>
                    <a:lstStyle/>
                    <a:p>
                      <a:pPr marL="0" indent="0">
                        <a:lnSpc>
                          <a:spcPts val="1820"/>
                        </a:lnSpc>
                        <a:buNone/>
                      </a:pPr>
                      <a:r>
                        <a:rPr lang="en-US" sz="1300" b="1" dirty="0">
                          <a:solidFill>
                            <a:srgbClr val="F6F5F1"/>
                          </a:solidFill>
                          <a:latin typeface="Lato" panose="020F0502020204030203" pitchFamily="34" charset="0"/>
                          <a:ea typeface="Lato" panose="020F0502020204030203" pitchFamily="34" charset="-122"/>
                          <a:cs typeface="Lato" panose="020F0502020204030203" pitchFamily="34" charset="-120"/>
                        </a:rPr>
                        <a:t>Método y ruta</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1C1F26"/>
                      </a:solidFill>
                      <a:prstDash val="solid"/>
                      <a:round/>
                      <a:headEnd type="none" w="med" len="med"/>
                      <a:tailEnd type="none" w="med" len="med"/>
                    </a:lnL>
                    <a:lnR w="12700" cap="flat" cmpd="sng" algn="ctr">
                      <a:solidFill>
                        <a:srgbClr val="1C1F2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C1F26"/>
                      </a:solidFill>
                      <a:prstDash val="solid"/>
                      <a:round/>
                      <a:headEnd type="none" w="med" len="med"/>
                      <a:tailEnd type="none" w="med" len="med"/>
                    </a:lnB>
                    <a:solidFill>
                      <a:srgbClr val="1E222B"/>
                    </a:solidFill>
                  </a:tcPr>
                </a:tc>
                <a:tc>
                  <a:txBody>
                    <a:bodyPr/>
                    <a:lstStyle/>
                    <a:p>
                      <a:pPr marL="0" indent="0">
                        <a:lnSpc>
                          <a:spcPts val="1820"/>
                        </a:lnSpc>
                        <a:buNone/>
                      </a:pPr>
                      <a:r>
                        <a:rPr lang="en-US" sz="1300" b="1" dirty="0">
                          <a:solidFill>
                            <a:srgbClr val="F6F5F1"/>
                          </a:solidFill>
                          <a:latin typeface="Lato" panose="020F0502020204030203" pitchFamily="34" charset="0"/>
                          <a:ea typeface="Lato" panose="020F0502020204030203" pitchFamily="34" charset="-122"/>
                          <a:cs typeface="Lato" panose="020F0502020204030203" pitchFamily="34" charset="-120"/>
                        </a:rPr>
                        <a:t>Respuesta</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1C1F26"/>
                      </a:solidFill>
                      <a:prstDash val="solid"/>
                      <a:round/>
                      <a:headEnd type="none" w="med" len="med"/>
                      <a:tailEnd type="none" w="med" len="med"/>
                    </a:lnL>
                    <a:lnR w="12700" cap="flat" cmpd="sng" algn="ctr">
                      <a:solidFill>
                        <a:srgbClr val="1C1F2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C1F26"/>
                      </a:solidFill>
                      <a:prstDash val="solid"/>
                      <a:round/>
                      <a:headEnd type="none" w="med" len="med"/>
                      <a:tailEnd type="none" w="med" len="med"/>
                    </a:lnB>
                    <a:solidFill>
                      <a:srgbClr val="1E222B"/>
                    </a:solidFill>
                  </a:tcPr>
                </a:tc>
                <a:tc>
                  <a:txBody>
                    <a:bodyPr/>
                    <a:lstStyle/>
                    <a:p>
                      <a:pPr marL="0" indent="0">
                        <a:lnSpc>
                          <a:spcPts val="1820"/>
                        </a:lnSpc>
                        <a:buNone/>
                      </a:pPr>
                      <a:r>
                        <a:rPr lang="en-US" sz="1300" b="1" dirty="0">
                          <a:solidFill>
                            <a:srgbClr val="F6F5F1"/>
                          </a:solidFill>
                          <a:latin typeface="Lato" panose="020F0502020204030203" pitchFamily="34" charset="0"/>
                          <a:ea typeface="Lato" panose="020F0502020204030203" pitchFamily="34" charset="-122"/>
                          <a:cs typeface="Lato" panose="020F0502020204030203" pitchFamily="34" charset="-120"/>
                        </a:rPr>
                        <a:t>Qué hace</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1C1F26"/>
                      </a:solidFill>
                      <a:prstDash val="solid"/>
                      <a:round/>
                      <a:headEnd type="none" w="med" len="med"/>
                      <a:tailEnd type="none" w="med" len="med"/>
                    </a:lnL>
                    <a:lnR w="12700" cap="flat" cmpd="sng" algn="ctr">
                      <a:solidFill>
                        <a:srgbClr val="1C1F2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C1F26"/>
                      </a:solidFill>
                      <a:prstDash val="solid"/>
                      <a:round/>
                      <a:headEnd type="none" w="med" len="med"/>
                      <a:tailEnd type="none" w="med" len="med"/>
                    </a:lnB>
                    <a:solidFill>
                      <a:srgbClr val="1E222B"/>
                    </a:solidFill>
                  </a:tcPr>
                </a:tc>
              </a:tr>
              <a:tr h="358086">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Mostrar</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C1F2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GET /api/productos</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C1F2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200</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C1F2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Lista los productos</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C1F2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58086">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Buscar</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6"/>
                    </a:solidFill>
                  </a:tcPr>
                </a:tc>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GET /api/productos/{id}</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6"/>
                    </a:solidFill>
                  </a:tcPr>
                </a:tc>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200 / 404</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6"/>
                    </a:solidFill>
                  </a:tcPr>
                </a:tc>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Busca por identificador</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6"/>
                    </a:solidFill>
                  </a:tcPr>
                </a:tc>
              </a:tr>
              <a:tr h="358086">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Ingresar</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POST /api/productos</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200 / 400</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Registra con @Valid</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58086">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Editar</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6"/>
                    </a:solidFill>
                  </a:tcPr>
                </a:tc>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PUT /api/productos/{id}</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6"/>
                    </a:solidFill>
                  </a:tcPr>
                </a:tc>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200 / 400 / 404</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6"/>
                    </a:solidFill>
                  </a:tcPr>
                </a:tc>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Actualiza los datos</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6"/>
                    </a:solidFill>
                  </a:tcPr>
                </a:tc>
              </a:tr>
              <a:tr h="358086">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Eliminar</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DELETE /api/productos/{id}</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200 / 404</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Elimina el producto</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58086">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Venta</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6"/>
                    </a:solidFill>
                  </a:tcPr>
                </a:tc>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POST /api/productos/procesar-pago</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6"/>
                    </a:solidFill>
                  </a:tcPr>
                </a:tc>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200</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6"/>
                    </a:solidFill>
                  </a:tcPr>
                </a:tc>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Guarda venta y detalles</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6"/>
                    </a:solidFill>
                  </a:tcPr>
                </a:tc>
              </a:tr>
              <a:tr h="358086">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Panel web</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POST /admin/productos/guardar</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302</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Guarda y redirige</a:t>
                      </a:r>
                      <a:endParaRPr lang="en-US" sz="1300" dirty="0">
                        <a:latin typeface="Lato" panose="020F0502020204030203" pitchFamily="34" charset="0"/>
                        <a:ea typeface="Lato" panose="020F0502020204030203" pitchFamily="34" charset="0"/>
                        <a:cs typeface="Lato" panose="020F0502020204030203" pitchFamily="34"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bl>
          </a:graphicData>
        </a:graphic>
      </p:graphicFrame>
      <p:sp>
        <p:nvSpPr>
          <p:cNvPr id="9" name="Text 6"/>
          <p:cNvSpPr/>
          <p:nvPr/>
        </p:nvSpPr>
        <p:spPr>
          <a:xfrm>
            <a:off x="815945" y="4530787"/>
            <a:ext cx="3431097" cy="851170"/>
          </a:xfrm>
          <a:prstGeom prst="roundRect">
            <a:avLst>
              <a:gd name="adj" fmla="val 8579"/>
            </a:avLst>
          </a:prstGeom>
          <a:solidFill>
            <a:srgbClr val="FDFCF9"/>
          </a:solidFill>
          <a:ln w="6350">
            <a:solidFill>
              <a:srgbClr val="DDD9CC"/>
            </a:solidFill>
            <a:prstDash val="solid"/>
          </a:ln>
        </p:spPr>
        <p:txBody>
          <a:bodyPr wrap="square" lIns="108188" tIns="70088" rIns="13029" bIns="44688" rtlCol="0" anchor="t">
            <a:normAutofit/>
          </a:bodyPr>
          <a:lstStyle/>
          <a:p>
            <a:pPr marL="0" indent="0" algn="l">
              <a:lnSpc>
                <a:spcPts val="1755"/>
              </a:lnSpc>
              <a:buNone/>
            </a:pPr>
            <a:r>
              <a:rPr lang="en-US" sz="1300" b="1" dirty="0">
                <a:solidFill>
                  <a:srgbClr val="2B303B"/>
                </a:solidFill>
                <a:latin typeface="Lato" panose="020F0502020204030203" pitchFamily="34" charset="0"/>
                <a:ea typeface="Lato" panose="020F0502020204030203" pitchFamily="34" charset="-122"/>
                <a:cs typeface="Lato" panose="020F0502020204030203" pitchFamily="34" charset="-120"/>
              </a:rPr>
              <a:t>REST:</a:t>
            </a:r>
            <a:r>
              <a:rPr lang="en-US" sz="1300" dirty="0">
                <a:solidFill>
                  <a:srgbClr val="2B303B"/>
                </a:solidFill>
                <a:latin typeface="Lato" panose="020F0502020204030203" pitchFamily="34" charset="0"/>
                <a:ea typeface="Lato" panose="020F0502020204030203" pitchFamily="34" charset="-122"/>
                <a:cs typeface="Lato" panose="020F0502020204030203" pitchFamily="34" charset="-120"/>
              </a:rPr>
              <a:t> ProductoController y UsuarioController reciben su servicio por constructor y devuelven JSON.</a:t>
            </a:r>
            <a:endParaRPr lang="en-US" sz="1300" dirty="0"/>
          </a:p>
        </p:txBody>
      </p:sp>
      <p:sp>
        <p:nvSpPr>
          <p:cNvPr id="10" name="Text 7"/>
          <p:cNvSpPr/>
          <p:nvPr/>
        </p:nvSpPr>
        <p:spPr>
          <a:xfrm>
            <a:off x="4380362" y="4530787"/>
            <a:ext cx="3431187" cy="851170"/>
          </a:xfrm>
          <a:prstGeom prst="roundRect">
            <a:avLst>
              <a:gd name="adj" fmla="val 8579"/>
            </a:avLst>
          </a:prstGeom>
          <a:solidFill>
            <a:srgbClr val="FDFCF9"/>
          </a:solidFill>
          <a:ln w="6350">
            <a:solidFill>
              <a:srgbClr val="DDD9CC"/>
            </a:solidFill>
            <a:prstDash val="solid"/>
          </a:ln>
        </p:spPr>
        <p:txBody>
          <a:bodyPr wrap="square" lIns="108188" tIns="70088" rIns="13027" bIns="44688" rtlCol="0" anchor="t">
            <a:normAutofit/>
          </a:bodyPr>
          <a:lstStyle/>
          <a:p>
            <a:pPr marL="0" indent="0" algn="l">
              <a:lnSpc>
                <a:spcPts val="1755"/>
              </a:lnSpc>
              <a:buNone/>
            </a:pPr>
            <a:r>
              <a:rPr lang="en-US" sz="1300" b="1" dirty="0">
                <a:solidFill>
                  <a:srgbClr val="2B303B"/>
                </a:solidFill>
                <a:latin typeface="Lato" panose="020F0502020204030203" pitchFamily="34" charset="0"/>
                <a:ea typeface="Lato" panose="020F0502020204030203" pitchFamily="34" charset="-122"/>
                <a:cs typeface="Lato" panose="020F0502020204030203" pitchFamily="34" charset="-120"/>
              </a:rPr>
              <a:t>Vistas:</a:t>
            </a:r>
            <a:r>
              <a:rPr lang="en-US" sz="1300" dirty="0">
                <a:solidFill>
                  <a:srgbClr val="2B303B"/>
                </a:solidFill>
                <a:latin typeface="Lato" panose="020F0502020204030203" pitchFamily="34" charset="0"/>
                <a:ea typeface="Lato" panose="020F0502020204030203" pitchFamily="34" charset="-122"/>
                <a:cs typeface="Lato" panose="020F0502020204030203" pitchFamily="34" charset="-120"/>
              </a:rPr>
              <a:t> HomeController atiende / y /ver-productos y procesa el formulario del panel.</a:t>
            </a:r>
            <a:endParaRPr lang="en-US" sz="1300" dirty="0"/>
          </a:p>
        </p:txBody>
      </p:sp>
      <p:sp>
        <p:nvSpPr>
          <p:cNvPr id="11" name="Text 8"/>
          <p:cNvSpPr/>
          <p:nvPr/>
        </p:nvSpPr>
        <p:spPr>
          <a:xfrm>
            <a:off x="7944869" y="4530787"/>
            <a:ext cx="3431187" cy="851170"/>
          </a:xfrm>
          <a:prstGeom prst="roundRect">
            <a:avLst>
              <a:gd name="adj" fmla="val 8579"/>
            </a:avLst>
          </a:prstGeom>
          <a:solidFill>
            <a:srgbClr val="FDFCF9"/>
          </a:solidFill>
          <a:ln w="6350">
            <a:solidFill>
              <a:srgbClr val="DDD9CC"/>
            </a:solidFill>
            <a:prstDash val="solid"/>
          </a:ln>
        </p:spPr>
        <p:txBody>
          <a:bodyPr wrap="square" lIns="108188" tIns="70088" rIns="13027" bIns="44688" rtlCol="0" anchor="t">
            <a:normAutofit/>
          </a:bodyPr>
          <a:lstStyle/>
          <a:p>
            <a:pPr marL="0" indent="0" algn="l">
              <a:lnSpc>
                <a:spcPts val="1755"/>
              </a:lnSpc>
              <a:buNone/>
            </a:pPr>
            <a:r>
              <a:rPr lang="en-US" sz="1300" b="1" dirty="0">
                <a:solidFill>
                  <a:srgbClr val="2B303B"/>
                </a:solidFill>
                <a:latin typeface="Lato" panose="020F0502020204030203" pitchFamily="34" charset="0"/>
                <a:ea typeface="Lato" panose="020F0502020204030203" pitchFamily="34" charset="-122"/>
                <a:cs typeface="Lato" panose="020F0502020204030203" pitchFamily="34" charset="-120"/>
              </a:rPr>
              <a:t>Prueba:</a:t>
            </a:r>
            <a:r>
              <a:rPr lang="en-US" sz="1300" dirty="0">
                <a:solidFill>
                  <a:srgbClr val="2B303B"/>
                </a:solidFill>
                <a:latin typeface="Lato" panose="020F0502020204030203" pitchFamily="34" charset="0"/>
                <a:ea typeface="Lato" panose="020F0502020204030203" pitchFamily="34" charset="-122"/>
                <a:cs typeface="Lato" panose="020F0502020204030203" pitchFamily="34" charset="-120"/>
              </a:rPr>
              <a:t> pruebas_crud.http ejecutado con REST Client en VS Code.</a:t>
            </a:r>
            <a:endParaRPr lang="en-US" sz="1300" dirty="0"/>
          </a:p>
        </p:txBody>
      </p:sp>
      <p:sp>
        <p:nvSpPr>
          <p:cNvPr id="12" name="Text 9"/>
          <p:cNvSpPr/>
          <p:nvPr/>
        </p:nvSpPr>
        <p:spPr>
          <a:xfrm>
            <a:off x="812770" y="6238335"/>
            <a:ext cx="7325299" cy="238724"/>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596070"/>
                </a:solidFill>
                <a:latin typeface="Lato" panose="020F0502020204030203" pitchFamily="34" charset="0"/>
                <a:ea typeface="Lato" panose="020F0502020204030203" pitchFamily="34" charset="-122"/>
                <a:cs typeface="Lato" panose="020F0502020204030203" pitchFamily="34" charset="-120"/>
              </a:rPr>
              <a:t>LINKSPORT · AVANCE 03 · Informe final, sección 3.4 b) y tabla 4</a:t>
            </a:r>
            <a:endParaRPr lang="en-US" sz="1200" dirty="0"/>
          </a:p>
        </p:txBody>
      </p:sp>
      <p:sp>
        <p:nvSpPr>
          <p:cNvPr id="13" name="Text 10"/>
          <p:cNvSpPr/>
          <p:nvPr/>
        </p:nvSpPr>
        <p:spPr>
          <a:xfrm>
            <a:off x="8108921" y="6238335"/>
            <a:ext cx="3270219" cy="238724"/>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596070"/>
                </a:solidFill>
                <a:latin typeface="Lato" panose="020F0502020204030203" pitchFamily="34" charset="0"/>
                <a:ea typeface="Lato" panose="020F0502020204030203" pitchFamily="34" charset="-122"/>
                <a:cs typeface="Lato" panose="020F0502020204030203" pitchFamily="34" charset="-120"/>
              </a:rPr>
              <a:t>Expone: Jhon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5F1"/>
        </a:solidFill>
        <a:effectLst/>
      </p:bgPr>
    </p:bg>
    <p:spTree>
      <p:nvGrpSpPr>
        <p:cNvPr id="1" name=""/>
        <p:cNvGrpSpPr/>
        <p:nvPr/>
      </p:nvGrpSpPr>
      <p:grpSpPr>
        <a:xfrm>
          <a:off x="0" y="0"/>
          <a:ext cx="0" cy="0"/>
          <a:chOff x="0" y="0"/>
          <a:chExt cx="0" cy="0"/>
        </a:xfrm>
      </p:grpSpPr>
      <p:sp>
        <p:nvSpPr>
          <p:cNvPr id="2" name="Shape 0"/>
          <p:cNvSpPr/>
          <p:nvPr/>
        </p:nvSpPr>
        <p:spPr>
          <a:xfrm>
            <a:off x="812770" y="690835"/>
            <a:ext cx="355570" cy="50770"/>
          </a:xfrm>
          <a:prstGeom prst="rect">
            <a:avLst/>
          </a:prstGeom>
          <a:solidFill>
            <a:srgbClr val="FBBF24"/>
          </a:solidFill>
        </p:spPr>
        <p:txBody>
          <a:bodyPr/>
          <a:lstStyle/>
          <a:p>
            <a:endParaRPr lang="es-PE"/>
          </a:p>
        </p:txBody>
      </p:sp>
      <p:sp>
        <p:nvSpPr>
          <p:cNvPr id="3" name="Text 1"/>
          <p:cNvSpPr/>
          <p:nvPr/>
        </p:nvSpPr>
        <p:spPr>
          <a:xfrm>
            <a:off x="1269880" y="609600"/>
            <a:ext cx="6494612" cy="238724"/>
          </a:xfrm>
          <a:prstGeom prst="rect">
            <a:avLst/>
          </a:prstGeom>
          <a:noFill/>
        </p:spPr>
        <p:txBody>
          <a:bodyPr wrap="square" lIns="0" tIns="0" rIns="0" bIns="0" rtlCol="0" anchor="t">
            <a:normAutofit/>
          </a:bodyPr>
          <a:lstStyle/>
          <a:p>
            <a:pPr marL="0" indent="0" algn="l">
              <a:lnSpc>
                <a:spcPts val="1680"/>
              </a:lnSpc>
              <a:buNone/>
            </a:pPr>
            <a:r>
              <a:rPr lang="en-US" sz="1200" b="1" kern="0" spc="100" dirty="0">
                <a:solidFill>
                  <a:srgbClr val="596070"/>
                </a:solidFill>
                <a:latin typeface="Lato" panose="020F0502020204030203" pitchFamily="34" charset="0"/>
                <a:ea typeface="Lato" panose="020F0502020204030203" pitchFamily="34" charset="-122"/>
                <a:cs typeface="Lato" panose="020F0502020204030203" pitchFamily="34" charset="-120"/>
              </a:rPr>
              <a:t>CAPÍTULO 3 / 3.5 JPA – HIBERNATE · ENTIDADES Y REPOSITORIOS</a:t>
            </a:r>
            <a:endParaRPr lang="en-US" sz="1200" dirty="0"/>
          </a:p>
        </p:txBody>
      </p:sp>
      <p:sp>
        <p:nvSpPr>
          <p:cNvPr id="4" name="Text 2"/>
          <p:cNvSpPr>
            <a:spLocks noGrp="1"/>
          </p:cNvSpPr>
          <p:nvPr>
            <p:ph type="title"/>
          </p:nvPr>
        </p:nvSpPr>
        <p:spPr>
          <a:xfrm>
            <a:off x="812770" y="899127"/>
            <a:ext cx="10883453" cy="416464"/>
          </a:xfrm>
          <a:prstGeom prst="rect">
            <a:avLst/>
          </a:prstGeom>
          <a:noFill/>
        </p:spPr>
        <p:txBody>
          <a:bodyPr wrap="square" lIns="0" tIns="0" rIns="0" bIns="0" rtlCol="0" anchor="t">
            <a:normAutofit/>
          </a:bodyPr>
          <a:lstStyle/>
          <a:p>
            <a:pPr marL="0" indent="0" algn="l">
              <a:lnSpc>
                <a:spcPts val="3080"/>
              </a:lnSpc>
              <a:buNone/>
            </a:pPr>
            <a:r>
              <a:rPr lang="en-US" sz="2800" b="1" i="0" dirty="0">
                <a:solidFill>
                  <a:srgbClr val="1E222B"/>
                </a:solidFill>
                <a:latin typeface="Lato" panose="020F0502020204030203" pitchFamily="34" charset="0"/>
                <a:ea typeface="Lato" panose="020F0502020204030203" pitchFamily="34" charset="-122"/>
                <a:cs typeface="Lato" panose="020F0502020204030203" pitchFamily="34" charset="-120"/>
              </a:rPr>
              <a:t>Entidades JPA y repositorios Spring Data</a:t>
            </a:r>
            <a:endParaRPr lang="en-US" sz="2800" dirty="0"/>
          </a:p>
        </p:txBody>
      </p:sp>
      <p:sp>
        <p:nvSpPr>
          <p:cNvPr id="5" name="Shape 3"/>
          <p:cNvSpPr/>
          <p:nvPr/>
        </p:nvSpPr>
        <p:spPr>
          <a:xfrm>
            <a:off x="812770" y="1467929"/>
            <a:ext cx="5333910" cy="3367537"/>
          </a:xfrm>
          <a:prstGeom prst="roundRect">
            <a:avLst>
              <a:gd name="adj" fmla="val 3017"/>
            </a:avLst>
          </a:prstGeom>
          <a:solidFill>
            <a:srgbClr val="161B26"/>
          </a:solidFill>
        </p:spPr>
        <p:txBody>
          <a:bodyPr/>
          <a:lstStyle/>
          <a:p>
            <a:endParaRPr lang="es-PE"/>
          </a:p>
        </p:txBody>
      </p:sp>
      <p:sp>
        <p:nvSpPr>
          <p:cNvPr id="6" name="Text 4"/>
          <p:cNvSpPr/>
          <p:nvPr/>
        </p:nvSpPr>
        <p:spPr>
          <a:xfrm>
            <a:off x="990510" y="1620329"/>
            <a:ext cx="5127783" cy="238724"/>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FBBF24"/>
                </a:solidFill>
                <a:latin typeface="Lato" panose="020F0502020204030203" pitchFamily="34" charset="0"/>
                <a:ea typeface="Lato" panose="020F0502020204030203" pitchFamily="34" charset="-122"/>
                <a:cs typeface="Lato" panose="020F0502020204030203" pitchFamily="34" charset="-120"/>
              </a:rPr>
              <a:t>Código 5 · entidad Producto</a:t>
            </a:r>
            <a:endParaRPr lang="en-US" sz="1200" dirty="0"/>
          </a:p>
        </p:txBody>
      </p:sp>
      <p:sp>
        <p:nvSpPr>
          <p:cNvPr id="7" name="Text 5"/>
          <p:cNvSpPr/>
          <p:nvPr/>
        </p:nvSpPr>
        <p:spPr>
          <a:xfrm>
            <a:off x="990510" y="1909856"/>
            <a:ext cx="5127783" cy="2798613"/>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7DD3FC"/>
                </a:solidFill>
                <a:latin typeface="JetBrains Mono" panose="02000009000000000000" pitchFamily="49" charset="0"/>
                <a:ea typeface="JetBrains Mono" panose="02000009000000000000" pitchFamily="49" charset="-122"/>
                <a:cs typeface="JetBrains Mono" panose="02000009000000000000" pitchFamily="49" charset="-120"/>
              </a:rPr>
              <a:t>@Entity</a:t>
            </a:r>
            <a:endParaRPr lang="en-US" sz="1200" dirty="0"/>
          </a:p>
          <a:p>
            <a:pPr marL="0" indent="0" algn="l">
              <a:lnSpc>
                <a:spcPts val="1680"/>
              </a:lnSpc>
              <a:buNone/>
            </a:pPr>
            <a:r>
              <a:rPr lang="en-US" sz="1200" dirty="0">
                <a:solidFill>
                  <a:srgbClr val="7DD3FC"/>
                </a:solidFill>
                <a:latin typeface="JetBrains Mono" panose="02000009000000000000" pitchFamily="49" charset="0"/>
                <a:ea typeface="JetBrains Mono" panose="02000009000000000000" pitchFamily="49" charset="-122"/>
                <a:cs typeface="JetBrains Mono" panose="02000009000000000000" pitchFamily="49" charset="-120"/>
              </a:rPr>
              <a:t>@Table</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(name = </a:t>
            </a:r>
            <a:r>
              <a:rPr lang="en-US" sz="1200" dirty="0">
                <a:solidFill>
                  <a:srgbClr val="A7F3D0"/>
                </a:solidFill>
                <a:latin typeface="JetBrains Mono" panose="02000009000000000000" pitchFamily="49" charset="0"/>
                <a:ea typeface="JetBrains Mono" panose="02000009000000000000" pitchFamily="49" charset="-122"/>
                <a:cs typeface="JetBrains Mono" panose="02000009000000000000" pitchFamily="49" charset="-120"/>
              </a:rPr>
              <a:t>"productos"</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a:t>
            </a:r>
            <a:endParaRPr lang="en-US" sz="1200" dirty="0"/>
          </a:p>
          <a:p>
            <a:pPr marL="0" indent="0" algn="l">
              <a:lnSpc>
                <a:spcPts val="1680"/>
              </a:lnSpc>
              <a:buNone/>
            </a:pPr>
            <a:r>
              <a:rPr lang="en-US" sz="1200" dirty="0">
                <a:solidFill>
                  <a:srgbClr val="FBBF24"/>
                </a:solidFill>
                <a:latin typeface="JetBrains Mono" panose="02000009000000000000" pitchFamily="49" charset="0"/>
                <a:ea typeface="JetBrains Mono" panose="02000009000000000000" pitchFamily="49" charset="-122"/>
                <a:cs typeface="JetBrains Mono" panose="02000009000000000000" pitchFamily="49" charset="-120"/>
              </a:rPr>
              <a:t>public class</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Producto {</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a:t>
            </a:r>
            <a:r>
              <a:rPr lang="en-US" sz="1200" dirty="0">
                <a:solidFill>
                  <a:srgbClr val="7DD3FC"/>
                </a:solidFill>
                <a:latin typeface="JetBrains Mono" panose="02000009000000000000" pitchFamily="49" charset="0"/>
                <a:ea typeface="JetBrains Mono" panose="02000009000000000000" pitchFamily="49" charset="-122"/>
                <a:cs typeface="JetBrains Mono" panose="02000009000000000000" pitchFamily="49" charset="-120"/>
              </a:rPr>
              <a:t>@Id</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a:t>
            </a:r>
            <a:r>
              <a:rPr lang="en-US" sz="1200" dirty="0">
                <a:solidFill>
                  <a:srgbClr val="7DD3FC"/>
                </a:solidFill>
                <a:latin typeface="JetBrains Mono" panose="02000009000000000000" pitchFamily="49" charset="0"/>
                <a:ea typeface="JetBrains Mono" panose="02000009000000000000" pitchFamily="49" charset="-122"/>
                <a:cs typeface="JetBrains Mono" panose="02000009000000000000" pitchFamily="49" charset="-120"/>
              </a:rPr>
              <a:t>@GeneratedValue</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(strategy = GenerationType.IDENTITY)</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a:t>
            </a:r>
            <a:r>
              <a:rPr lang="en-US" sz="1200" dirty="0">
                <a:solidFill>
                  <a:srgbClr val="FBBF24"/>
                </a:solidFill>
                <a:latin typeface="JetBrains Mono" panose="02000009000000000000" pitchFamily="49" charset="0"/>
                <a:ea typeface="JetBrains Mono" panose="02000009000000000000" pitchFamily="49" charset="-122"/>
                <a:cs typeface="JetBrains Mono" panose="02000009000000000000" pitchFamily="49" charset="-120"/>
              </a:rPr>
              <a:t>private</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Long id;</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a:t>
            </a:r>
            <a:r>
              <a:rPr lang="en-US" sz="1200" dirty="0">
                <a:solidFill>
                  <a:srgbClr val="7DD3FC"/>
                </a:solidFill>
                <a:latin typeface="JetBrains Mono" panose="02000009000000000000" pitchFamily="49" charset="0"/>
                <a:ea typeface="JetBrains Mono" panose="02000009000000000000" pitchFamily="49" charset="-122"/>
                <a:cs typeface="JetBrains Mono" panose="02000009000000000000" pitchFamily="49" charset="-120"/>
              </a:rPr>
              <a:t>@Column</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(nullable = false, unique = true)</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a:t>
            </a:r>
            <a:r>
              <a:rPr lang="en-US" sz="1200" dirty="0">
                <a:solidFill>
                  <a:srgbClr val="FBBF24"/>
                </a:solidFill>
                <a:latin typeface="JetBrains Mono" panose="02000009000000000000" pitchFamily="49" charset="0"/>
                <a:ea typeface="JetBrains Mono" panose="02000009000000000000" pitchFamily="49" charset="-122"/>
                <a:cs typeface="JetBrains Mono" panose="02000009000000000000" pitchFamily="49" charset="-120"/>
              </a:rPr>
              <a:t>private</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String nombre;</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a:t>
            </a:r>
            <a:r>
              <a:rPr lang="en-US" sz="1200" dirty="0">
                <a:solidFill>
                  <a:srgbClr val="7DD3FC"/>
                </a:solidFill>
                <a:latin typeface="JetBrains Mono" panose="02000009000000000000" pitchFamily="49" charset="0"/>
                <a:ea typeface="JetBrains Mono" panose="02000009000000000000" pitchFamily="49" charset="-122"/>
                <a:cs typeface="JetBrains Mono" panose="02000009000000000000" pitchFamily="49" charset="-120"/>
              </a:rPr>
              <a:t>@ManyToOne</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(fetch = FetchType.LAZY)</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a:t>
            </a:r>
            <a:r>
              <a:rPr lang="en-US" sz="1200" dirty="0">
                <a:solidFill>
                  <a:srgbClr val="7DD3FC"/>
                </a:solidFill>
                <a:latin typeface="JetBrains Mono" panose="02000009000000000000" pitchFamily="49" charset="0"/>
                <a:ea typeface="JetBrains Mono" panose="02000009000000000000" pitchFamily="49" charset="-122"/>
                <a:cs typeface="JetBrains Mono" panose="02000009000000000000" pitchFamily="49" charset="-120"/>
              </a:rPr>
              <a:t>@JoinColumn</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(name = </a:t>
            </a:r>
            <a:r>
              <a:rPr lang="en-US" sz="1200" dirty="0">
                <a:solidFill>
                  <a:srgbClr val="A7F3D0"/>
                </a:solidFill>
                <a:latin typeface="JetBrains Mono" panose="02000009000000000000" pitchFamily="49" charset="0"/>
                <a:ea typeface="JetBrains Mono" panose="02000009000000000000" pitchFamily="49" charset="-122"/>
                <a:cs typeface="JetBrains Mono" panose="02000009000000000000" pitchFamily="49" charset="-120"/>
              </a:rPr>
              <a:t>"categoria_id"</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a:t>
            </a:r>
            <a:r>
              <a:rPr lang="en-US" sz="1200" dirty="0">
                <a:solidFill>
                  <a:srgbClr val="FBBF24"/>
                </a:solidFill>
                <a:latin typeface="JetBrains Mono" panose="02000009000000000000" pitchFamily="49" charset="0"/>
                <a:ea typeface="JetBrains Mono" panose="02000009000000000000" pitchFamily="49" charset="-122"/>
                <a:cs typeface="JetBrains Mono" panose="02000009000000000000" pitchFamily="49" charset="-120"/>
              </a:rPr>
              <a:t>private</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Categoria categoria;</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a:t>
            </a:r>
            <a:r>
              <a:rPr lang="en-US" sz="1200" dirty="0">
                <a:solidFill>
                  <a:srgbClr val="8E98AC"/>
                </a:solidFill>
                <a:latin typeface="JetBrains Mono" panose="02000009000000000000" pitchFamily="49" charset="0"/>
                <a:ea typeface="JetBrains Mono" panose="02000009000000000000" pitchFamily="49" charset="-122"/>
                <a:cs typeface="JetBrains Mono" panose="02000009000000000000" pitchFamily="49" charset="-120"/>
              </a:rPr>
              <a:t>// precio, imagenSrc, destacado...</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a:t>
            </a:r>
            <a:endParaRPr lang="en-US" sz="1200" dirty="0"/>
          </a:p>
        </p:txBody>
      </p:sp>
      <p:sp>
        <p:nvSpPr>
          <p:cNvPr id="8" name="Shape 6"/>
          <p:cNvSpPr/>
          <p:nvPr/>
        </p:nvSpPr>
        <p:spPr>
          <a:xfrm>
            <a:off x="6349850" y="1467929"/>
            <a:ext cx="5029380" cy="2087593"/>
          </a:xfrm>
          <a:prstGeom prst="roundRect">
            <a:avLst>
              <a:gd name="adj" fmla="val 4867"/>
            </a:avLst>
          </a:prstGeom>
          <a:solidFill>
            <a:srgbClr val="161B26"/>
          </a:solidFill>
        </p:spPr>
        <p:txBody>
          <a:bodyPr/>
          <a:lstStyle/>
          <a:p>
            <a:endParaRPr lang="es-PE"/>
          </a:p>
        </p:txBody>
      </p:sp>
      <p:sp>
        <p:nvSpPr>
          <p:cNvPr id="9" name="Text 7"/>
          <p:cNvSpPr/>
          <p:nvPr/>
        </p:nvSpPr>
        <p:spPr>
          <a:xfrm>
            <a:off x="6527591" y="1620329"/>
            <a:ext cx="4814117" cy="238724"/>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FBBF24"/>
                </a:solidFill>
                <a:latin typeface="Lato" panose="020F0502020204030203" pitchFamily="34" charset="0"/>
                <a:ea typeface="Lato" panose="020F0502020204030203" pitchFamily="34" charset="-122"/>
                <a:cs typeface="Lato" panose="020F0502020204030203" pitchFamily="34" charset="-120"/>
              </a:rPr>
              <a:t>Código 7 · repositorios</a:t>
            </a:r>
            <a:endParaRPr lang="en-US" sz="1200" dirty="0"/>
          </a:p>
        </p:txBody>
      </p:sp>
      <p:sp>
        <p:nvSpPr>
          <p:cNvPr id="10" name="Text 8"/>
          <p:cNvSpPr/>
          <p:nvPr/>
        </p:nvSpPr>
        <p:spPr>
          <a:xfrm>
            <a:off x="6527591" y="1909856"/>
            <a:ext cx="4814117" cy="1518668"/>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FBBF24"/>
                </a:solidFill>
                <a:latin typeface="JetBrains Mono" panose="02000009000000000000" pitchFamily="49" charset="0"/>
                <a:ea typeface="JetBrains Mono" panose="02000009000000000000" pitchFamily="49" charset="-122"/>
                <a:cs typeface="JetBrains Mono" panose="02000009000000000000" pitchFamily="49" charset="-120"/>
              </a:rPr>
              <a:t>public interface</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ProductoRepository</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a:t>
            </a:r>
            <a:r>
              <a:rPr lang="en-US" sz="1200" dirty="0">
                <a:solidFill>
                  <a:srgbClr val="FBBF24"/>
                </a:solidFill>
                <a:latin typeface="JetBrains Mono" panose="02000009000000000000" pitchFamily="49" charset="0"/>
                <a:ea typeface="JetBrains Mono" panose="02000009000000000000" pitchFamily="49" charset="-122"/>
                <a:cs typeface="JetBrains Mono" panose="02000009000000000000" pitchFamily="49" charset="-120"/>
              </a:rPr>
              <a:t>extends</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JpaRepository&lt;Producto, Long&gt; { }</a:t>
            </a:r>
            <a:endParaRPr lang="en-US" sz="1200" dirty="0"/>
          </a:p>
          <a:p>
            <a:pPr marL="0" indent="0" algn="l">
              <a:lnSpc>
                <a:spcPts val="1680"/>
              </a:lnSpc>
              <a:buNone/>
            </a:pPr>
            <a:r>
              <a:rPr lang="en-US" sz="1200" dirty="0">
                <a:solidFill>
                  <a:srgbClr val="8E98AC"/>
                </a:solidFill>
                <a:latin typeface="JetBrains Mono" panose="02000009000000000000" pitchFamily="49" charset="0"/>
                <a:ea typeface="JetBrains Mono" panose="02000009000000000000" pitchFamily="49" charset="-122"/>
                <a:cs typeface="JetBrains Mono" panose="02000009000000000000" pitchFamily="49" charset="-120"/>
              </a:rPr>
              <a:t>// Categoria y Venta: igual</a:t>
            </a:r>
            <a:endParaRPr lang="en-US" sz="1200" dirty="0"/>
          </a:p>
          <a:p>
            <a:pPr marL="0" indent="0" algn="l">
              <a:lnSpc>
                <a:spcPts val="1680"/>
              </a:lnSpc>
              <a:buNone/>
            </a:pPr>
            <a:r>
              <a:rPr lang="en-US" sz="1200" dirty="0">
                <a:solidFill>
                  <a:srgbClr val="FBBF24"/>
                </a:solidFill>
                <a:latin typeface="JetBrains Mono" panose="02000009000000000000" pitchFamily="49" charset="0"/>
                <a:ea typeface="JetBrains Mono" panose="02000009000000000000" pitchFamily="49" charset="-122"/>
                <a:cs typeface="JetBrains Mono" panose="02000009000000000000" pitchFamily="49" charset="-120"/>
              </a:rPr>
              <a:t>public interface</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UsuarioRepository</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a:t>
            </a:r>
            <a:r>
              <a:rPr lang="en-US" sz="1200" dirty="0">
                <a:solidFill>
                  <a:srgbClr val="FBBF24"/>
                </a:solidFill>
                <a:latin typeface="JetBrains Mono" panose="02000009000000000000" pitchFamily="49" charset="0"/>
                <a:ea typeface="JetBrains Mono" panose="02000009000000000000" pitchFamily="49" charset="-122"/>
                <a:cs typeface="JetBrains Mono" panose="02000009000000000000" pitchFamily="49" charset="-120"/>
              </a:rPr>
              <a:t>extends</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JpaRepository&lt;Usuario, Long&gt; {</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Optional&lt;Usuario&gt; findByCorreo(String correo);</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a:t>
            </a:r>
            <a:endParaRPr lang="en-US" sz="1200" dirty="0"/>
          </a:p>
        </p:txBody>
      </p:sp>
      <p:sp>
        <p:nvSpPr>
          <p:cNvPr id="11" name="Text 9"/>
          <p:cNvSpPr/>
          <p:nvPr/>
        </p:nvSpPr>
        <p:spPr>
          <a:xfrm>
            <a:off x="6353025" y="3660235"/>
            <a:ext cx="5023030" cy="902030"/>
          </a:xfrm>
          <a:prstGeom prst="roundRect">
            <a:avLst>
              <a:gd name="adj" fmla="val 10911"/>
            </a:avLst>
          </a:prstGeom>
          <a:solidFill>
            <a:srgbClr val="FDFCF9"/>
          </a:solidFill>
          <a:ln w="6350">
            <a:solidFill>
              <a:srgbClr val="DDD9CC"/>
            </a:solidFill>
            <a:prstDash val="solid"/>
          </a:ln>
        </p:spPr>
        <p:txBody>
          <a:bodyPr wrap="square" lIns="126148" tIns="88048" rIns="0" bIns="62648" rtlCol="0" anchor="t">
            <a:normAutofit/>
          </a:bodyPr>
          <a:lstStyle/>
          <a:p>
            <a:pPr marL="0" indent="0" algn="l">
              <a:lnSpc>
                <a:spcPts val="1755"/>
              </a:lnSpc>
              <a:buNone/>
            </a:pPr>
            <a:r>
              <a:rPr lang="en-US" sz="1300" b="1" dirty="0">
                <a:solidFill>
                  <a:srgbClr val="2B303B"/>
                </a:solidFill>
                <a:latin typeface="Lato" panose="020F0502020204030203" pitchFamily="34" charset="0"/>
                <a:ea typeface="Lato" panose="020F0502020204030203" pitchFamily="34" charset="-122"/>
                <a:cs typeface="Lato" panose="020F0502020204030203" pitchFamily="34" charset="-120"/>
              </a:rPr>
              <a:t>@Entity y @Table</a:t>
            </a:r>
            <a:r>
              <a:rPr lang="en-US" sz="1300" dirty="0">
                <a:solidFill>
                  <a:srgbClr val="2B303B"/>
                </a:solidFill>
                <a:latin typeface="Lato" panose="020F0502020204030203" pitchFamily="34" charset="0"/>
                <a:ea typeface="Lato" panose="020F0502020204030203" pitchFamily="34" charset="-122"/>
                <a:cs typeface="Lato" panose="020F0502020204030203" pitchFamily="34" charset="-120"/>
              </a:rPr>
              <a:t> enlazan la clase con la tabla; </a:t>
            </a:r>
            <a:r>
              <a:rPr lang="en-US" sz="1300" b="1" dirty="0">
                <a:solidFill>
                  <a:srgbClr val="2B303B"/>
                </a:solidFill>
                <a:latin typeface="Lato" panose="020F0502020204030203" pitchFamily="34" charset="0"/>
                <a:ea typeface="Lato" panose="020F0502020204030203" pitchFamily="34" charset="-122"/>
                <a:cs typeface="Lato" panose="020F0502020204030203" pitchFamily="34" charset="-120"/>
              </a:rPr>
              <a:t>@Id con IDENTITY</a:t>
            </a:r>
            <a:r>
              <a:rPr lang="en-US" sz="1300" dirty="0">
                <a:solidFill>
                  <a:srgbClr val="2B303B"/>
                </a:solidFill>
                <a:latin typeface="Lato" panose="020F0502020204030203" pitchFamily="34" charset="0"/>
                <a:ea typeface="Lato" panose="020F0502020204030203" pitchFamily="34" charset="-122"/>
                <a:cs typeface="Lato" panose="020F0502020204030203" pitchFamily="34" charset="-120"/>
              </a:rPr>
              <a:t> genera la clave. </a:t>
            </a:r>
            <a:r>
              <a:rPr lang="en-US" sz="1300" b="1" dirty="0">
                <a:solidFill>
                  <a:srgbClr val="2B303B"/>
                </a:solidFill>
                <a:latin typeface="Lato" panose="020F0502020204030203" pitchFamily="34" charset="0"/>
                <a:ea typeface="Lato" panose="020F0502020204030203" pitchFamily="34" charset="-122"/>
                <a:cs typeface="Lato" panose="020F0502020204030203" pitchFamily="34" charset="-120"/>
              </a:rPr>
              <a:t>JpaRepository</a:t>
            </a:r>
            <a:r>
              <a:rPr lang="en-US" sz="1300" dirty="0">
                <a:solidFill>
                  <a:srgbClr val="2B303B"/>
                </a:solidFill>
                <a:latin typeface="Lato" panose="020F0502020204030203" pitchFamily="34" charset="0"/>
                <a:ea typeface="Lato" panose="020F0502020204030203" pitchFamily="34" charset="-122"/>
                <a:cs typeface="Lato" panose="020F0502020204030203" pitchFamily="34" charset="-120"/>
              </a:rPr>
              <a:t> da el CRUD sin SQL y </a:t>
            </a:r>
            <a:r>
              <a:rPr lang="en-US" sz="1300" b="1" dirty="0">
                <a:solidFill>
                  <a:srgbClr val="2B303B"/>
                </a:solidFill>
                <a:latin typeface="Lato" panose="020F0502020204030203" pitchFamily="34" charset="0"/>
                <a:ea typeface="Lato" panose="020F0502020204030203" pitchFamily="34" charset="-122"/>
                <a:cs typeface="Lato" panose="020F0502020204030203" pitchFamily="34" charset="-120"/>
              </a:rPr>
              <a:t>findByCorreo</a:t>
            </a:r>
            <a:r>
              <a:rPr lang="en-US" sz="1300" dirty="0">
                <a:solidFill>
                  <a:srgbClr val="2B303B"/>
                </a:solidFill>
                <a:latin typeface="Lato" panose="020F0502020204030203" pitchFamily="34" charset="0"/>
                <a:ea typeface="Lato" panose="020F0502020204030203" pitchFamily="34" charset="-122"/>
                <a:cs typeface="Lato" panose="020F0502020204030203" pitchFamily="34" charset="-120"/>
              </a:rPr>
              <a:t> es una consulta derivada.</a:t>
            </a:r>
            <a:endParaRPr lang="en-US" sz="1300" dirty="0"/>
          </a:p>
        </p:txBody>
      </p:sp>
      <p:sp>
        <p:nvSpPr>
          <p:cNvPr id="12" name="Text 10"/>
          <p:cNvSpPr/>
          <p:nvPr/>
        </p:nvSpPr>
        <p:spPr>
          <a:xfrm>
            <a:off x="812770" y="6238335"/>
            <a:ext cx="7325299" cy="238724"/>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596070"/>
                </a:solidFill>
                <a:latin typeface="Lato" panose="020F0502020204030203" pitchFamily="34" charset="0"/>
                <a:ea typeface="Lato" panose="020F0502020204030203" pitchFamily="34" charset="-122"/>
                <a:cs typeface="Lato" panose="020F0502020204030203" pitchFamily="34" charset="-120"/>
              </a:rPr>
              <a:t>LINKSPORT · AVANCE 03 · Informe final, secciones 3.5 b) y c), códigos 5 y 7</a:t>
            </a:r>
            <a:endParaRPr lang="en-US" sz="1200" dirty="0"/>
          </a:p>
        </p:txBody>
      </p:sp>
      <p:sp>
        <p:nvSpPr>
          <p:cNvPr id="13" name="Text 11"/>
          <p:cNvSpPr/>
          <p:nvPr/>
        </p:nvSpPr>
        <p:spPr>
          <a:xfrm>
            <a:off x="8108921" y="6238335"/>
            <a:ext cx="3270219" cy="238724"/>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596070"/>
                </a:solidFill>
                <a:latin typeface="Lato" panose="020F0502020204030203" pitchFamily="34" charset="0"/>
                <a:ea typeface="Lato" panose="020F0502020204030203" pitchFamily="34" charset="-122"/>
                <a:cs typeface="Lato" panose="020F0502020204030203" pitchFamily="34" charset="-120"/>
              </a:rPr>
              <a:t>Expone: Jean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5F1"/>
        </a:solidFill>
        <a:effectLst/>
      </p:bgPr>
    </p:bg>
    <p:spTree>
      <p:nvGrpSpPr>
        <p:cNvPr id="1" name=""/>
        <p:cNvGrpSpPr/>
        <p:nvPr/>
      </p:nvGrpSpPr>
      <p:grpSpPr>
        <a:xfrm>
          <a:off x="0" y="0"/>
          <a:ext cx="0" cy="0"/>
          <a:chOff x="0" y="0"/>
          <a:chExt cx="0" cy="0"/>
        </a:xfrm>
      </p:grpSpPr>
      <p:sp>
        <p:nvSpPr>
          <p:cNvPr id="2" name="Shape 0"/>
          <p:cNvSpPr/>
          <p:nvPr/>
        </p:nvSpPr>
        <p:spPr>
          <a:xfrm>
            <a:off x="812770" y="690835"/>
            <a:ext cx="355570" cy="50770"/>
          </a:xfrm>
          <a:prstGeom prst="rect">
            <a:avLst/>
          </a:prstGeom>
          <a:solidFill>
            <a:srgbClr val="FBBF24"/>
          </a:solidFill>
        </p:spPr>
        <p:txBody>
          <a:bodyPr/>
          <a:lstStyle/>
          <a:p>
            <a:endParaRPr lang="es-PE"/>
          </a:p>
        </p:txBody>
      </p:sp>
      <p:sp>
        <p:nvSpPr>
          <p:cNvPr id="3" name="Text 1"/>
          <p:cNvSpPr/>
          <p:nvPr/>
        </p:nvSpPr>
        <p:spPr>
          <a:xfrm>
            <a:off x="1269880" y="609600"/>
            <a:ext cx="4185537" cy="238724"/>
          </a:xfrm>
          <a:prstGeom prst="rect">
            <a:avLst/>
          </a:prstGeom>
          <a:noFill/>
        </p:spPr>
        <p:txBody>
          <a:bodyPr wrap="square" lIns="0" tIns="0" rIns="0" bIns="0" rtlCol="0" anchor="t">
            <a:normAutofit/>
          </a:bodyPr>
          <a:lstStyle/>
          <a:p>
            <a:pPr marL="0" indent="0" algn="l">
              <a:lnSpc>
                <a:spcPts val="1680"/>
              </a:lnSpc>
              <a:buNone/>
            </a:pPr>
            <a:r>
              <a:rPr lang="en-US" sz="1200" b="1" kern="0" spc="100" dirty="0">
                <a:solidFill>
                  <a:srgbClr val="596070"/>
                </a:solidFill>
                <a:latin typeface="Lato" panose="020F0502020204030203" pitchFamily="34" charset="0"/>
                <a:ea typeface="Lato" panose="020F0502020204030203" pitchFamily="34" charset="-122"/>
                <a:cs typeface="Lato" panose="020F0502020204030203" pitchFamily="34" charset="-120"/>
              </a:rPr>
              <a:t>CAPÍTULO 3 / 3.5 b) MODELO RELACIONAL</a:t>
            </a:r>
            <a:endParaRPr lang="en-US" sz="1200" dirty="0"/>
          </a:p>
        </p:txBody>
      </p:sp>
      <p:sp>
        <p:nvSpPr>
          <p:cNvPr id="4" name="Text 2"/>
          <p:cNvSpPr>
            <a:spLocks noGrp="1"/>
          </p:cNvSpPr>
          <p:nvPr>
            <p:ph type="title"/>
          </p:nvPr>
        </p:nvSpPr>
        <p:spPr>
          <a:xfrm>
            <a:off x="812770" y="899127"/>
            <a:ext cx="10883453" cy="416464"/>
          </a:xfrm>
          <a:prstGeom prst="rect">
            <a:avLst/>
          </a:prstGeom>
          <a:noFill/>
        </p:spPr>
        <p:txBody>
          <a:bodyPr wrap="square" lIns="0" tIns="0" rIns="0" bIns="0" rtlCol="0" anchor="t">
            <a:normAutofit/>
          </a:bodyPr>
          <a:lstStyle/>
          <a:p>
            <a:pPr marL="0" indent="0" algn="l">
              <a:lnSpc>
                <a:spcPts val="3080"/>
              </a:lnSpc>
              <a:buNone/>
            </a:pPr>
            <a:r>
              <a:rPr lang="en-US" sz="2800" b="1" i="0" dirty="0">
                <a:solidFill>
                  <a:srgbClr val="1E222B"/>
                </a:solidFill>
                <a:latin typeface="Lato" panose="020F0502020204030203" pitchFamily="34" charset="0"/>
                <a:ea typeface="Lato" panose="020F0502020204030203" pitchFamily="34" charset="-122"/>
                <a:cs typeface="Lato" panose="020F0502020204030203" pitchFamily="34" charset="-120"/>
              </a:rPr>
              <a:t>Cinco entidades y sus claves foráneas</a:t>
            </a:r>
            <a:endParaRPr lang="en-US" sz="2800" dirty="0"/>
          </a:p>
        </p:txBody>
      </p:sp>
      <p:sp>
        <p:nvSpPr>
          <p:cNvPr id="5" name="Shape 3"/>
          <p:cNvSpPr/>
          <p:nvPr/>
        </p:nvSpPr>
        <p:spPr>
          <a:xfrm>
            <a:off x="815945" y="1471104"/>
            <a:ext cx="1822450" cy="1764491"/>
          </a:xfrm>
          <a:prstGeom prst="roundRect">
            <a:avLst>
              <a:gd name="adj" fmla="val 4858"/>
            </a:avLst>
          </a:prstGeom>
          <a:solidFill>
            <a:srgbClr val="FDFCF9"/>
          </a:solidFill>
          <a:ln w="6350">
            <a:solidFill>
              <a:srgbClr val="DDD9CC"/>
            </a:solidFill>
            <a:prstDash val="solid"/>
          </a:ln>
        </p:spPr>
        <p:txBody>
          <a:bodyPr/>
          <a:lstStyle/>
          <a:p>
            <a:endParaRPr lang="es-PE"/>
          </a:p>
        </p:txBody>
      </p:sp>
      <p:sp>
        <p:nvSpPr>
          <p:cNvPr id="6" name="Text 4"/>
          <p:cNvSpPr/>
          <p:nvPr/>
        </p:nvSpPr>
        <p:spPr>
          <a:xfrm>
            <a:off x="818521" y="1473677"/>
            <a:ext cx="1817298" cy="375788"/>
          </a:xfrm>
          <a:custGeom>
            <a:avLst/>
            <a:gdLst/>
            <a:ahLst/>
            <a:cxnLst/>
            <a:rect l="l" t="t" r="r" b="b"/>
            <a:pathLst>
              <a:path w="1817298" h="375788">
                <a:moveTo>
                  <a:pt x="82550" y="0"/>
                </a:moveTo>
                <a:lnTo>
                  <a:pt x="1734748" y="0"/>
                </a:lnTo>
                <a:arcTo wR="82550" hR="82550" stAng="16200000" swAng="5400000"/>
                <a:lnTo>
                  <a:pt x="1817298" y="375788"/>
                </a:lnTo>
                <a:lnTo>
                  <a:pt x="0" y="375788"/>
                </a:lnTo>
                <a:lnTo>
                  <a:pt x="0" y="82550"/>
                </a:lnTo>
                <a:arcTo wR="82550" hR="82550" stAng="10800000" swAng="5400000"/>
                <a:close/>
              </a:path>
            </a:pathLst>
          </a:custGeom>
          <a:solidFill>
            <a:srgbClr val="FBBF24"/>
          </a:solidFill>
        </p:spPr>
        <p:txBody>
          <a:bodyPr wrap="square" lIns="114300" tIns="63500" rIns="63500" bIns="38100" rtlCol="0" anchor="t">
            <a:normAutofit/>
          </a:bodyPr>
          <a:lstStyle/>
          <a:p>
            <a:pPr marL="0" indent="0" algn="l">
              <a:lnSpc>
                <a:spcPts val="1960"/>
              </a:lnSpc>
              <a:buNone/>
            </a:pPr>
            <a:r>
              <a:rPr lang="en-US" sz="1400" b="1" dirty="0">
                <a:solidFill>
                  <a:srgbClr val="1E222B"/>
                </a:solidFill>
                <a:latin typeface="Lato" panose="020F0502020204030203" pitchFamily="34" charset="0"/>
                <a:ea typeface="Lato" panose="020F0502020204030203" pitchFamily="34" charset="-122"/>
                <a:cs typeface="Lato" panose="020F0502020204030203" pitchFamily="34" charset="-120"/>
              </a:rPr>
              <a:t>categorias</a:t>
            </a:r>
            <a:endParaRPr lang="en-US" sz="1400" dirty="0"/>
          </a:p>
        </p:txBody>
      </p:sp>
      <p:sp>
        <p:nvSpPr>
          <p:cNvPr id="7" name="Text 5"/>
          <p:cNvSpPr/>
          <p:nvPr/>
        </p:nvSpPr>
        <p:spPr>
          <a:xfrm>
            <a:off x="932821" y="1938337"/>
            <a:ext cx="1639498" cy="256426"/>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1E222B"/>
                </a:solidFill>
                <a:latin typeface="Lato" panose="020F0502020204030203" pitchFamily="34" charset="0"/>
                <a:ea typeface="Lato" panose="020F0502020204030203" pitchFamily="34" charset="-122"/>
                <a:cs typeface="Lato" panose="020F0502020204030203" pitchFamily="34" charset="-120"/>
              </a:rPr>
              <a:t>PK</a:t>
            </a: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 id</a:t>
            </a:r>
            <a:endParaRPr lang="en-US" sz="1300" dirty="0"/>
          </a:p>
        </p:txBody>
      </p:sp>
      <p:sp>
        <p:nvSpPr>
          <p:cNvPr id="8" name="Text 6"/>
          <p:cNvSpPr/>
          <p:nvPr/>
        </p:nvSpPr>
        <p:spPr>
          <a:xfrm>
            <a:off x="932821" y="2182037"/>
            <a:ext cx="1639498" cy="256426"/>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nombre</a:t>
            </a:r>
            <a:endParaRPr lang="en-US" sz="1300" dirty="0"/>
          </a:p>
        </p:txBody>
      </p:sp>
      <p:pic>
        <p:nvPicPr>
          <p:cNvPr id="9" name="Image 0" descr="arrow-right"/>
          <p:cNvPicPr>
            <a:picLocks noChangeAspect="1"/>
          </p:cNvPicPr>
          <p:nvPr/>
        </p:nvPicPr>
        <p:blipFill>
          <a:blip r:embed="rId1"/>
          <a:srcRect t="-3" b="-3"/>
          <a:stretch>
            <a:fillRect/>
          </a:stretch>
        </p:blipFill>
        <p:spPr>
          <a:xfrm>
            <a:off x="2692340" y="2270813"/>
            <a:ext cx="253940" cy="165070"/>
          </a:xfrm>
          <a:prstGeom prst="rect">
            <a:avLst/>
          </a:prstGeom>
        </p:spPr>
      </p:pic>
      <p:sp>
        <p:nvSpPr>
          <p:cNvPr id="10" name="Shape 7"/>
          <p:cNvSpPr/>
          <p:nvPr/>
        </p:nvSpPr>
        <p:spPr>
          <a:xfrm>
            <a:off x="3000315" y="1471104"/>
            <a:ext cx="1822450" cy="1764491"/>
          </a:xfrm>
          <a:prstGeom prst="roundRect">
            <a:avLst>
              <a:gd name="adj" fmla="val 4858"/>
            </a:avLst>
          </a:prstGeom>
          <a:solidFill>
            <a:srgbClr val="FDFCF9"/>
          </a:solidFill>
          <a:ln w="6350">
            <a:solidFill>
              <a:srgbClr val="DDD9CC"/>
            </a:solidFill>
            <a:prstDash val="solid"/>
          </a:ln>
        </p:spPr>
        <p:txBody>
          <a:bodyPr/>
          <a:lstStyle/>
          <a:p>
            <a:endParaRPr lang="es-PE"/>
          </a:p>
        </p:txBody>
      </p:sp>
      <p:sp>
        <p:nvSpPr>
          <p:cNvPr id="11" name="Text 8"/>
          <p:cNvSpPr/>
          <p:nvPr/>
        </p:nvSpPr>
        <p:spPr>
          <a:xfrm>
            <a:off x="3002891" y="1473677"/>
            <a:ext cx="1817298" cy="375788"/>
          </a:xfrm>
          <a:custGeom>
            <a:avLst/>
            <a:gdLst/>
            <a:ahLst/>
            <a:cxnLst/>
            <a:rect l="l" t="t" r="r" b="b"/>
            <a:pathLst>
              <a:path w="1817298" h="375788">
                <a:moveTo>
                  <a:pt x="82550" y="0"/>
                </a:moveTo>
                <a:lnTo>
                  <a:pt x="1734748" y="0"/>
                </a:lnTo>
                <a:arcTo wR="82550" hR="82550" stAng="16200000" swAng="5400000"/>
                <a:lnTo>
                  <a:pt x="1817298" y="375788"/>
                </a:lnTo>
                <a:lnTo>
                  <a:pt x="0" y="375788"/>
                </a:lnTo>
                <a:lnTo>
                  <a:pt x="0" y="82550"/>
                </a:lnTo>
                <a:arcTo wR="82550" hR="82550" stAng="10800000" swAng="5400000"/>
                <a:close/>
              </a:path>
            </a:pathLst>
          </a:custGeom>
          <a:solidFill>
            <a:srgbClr val="FBBF24"/>
          </a:solidFill>
        </p:spPr>
        <p:txBody>
          <a:bodyPr wrap="square" lIns="114300" tIns="63500" rIns="63500" bIns="38100" rtlCol="0" anchor="t">
            <a:normAutofit/>
          </a:bodyPr>
          <a:lstStyle/>
          <a:p>
            <a:pPr marL="0" indent="0" algn="l">
              <a:lnSpc>
                <a:spcPts val="1960"/>
              </a:lnSpc>
              <a:buNone/>
            </a:pPr>
            <a:r>
              <a:rPr lang="en-US" sz="1400" b="1" dirty="0">
                <a:solidFill>
                  <a:srgbClr val="1E222B"/>
                </a:solidFill>
                <a:latin typeface="Lato" panose="020F0502020204030203" pitchFamily="34" charset="0"/>
                <a:ea typeface="Lato" panose="020F0502020204030203" pitchFamily="34" charset="-122"/>
                <a:cs typeface="Lato" panose="020F0502020204030203" pitchFamily="34" charset="-120"/>
              </a:rPr>
              <a:t>productos</a:t>
            </a:r>
            <a:endParaRPr lang="en-US" sz="1400" dirty="0"/>
          </a:p>
        </p:txBody>
      </p:sp>
      <p:sp>
        <p:nvSpPr>
          <p:cNvPr id="12" name="Text 9"/>
          <p:cNvSpPr/>
          <p:nvPr/>
        </p:nvSpPr>
        <p:spPr>
          <a:xfrm>
            <a:off x="3117191" y="1938337"/>
            <a:ext cx="1639498" cy="256426"/>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1E222B"/>
                </a:solidFill>
                <a:latin typeface="Lato" panose="020F0502020204030203" pitchFamily="34" charset="0"/>
                <a:ea typeface="Lato" panose="020F0502020204030203" pitchFamily="34" charset="-122"/>
                <a:cs typeface="Lato" panose="020F0502020204030203" pitchFamily="34" charset="-120"/>
              </a:rPr>
              <a:t>PK</a:t>
            </a: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 id</a:t>
            </a:r>
            <a:endParaRPr lang="en-US" sz="1300" dirty="0"/>
          </a:p>
        </p:txBody>
      </p:sp>
      <p:sp>
        <p:nvSpPr>
          <p:cNvPr id="13" name="Text 10"/>
          <p:cNvSpPr/>
          <p:nvPr/>
        </p:nvSpPr>
        <p:spPr>
          <a:xfrm>
            <a:off x="3117191" y="2182037"/>
            <a:ext cx="1639498" cy="256426"/>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nombre</a:t>
            </a:r>
            <a:endParaRPr lang="en-US" sz="1300" dirty="0"/>
          </a:p>
        </p:txBody>
      </p:sp>
      <p:sp>
        <p:nvSpPr>
          <p:cNvPr id="14" name="Text 11"/>
          <p:cNvSpPr/>
          <p:nvPr/>
        </p:nvSpPr>
        <p:spPr>
          <a:xfrm>
            <a:off x="3117191" y="2425731"/>
            <a:ext cx="1639498" cy="256426"/>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precio</a:t>
            </a:r>
            <a:endParaRPr lang="en-US" sz="1300" dirty="0"/>
          </a:p>
        </p:txBody>
      </p:sp>
      <p:sp>
        <p:nvSpPr>
          <p:cNvPr id="15" name="Text 12"/>
          <p:cNvSpPr/>
          <p:nvPr/>
        </p:nvSpPr>
        <p:spPr>
          <a:xfrm>
            <a:off x="3117191" y="2669425"/>
            <a:ext cx="1639498" cy="256426"/>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destacado</a:t>
            </a:r>
            <a:endParaRPr lang="en-US" sz="1300" dirty="0"/>
          </a:p>
        </p:txBody>
      </p:sp>
      <p:sp>
        <p:nvSpPr>
          <p:cNvPr id="16" name="Text 13"/>
          <p:cNvSpPr/>
          <p:nvPr/>
        </p:nvSpPr>
        <p:spPr>
          <a:xfrm>
            <a:off x="3117191" y="2913125"/>
            <a:ext cx="1639498" cy="256426"/>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1E222B"/>
                </a:solidFill>
                <a:latin typeface="Lato" panose="020F0502020204030203" pitchFamily="34" charset="0"/>
                <a:ea typeface="Lato" panose="020F0502020204030203" pitchFamily="34" charset="-122"/>
                <a:cs typeface="Lato" panose="020F0502020204030203" pitchFamily="34" charset="-120"/>
              </a:rPr>
              <a:t>FK</a:t>
            </a: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 categoria_id</a:t>
            </a:r>
            <a:endParaRPr lang="en-US" sz="1300" dirty="0"/>
          </a:p>
        </p:txBody>
      </p:sp>
      <p:pic>
        <p:nvPicPr>
          <p:cNvPr id="17" name="Image 1" descr="arrow-right"/>
          <p:cNvPicPr>
            <a:picLocks noChangeAspect="1"/>
          </p:cNvPicPr>
          <p:nvPr/>
        </p:nvPicPr>
        <p:blipFill>
          <a:blip r:embed="rId1"/>
          <a:srcRect t="-3" b="-3"/>
          <a:stretch>
            <a:fillRect/>
          </a:stretch>
        </p:blipFill>
        <p:spPr>
          <a:xfrm>
            <a:off x="4876710" y="2270813"/>
            <a:ext cx="253940" cy="165070"/>
          </a:xfrm>
          <a:prstGeom prst="rect">
            <a:avLst/>
          </a:prstGeom>
        </p:spPr>
      </p:pic>
      <p:sp>
        <p:nvSpPr>
          <p:cNvPr id="18" name="Shape 14"/>
          <p:cNvSpPr/>
          <p:nvPr/>
        </p:nvSpPr>
        <p:spPr>
          <a:xfrm>
            <a:off x="5184685" y="1471104"/>
            <a:ext cx="1822450" cy="1764491"/>
          </a:xfrm>
          <a:prstGeom prst="roundRect">
            <a:avLst>
              <a:gd name="adj" fmla="val 4858"/>
            </a:avLst>
          </a:prstGeom>
          <a:solidFill>
            <a:srgbClr val="FDFCF9"/>
          </a:solidFill>
          <a:ln w="6350">
            <a:solidFill>
              <a:srgbClr val="DDD9CC"/>
            </a:solidFill>
            <a:prstDash val="solid"/>
          </a:ln>
        </p:spPr>
        <p:txBody>
          <a:bodyPr/>
          <a:lstStyle/>
          <a:p>
            <a:endParaRPr lang="es-PE"/>
          </a:p>
        </p:txBody>
      </p:sp>
      <p:sp>
        <p:nvSpPr>
          <p:cNvPr id="19" name="Text 15"/>
          <p:cNvSpPr/>
          <p:nvPr/>
        </p:nvSpPr>
        <p:spPr>
          <a:xfrm>
            <a:off x="5187261" y="1473677"/>
            <a:ext cx="1817298" cy="375788"/>
          </a:xfrm>
          <a:custGeom>
            <a:avLst/>
            <a:gdLst/>
            <a:ahLst/>
            <a:cxnLst/>
            <a:rect l="l" t="t" r="r" b="b"/>
            <a:pathLst>
              <a:path w="1817298" h="375788">
                <a:moveTo>
                  <a:pt x="82550" y="0"/>
                </a:moveTo>
                <a:lnTo>
                  <a:pt x="1734748" y="0"/>
                </a:lnTo>
                <a:arcTo wR="82550" hR="82550" stAng="16200000" swAng="5400000"/>
                <a:lnTo>
                  <a:pt x="1817298" y="375788"/>
                </a:lnTo>
                <a:lnTo>
                  <a:pt x="0" y="375788"/>
                </a:lnTo>
                <a:lnTo>
                  <a:pt x="0" y="82550"/>
                </a:lnTo>
                <a:arcTo wR="82550" hR="82550" stAng="10800000" swAng="5400000"/>
                <a:close/>
              </a:path>
            </a:pathLst>
          </a:custGeom>
          <a:solidFill>
            <a:srgbClr val="FBBF24"/>
          </a:solidFill>
        </p:spPr>
        <p:txBody>
          <a:bodyPr wrap="square" lIns="114300" tIns="63500" rIns="63500" bIns="38100" rtlCol="0" anchor="t">
            <a:normAutofit/>
          </a:bodyPr>
          <a:lstStyle/>
          <a:p>
            <a:pPr marL="0" indent="0" algn="l">
              <a:lnSpc>
                <a:spcPts val="1960"/>
              </a:lnSpc>
              <a:buNone/>
            </a:pPr>
            <a:r>
              <a:rPr lang="en-US" sz="1400" b="1" dirty="0">
                <a:solidFill>
                  <a:srgbClr val="1E222B"/>
                </a:solidFill>
                <a:latin typeface="Lato" panose="020F0502020204030203" pitchFamily="34" charset="0"/>
                <a:ea typeface="Lato" panose="020F0502020204030203" pitchFamily="34" charset="-122"/>
                <a:cs typeface="Lato" panose="020F0502020204030203" pitchFamily="34" charset="-120"/>
              </a:rPr>
              <a:t>detalles_ventas</a:t>
            </a:r>
            <a:endParaRPr lang="en-US" sz="1400" dirty="0"/>
          </a:p>
        </p:txBody>
      </p:sp>
      <p:sp>
        <p:nvSpPr>
          <p:cNvPr id="20" name="Text 16"/>
          <p:cNvSpPr/>
          <p:nvPr/>
        </p:nvSpPr>
        <p:spPr>
          <a:xfrm>
            <a:off x="5301561" y="1938337"/>
            <a:ext cx="1639498" cy="256426"/>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1E222B"/>
                </a:solidFill>
                <a:latin typeface="Lato" panose="020F0502020204030203" pitchFamily="34" charset="0"/>
                <a:ea typeface="Lato" panose="020F0502020204030203" pitchFamily="34" charset="-122"/>
                <a:cs typeface="Lato" panose="020F0502020204030203" pitchFamily="34" charset="-120"/>
              </a:rPr>
              <a:t>PK</a:t>
            </a: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 id</a:t>
            </a:r>
            <a:endParaRPr lang="en-US" sz="1300" dirty="0"/>
          </a:p>
        </p:txBody>
      </p:sp>
      <p:sp>
        <p:nvSpPr>
          <p:cNvPr id="21" name="Text 17"/>
          <p:cNvSpPr/>
          <p:nvPr/>
        </p:nvSpPr>
        <p:spPr>
          <a:xfrm>
            <a:off x="5301561" y="2182037"/>
            <a:ext cx="1639498" cy="256426"/>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cantidad</a:t>
            </a:r>
            <a:endParaRPr lang="en-US" sz="1300" dirty="0"/>
          </a:p>
        </p:txBody>
      </p:sp>
      <p:sp>
        <p:nvSpPr>
          <p:cNvPr id="22" name="Text 18"/>
          <p:cNvSpPr/>
          <p:nvPr/>
        </p:nvSpPr>
        <p:spPr>
          <a:xfrm>
            <a:off x="5301561" y="2425731"/>
            <a:ext cx="1639498" cy="256426"/>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precio_unitario</a:t>
            </a:r>
            <a:endParaRPr lang="en-US" sz="1300" dirty="0"/>
          </a:p>
        </p:txBody>
      </p:sp>
      <p:sp>
        <p:nvSpPr>
          <p:cNvPr id="23" name="Text 19"/>
          <p:cNvSpPr/>
          <p:nvPr/>
        </p:nvSpPr>
        <p:spPr>
          <a:xfrm>
            <a:off x="5301561" y="2669425"/>
            <a:ext cx="1639498" cy="256426"/>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1E222B"/>
                </a:solidFill>
                <a:latin typeface="Lato" panose="020F0502020204030203" pitchFamily="34" charset="0"/>
                <a:ea typeface="Lato" panose="020F0502020204030203" pitchFamily="34" charset="-122"/>
                <a:cs typeface="Lato" panose="020F0502020204030203" pitchFamily="34" charset="-120"/>
              </a:rPr>
              <a:t>FK</a:t>
            </a: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 producto_id</a:t>
            </a:r>
            <a:endParaRPr lang="en-US" sz="1300" dirty="0"/>
          </a:p>
        </p:txBody>
      </p:sp>
      <p:sp>
        <p:nvSpPr>
          <p:cNvPr id="24" name="Text 20"/>
          <p:cNvSpPr/>
          <p:nvPr/>
        </p:nvSpPr>
        <p:spPr>
          <a:xfrm>
            <a:off x="5301561" y="2913125"/>
            <a:ext cx="1639498" cy="256426"/>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1E222B"/>
                </a:solidFill>
                <a:latin typeface="Lato" panose="020F0502020204030203" pitchFamily="34" charset="0"/>
                <a:ea typeface="Lato" panose="020F0502020204030203" pitchFamily="34" charset="-122"/>
                <a:cs typeface="Lato" panose="020F0502020204030203" pitchFamily="34" charset="-120"/>
              </a:rPr>
              <a:t>FK</a:t>
            </a: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 venta_id</a:t>
            </a:r>
            <a:endParaRPr lang="en-US" sz="1300" dirty="0"/>
          </a:p>
        </p:txBody>
      </p:sp>
      <p:pic>
        <p:nvPicPr>
          <p:cNvPr id="25" name="Image 2" descr="arrow-left"/>
          <p:cNvPicPr>
            <a:picLocks noChangeAspect="1"/>
          </p:cNvPicPr>
          <p:nvPr/>
        </p:nvPicPr>
        <p:blipFill>
          <a:blip r:embed="rId2"/>
          <a:srcRect t="-3" b="-3"/>
          <a:stretch>
            <a:fillRect/>
          </a:stretch>
        </p:blipFill>
        <p:spPr>
          <a:xfrm>
            <a:off x="7061081" y="2270813"/>
            <a:ext cx="253940" cy="165070"/>
          </a:xfrm>
          <a:prstGeom prst="rect">
            <a:avLst/>
          </a:prstGeom>
        </p:spPr>
      </p:pic>
      <p:sp>
        <p:nvSpPr>
          <p:cNvPr id="26" name="Shape 21"/>
          <p:cNvSpPr/>
          <p:nvPr/>
        </p:nvSpPr>
        <p:spPr>
          <a:xfrm>
            <a:off x="7369056" y="1471104"/>
            <a:ext cx="1822450" cy="1764491"/>
          </a:xfrm>
          <a:prstGeom prst="roundRect">
            <a:avLst>
              <a:gd name="adj" fmla="val 4858"/>
            </a:avLst>
          </a:prstGeom>
          <a:solidFill>
            <a:srgbClr val="FDFCF9"/>
          </a:solidFill>
          <a:ln w="6350">
            <a:solidFill>
              <a:srgbClr val="DDD9CC"/>
            </a:solidFill>
            <a:prstDash val="solid"/>
          </a:ln>
        </p:spPr>
        <p:txBody>
          <a:bodyPr/>
          <a:lstStyle/>
          <a:p>
            <a:endParaRPr lang="es-PE"/>
          </a:p>
        </p:txBody>
      </p:sp>
      <p:sp>
        <p:nvSpPr>
          <p:cNvPr id="27" name="Text 22"/>
          <p:cNvSpPr/>
          <p:nvPr/>
        </p:nvSpPr>
        <p:spPr>
          <a:xfrm>
            <a:off x="7371631" y="1473677"/>
            <a:ext cx="1817298" cy="375788"/>
          </a:xfrm>
          <a:custGeom>
            <a:avLst/>
            <a:gdLst/>
            <a:ahLst/>
            <a:cxnLst/>
            <a:rect l="l" t="t" r="r" b="b"/>
            <a:pathLst>
              <a:path w="1817298" h="375788">
                <a:moveTo>
                  <a:pt x="82550" y="0"/>
                </a:moveTo>
                <a:lnTo>
                  <a:pt x="1734748" y="0"/>
                </a:lnTo>
                <a:arcTo wR="82550" hR="82550" stAng="16200000" swAng="5400000"/>
                <a:lnTo>
                  <a:pt x="1817298" y="375788"/>
                </a:lnTo>
                <a:lnTo>
                  <a:pt x="0" y="375788"/>
                </a:lnTo>
                <a:lnTo>
                  <a:pt x="0" y="82550"/>
                </a:lnTo>
                <a:arcTo wR="82550" hR="82550" stAng="10800000" swAng="5400000"/>
                <a:close/>
              </a:path>
            </a:pathLst>
          </a:custGeom>
          <a:solidFill>
            <a:srgbClr val="FBBF24"/>
          </a:solidFill>
        </p:spPr>
        <p:txBody>
          <a:bodyPr wrap="square" lIns="114300" tIns="63500" rIns="63500" bIns="38100" rtlCol="0" anchor="t">
            <a:normAutofit/>
          </a:bodyPr>
          <a:lstStyle/>
          <a:p>
            <a:pPr marL="0" indent="0" algn="l">
              <a:lnSpc>
                <a:spcPts val="1960"/>
              </a:lnSpc>
              <a:buNone/>
            </a:pPr>
            <a:r>
              <a:rPr lang="en-US" sz="1400" b="1" dirty="0">
                <a:solidFill>
                  <a:srgbClr val="1E222B"/>
                </a:solidFill>
                <a:latin typeface="Lato" panose="020F0502020204030203" pitchFamily="34" charset="0"/>
                <a:ea typeface="Lato" panose="020F0502020204030203" pitchFamily="34" charset="-122"/>
                <a:cs typeface="Lato" panose="020F0502020204030203" pitchFamily="34" charset="-120"/>
              </a:rPr>
              <a:t>ventas</a:t>
            </a:r>
            <a:endParaRPr lang="en-US" sz="1400" dirty="0"/>
          </a:p>
        </p:txBody>
      </p:sp>
      <p:sp>
        <p:nvSpPr>
          <p:cNvPr id="28" name="Text 23"/>
          <p:cNvSpPr/>
          <p:nvPr/>
        </p:nvSpPr>
        <p:spPr>
          <a:xfrm>
            <a:off x="7485931" y="1938337"/>
            <a:ext cx="1639498" cy="256426"/>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1E222B"/>
                </a:solidFill>
                <a:latin typeface="Lato" panose="020F0502020204030203" pitchFamily="34" charset="0"/>
                <a:ea typeface="Lato" panose="020F0502020204030203" pitchFamily="34" charset="-122"/>
                <a:cs typeface="Lato" panose="020F0502020204030203" pitchFamily="34" charset="-120"/>
              </a:rPr>
              <a:t>PK</a:t>
            </a: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 id</a:t>
            </a:r>
            <a:endParaRPr lang="en-US" sz="1300" dirty="0"/>
          </a:p>
        </p:txBody>
      </p:sp>
      <p:sp>
        <p:nvSpPr>
          <p:cNvPr id="29" name="Text 24"/>
          <p:cNvSpPr/>
          <p:nvPr/>
        </p:nvSpPr>
        <p:spPr>
          <a:xfrm>
            <a:off x="7485931" y="2182037"/>
            <a:ext cx="1639498" cy="256426"/>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total_pagar</a:t>
            </a:r>
            <a:endParaRPr lang="en-US" sz="1300" dirty="0"/>
          </a:p>
        </p:txBody>
      </p:sp>
      <p:sp>
        <p:nvSpPr>
          <p:cNvPr id="30" name="Text 25"/>
          <p:cNvSpPr/>
          <p:nvPr/>
        </p:nvSpPr>
        <p:spPr>
          <a:xfrm>
            <a:off x="7485931" y="2425731"/>
            <a:ext cx="1639498" cy="256426"/>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fecha_compra</a:t>
            </a:r>
            <a:endParaRPr lang="en-US" sz="1300" dirty="0"/>
          </a:p>
        </p:txBody>
      </p:sp>
      <p:sp>
        <p:nvSpPr>
          <p:cNvPr id="31" name="Text 26"/>
          <p:cNvSpPr/>
          <p:nvPr/>
        </p:nvSpPr>
        <p:spPr>
          <a:xfrm>
            <a:off x="7485931" y="2669425"/>
            <a:ext cx="1639498" cy="256426"/>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1E222B"/>
                </a:solidFill>
                <a:latin typeface="Lato" panose="020F0502020204030203" pitchFamily="34" charset="0"/>
                <a:ea typeface="Lato" panose="020F0502020204030203" pitchFamily="34" charset="-122"/>
                <a:cs typeface="Lato" panose="020F0502020204030203" pitchFamily="34" charset="-120"/>
              </a:rPr>
              <a:t>FK</a:t>
            </a: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 usuario_id</a:t>
            </a:r>
            <a:endParaRPr lang="en-US" sz="1300" dirty="0"/>
          </a:p>
        </p:txBody>
      </p:sp>
      <p:pic>
        <p:nvPicPr>
          <p:cNvPr id="32" name="Image 3" descr="arrow-left"/>
          <p:cNvPicPr>
            <a:picLocks noChangeAspect="1"/>
          </p:cNvPicPr>
          <p:nvPr/>
        </p:nvPicPr>
        <p:blipFill>
          <a:blip r:embed="rId2"/>
          <a:srcRect t="-3" b="-3"/>
          <a:stretch>
            <a:fillRect/>
          </a:stretch>
        </p:blipFill>
        <p:spPr>
          <a:xfrm>
            <a:off x="9245450" y="2270813"/>
            <a:ext cx="253940" cy="165070"/>
          </a:xfrm>
          <a:prstGeom prst="rect">
            <a:avLst/>
          </a:prstGeom>
        </p:spPr>
      </p:pic>
      <p:sp>
        <p:nvSpPr>
          <p:cNvPr id="33" name="Shape 27"/>
          <p:cNvSpPr/>
          <p:nvPr/>
        </p:nvSpPr>
        <p:spPr>
          <a:xfrm>
            <a:off x="9553425" y="1471104"/>
            <a:ext cx="1822450" cy="1764491"/>
          </a:xfrm>
          <a:prstGeom prst="roundRect">
            <a:avLst>
              <a:gd name="adj" fmla="val 4858"/>
            </a:avLst>
          </a:prstGeom>
          <a:solidFill>
            <a:srgbClr val="FDFCF9"/>
          </a:solidFill>
          <a:ln w="6350">
            <a:solidFill>
              <a:srgbClr val="DDD9CC"/>
            </a:solidFill>
            <a:prstDash val="solid"/>
          </a:ln>
        </p:spPr>
        <p:txBody>
          <a:bodyPr/>
          <a:lstStyle/>
          <a:p>
            <a:endParaRPr lang="es-PE"/>
          </a:p>
        </p:txBody>
      </p:sp>
      <p:sp>
        <p:nvSpPr>
          <p:cNvPr id="34" name="Text 28"/>
          <p:cNvSpPr/>
          <p:nvPr/>
        </p:nvSpPr>
        <p:spPr>
          <a:xfrm>
            <a:off x="9556001" y="1473677"/>
            <a:ext cx="1817298" cy="375788"/>
          </a:xfrm>
          <a:custGeom>
            <a:avLst/>
            <a:gdLst/>
            <a:ahLst/>
            <a:cxnLst/>
            <a:rect l="l" t="t" r="r" b="b"/>
            <a:pathLst>
              <a:path w="1817298" h="375788">
                <a:moveTo>
                  <a:pt x="82550" y="0"/>
                </a:moveTo>
                <a:lnTo>
                  <a:pt x="1734748" y="0"/>
                </a:lnTo>
                <a:arcTo wR="82550" hR="82550" stAng="16200000" swAng="5400000"/>
                <a:lnTo>
                  <a:pt x="1817298" y="375788"/>
                </a:lnTo>
                <a:lnTo>
                  <a:pt x="0" y="375788"/>
                </a:lnTo>
                <a:lnTo>
                  <a:pt x="0" y="82550"/>
                </a:lnTo>
                <a:arcTo wR="82550" hR="82550" stAng="10800000" swAng="5400000"/>
                <a:close/>
              </a:path>
            </a:pathLst>
          </a:custGeom>
          <a:solidFill>
            <a:srgbClr val="FBBF24"/>
          </a:solidFill>
        </p:spPr>
        <p:txBody>
          <a:bodyPr wrap="square" lIns="114300" tIns="63500" rIns="63500" bIns="38100" rtlCol="0" anchor="t">
            <a:normAutofit/>
          </a:bodyPr>
          <a:lstStyle/>
          <a:p>
            <a:pPr marL="0" indent="0" algn="l">
              <a:lnSpc>
                <a:spcPts val="1960"/>
              </a:lnSpc>
              <a:buNone/>
            </a:pPr>
            <a:r>
              <a:rPr lang="en-US" sz="1400" b="1" dirty="0">
                <a:solidFill>
                  <a:srgbClr val="1E222B"/>
                </a:solidFill>
                <a:latin typeface="Lato" panose="020F0502020204030203" pitchFamily="34" charset="0"/>
                <a:ea typeface="Lato" panose="020F0502020204030203" pitchFamily="34" charset="-122"/>
                <a:cs typeface="Lato" panose="020F0502020204030203" pitchFamily="34" charset="-120"/>
              </a:rPr>
              <a:t>usuarios</a:t>
            </a:r>
            <a:endParaRPr lang="en-US" sz="1400" dirty="0"/>
          </a:p>
        </p:txBody>
      </p:sp>
      <p:sp>
        <p:nvSpPr>
          <p:cNvPr id="35" name="Text 29"/>
          <p:cNvSpPr/>
          <p:nvPr/>
        </p:nvSpPr>
        <p:spPr>
          <a:xfrm>
            <a:off x="9670301" y="1938337"/>
            <a:ext cx="1639498" cy="256426"/>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1E222B"/>
                </a:solidFill>
                <a:latin typeface="Lato" panose="020F0502020204030203" pitchFamily="34" charset="0"/>
                <a:ea typeface="Lato" panose="020F0502020204030203" pitchFamily="34" charset="-122"/>
                <a:cs typeface="Lato" panose="020F0502020204030203" pitchFamily="34" charset="-120"/>
              </a:rPr>
              <a:t>PK</a:t>
            </a: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 id</a:t>
            </a:r>
            <a:endParaRPr lang="en-US" sz="1300" dirty="0"/>
          </a:p>
        </p:txBody>
      </p:sp>
      <p:sp>
        <p:nvSpPr>
          <p:cNvPr id="36" name="Text 30"/>
          <p:cNvSpPr/>
          <p:nvPr/>
        </p:nvSpPr>
        <p:spPr>
          <a:xfrm>
            <a:off x="9670301" y="2182037"/>
            <a:ext cx="1639498" cy="256426"/>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nombre</a:t>
            </a:r>
            <a:endParaRPr lang="en-US" sz="1300" dirty="0"/>
          </a:p>
        </p:txBody>
      </p:sp>
      <p:sp>
        <p:nvSpPr>
          <p:cNvPr id="37" name="Text 31"/>
          <p:cNvSpPr/>
          <p:nvPr/>
        </p:nvSpPr>
        <p:spPr>
          <a:xfrm>
            <a:off x="9670301" y="2425731"/>
            <a:ext cx="1639498" cy="256426"/>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correo</a:t>
            </a:r>
            <a:endParaRPr lang="en-US" sz="1300" dirty="0"/>
          </a:p>
        </p:txBody>
      </p:sp>
      <p:sp>
        <p:nvSpPr>
          <p:cNvPr id="38" name="Text 32"/>
          <p:cNvSpPr/>
          <p:nvPr/>
        </p:nvSpPr>
        <p:spPr>
          <a:xfrm>
            <a:off x="9670301" y="2669425"/>
            <a:ext cx="1639498" cy="256426"/>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password</a:t>
            </a:r>
            <a:endParaRPr lang="en-US" sz="1300" dirty="0"/>
          </a:p>
        </p:txBody>
      </p:sp>
      <p:sp>
        <p:nvSpPr>
          <p:cNvPr id="39" name="Text 33"/>
          <p:cNvSpPr/>
          <p:nvPr/>
        </p:nvSpPr>
        <p:spPr>
          <a:xfrm>
            <a:off x="812770" y="3416511"/>
            <a:ext cx="10883453" cy="238724"/>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596070"/>
                </a:solidFill>
                <a:latin typeface="Lato" panose="020F0502020204030203" pitchFamily="34" charset="0"/>
                <a:ea typeface="Lato" panose="020F0502020204030203" pitchFamily="34" charset="-122"/>
                <a:cs typeface="Lato" panose="020F0502020204030203" pitchFamily="34" charset="-120"/>
              </a:rPr>
              <a:t>PK: clave primaria · FK: clave foránea · La flecha va del lado “uno” hacia el lado “muchos”.</a:t>
            </a:r>
            <a:endParaRPr lang="en-US" sz="1200" dirty="0"/>
          </a:p>
        </p:txBody>
      </p:sp>
      <p:sp>
        <p:nvSpPr>
          <p:cNvPr id="40" name="Text 34"/>
          <p:cNvSpPr/>
          <p:nvPr/>
        </p:nvSpPr>
        <p:spPr>
          <a:xfrm>
            <a:off x="815945" y="3810750"/>
            <a:ext cx="2539970" cy="851170"/>
          </a:xfrm>
          <a:prstGeom prst="roundRect">
            <a:avLst>
              <a:gd name="adj" fmla="val 8579"/>
            </a:avLst>
          </a:prstGeom>
          <a:solidFill>
            <a:srgbClr val="FDFCF9"/>
          </a:solidFill>
          <a:ln w="6350">
            <a:solidFill>
              <a:srgbClr val="DDD9CC"/>
            </a:solidFill>
            <a:prstDash val="solid"/>
          </a:ln>
        </p:spPr>
        <p:txBody>
          <a:bodyPr wrap="square" lIns="108188" tIns="70088" rIns="39763" bIns="44688" rtlCol="0" anchor="t">
            <a:normAutofit/>
          </a:bodyPr>
          <a:lstStyle/>
          <a:p>
            <a:pPr marL="0" indent="0" algn="l">
              <a:lnSpc>
                <a:spcPts val="1755"/>
              </a:lnSpc>
              <a:buNone/>
            </a:pPr>
            <a:r>
              <a:rPr lang="en-US" sz="1300" b="1" dirty="0">
                <a:solidFill>
                  <a:srgbClr val="2B303B"/>
                </a:solidFill>
                <a:latin typeface="Lato" panose="020F0502020204030203" pitchFamily="34" charset="0"/>
                <a:ea typeface="Lato" panose="020F0502020204030203" pitchFamily="34" charset="-122"/>
                <a:cs typeface="Lato" panose="020F0502020204030203" pitchFamily="34" charset="-120"/>
              </a:rPr>
              <a:t>Categoría → Producto</a:t>
            </a:r>
            <a:endParaRPr lang="en-US" sz="1300" dirty="0"/>
          </a:p>
          <a:p>
            <a:pPr marL="0" indent="0" algn="l">
              <a:lnSpc>
                <a:spcPts val="1755"/>
              </a:lnSpc>
              <a:buNone/>
            </a:pPr>
            <a:r>
              <a:rPr lang="en-US" sz="1300" dirty="0">
                <a:solidFill>
                  <a:srgbClr val="2B303B"/>
                </a:solidFill>
                <a:latin typeface="Lato" panose="020F0502020204030203" pitchFamily="34" charset="0"/>
                <a:ea typeface="Lato" panose="020F0502020204030203" pitchFamily="34" charset="-122"/>
                <a:cs typeface="Lato" panose="020F0502020204030203" pitchFamily="34" charset="-120"/>
              </a:rPr>
              <a:t>productos.categoria_id (opcional)</a:t>
            </a:r>
            <a:endParaRPr lang="en-US" sz="1300" dirty="0"/>
          </a:p>
        </p:txBody>
      </p:sp>
      <p:sp>
        <p:nvSpPr>
          <p:cNvPr id="41" name="Text 35"/>
          <p:cNvSpPr/>
          <p:nvPr/>
        </p:nvSpPr>
        <p:spPr>
          <a:xfrm>
            <a:off x="3489235" y="3810750"/>
            <a:ext cx="2540060" cy="851170"/>
          </a:xfrm>
          <a:prstGeom prst="roundRect">
            <a:avLst>
              <a:gd name="adj" fmla="val 8579"/>
            </a:avLst>
          </a:prstGeom>
          <a:solidFill>
            <a:srgbClr val="FDFCF9"/>
          </a:solidFill>
          <a:ln w="6350">
            <a:solidFill>
              <a:srgbClr val="DDD9CC"/>
            </a:solidFill>
            <a:prstDash val="solid"/>
          </a:ln>
        </p:spPr>
        <p:txBody>
          <a:bodyPr wrap="square" lIns="108188" tIns="70088" rIns="39760" bIns="44688" rtlCol="0" anchor="t">
            <a:normAutofit/>
          </a:bodyPr>
          <a:lstStyle/>
          <a:p>
            <a:pPr marL="0" indent="0" algn="l">
              <a:lnSpc>
                <a:spcPts val="1755"/>
              </a:lnSpc>
              <a:buNone/>
            </a:pPr>
            <a:r>
              <a:rPr lang="en-US" sz="1300" b="1" dirty="0">
                <a:solidFill>
                  <a:srgbClr val="2B303B"/>
                </a:solidFill>
                <a:latin typeface="Lato" panose="020F0502020204030203" pitchFamily="34" charset="0"/>
                <a:ea typeface="Lato" panose="020F0502020204030203" pitchFamily="34" charset="-122"/>
                <a:cs typeface="Lato" panose="020F0502020204030203" pitchFamily="34" charset="-120"/>
              </a:rPr>
              <a:t>Producto → Detalle</a:t>
            </a:r>
            <a:endParaRPr lang="en-US" sz="1300" dirty="0"/>
          </a:p>
          <a:p>
            <a:pPr marL="0" indent="0" algn="l">
              <a:lnSpc>
                <a:spcPts val="1755"/>
              </a:lnSpc>
              <a:buNone/>
            </a:pPr>
            <a:r>
              <a:rPr lang="en-US" sz="1300" dirty="0">
                <a:solidFill>
                  <a:srgbClr val="2B303B"/>
                </a:solidFill>
                <a:latin typeface="Lato" panose="020F0502020204030203" pitchFamily="34" charset="0"/>
                <a:ea typeface="Lato" panose="020F0502020204030203" pitchFamily="34" charset="-122"/>
                <a:cs typeface="Lato" panose="020F0502020204030203" pitchFamily="34" charset="-120"/>
              </a:rPr>
              <a:t>detalles_ventas.producto_id</a:t>
            </a:r>
            <a:endParaRPr lang="en-US" sz="1300" dirty="0"/>
          </a:p>
        </p:txBody>
      </p:sp>
      <p:sp>
        <p:nvSpPr>
          <p:cNvPr id="42" name="Text 36"/>
          <p:cNvSpPr/>
          <p:nvPr/>
        </p:nvSpPr>
        <p:spPr>
          <a:xfrm>
            <a:off x="6162615" y="3810750"/>
            <a:ext cx="2540060" cy="851170"/>
          </a:xfrm>
          <a:prstGeom prst="roundRect">
            <a:avLst>
              <a:gd name="adj" fmla="val 8579"/>
            </a:avLst>
          </a:prstGeom>
          <a:solidFill>
            <a:srgbClr val="FDFCF9"/>
          </a:solidFill>
          <a:ln w="6350">
            <a:solidFill>
              <a:srgbClr val="DDD9CC"/>
            </a:solidFill>
            <a:prstDash val="solid"/>
          </a:ln>
        </p:spPr>
        <p:txBody>
          <a:bodyPr wrap="square" lIns="108188" tIns="70088" rIns="39760" bIns="44688" rtlCol="0" anchor="t">
            <a:normAutofit/>
          </a:bodyPr>
          <a:lstStyle/>
          <a:p>
            <a:pPr marL="0" indent="0" algn="l">
              <a:lnSpc>
                <a:spcPts val="1755"/>
              </a:lnSpc>
              <a:buNone/>
            </a:pPr>
            <a:r>
              <a:rPr lang="en-US" sz="1300" b="1" dirty="0">
                <a:solidFill>
                  <a:srgbClr val="2B303B"/>
                </a:solidFill>
                <a:latin typeface="Lato" panose="020F0502020204030203" pitchFamily="34" charset="0"/>
                <a:ea typeface="Lato" panose="020F0502020204030203" pitchFamily="34" charset="-122"/>
                <a:cs typeface="Lato" panose="020F0502020204030203" pitchFamily="34" charset="-120"/>
              </a:rPr>
              <a:t>Venta → Detalle</a:t>
            </a:r>
            <a:endParaRPr lang="en-US" sz="1300" dirty="0"/>
          </a:p>
          <a:p>
            <a:pPr marL="0" indent="0" algn="l">
              <a:lnSpc>
                <a:spcPts val="1755"/>
              </a:lnSpc>
              <a:buNone/>
            </a:pPr>
            <a:r>
              <a:rPr lang="en-US" sz="1300" dirty="0">
                <a:solidFill>
                  <a:srgbClr val="2B303B"/>
                </a:solidFill>
                <a:latin typeface="Lato" panose="020F0502020204030203" pitchFamily="34" charset="0"/>
                <a:ea typeface="Lato" panose="020F0502020204030203" pitchFamily="34" charset="-122"/>
                <a:cs typeface="Lato" panose="020F0502020204030203" pitchFamily="34" charset="-120"/>
              </a:rPr>
              <a:t>detalles_ventas.venta_id</a:t>
            </a:r>
            <a:endParaRPr lang="en-US" sz="1300" dirty="0"/>
          </a:p>
        </p:txBody>
      </p:sp>
      <p:sp>
        <p:nvSpPr>
          <p:cNvPr id="43" name="Text 37"/>
          <p:cNvSpPr/>
          <p:nvPr/>
        </p:nvSpPr>
        <p:spPr>
          <a:xfrm>
            <a:off x="8835996" y="3810750"/>
            <a:ext cx="2540060" cy="851170"/>
          </a:xfrm>
          <a:prstGeom prst="roundRect">
            <a:avLst>
              <a:gd name="adj" fmla="val 8579"/>
            </a:avLst>
          </a:prstGeom>
          <a:solidFill>
            <a:srgbClr val="FDFCF9"/>
          </a:solidFill>
          <a:ln w="6350">
            <a:solidFill>
              <a:srgbClr val="DDD9CC"/>
            </a:solidFill>
            <a:prstDash val="solid"/>
          </a:ln>
        </p:spPr>
        <p:txBody>
          <a:bodyPr wrap="square" lIns="108188" tIns="70088" rIns="39760" bIns="44688" rtlCol="0" anchor="t">
            <a:normAutofit/>
          </a:bodyPr>
          <a:lstStyle/>
          <a:p>
            <a:pPr marL="0" indent="0" algn="l">
              <a:lnSpc>
                <a:spcPts val="1755"/>
              </a:lnSpc>
              <a:buNone/>
            </a:pPr>
            <a:r>
              <a:rPr lang="en-US" sz="1300" b="1" dirty="0">
                <a:solidFill>
                  <a:srgbClr val="2B303B"/>
                </a:solidFill>
                <a:latin typeface="Lato" panose="020F0502020204030203" pitchFamily="34" charset="0"/>
                <a:ea typeface="Lato" panose="020F0502020204030203" pitchFamily="34" charset="-122"/>
                <a:cs typeface="Lato" panose="020F0502020204030203" pitchFamily="34" charset="-120"/>
              </a:rPr>
              <a:t>Usuario → Venta</a:t>
            </a:r>
            <a:endParaRPr lang="en-US" sz="1300" dirty="0"/>
          </a:p>
          <a:p>
            <a:pPr marL="0" indent="0" algn="l">
              <a:lnSpc>
                <a:spcPts val="1755"/>
              </a:lnSpc>
              <a:buNone/>
            </a:pPr>
            <a:r>
              <a:rPr lang="en-US" sz="1300" dirty="0">
                <a:solidFill>
                  <a:srgbClr val="2B303B"/>
                </a:solidFill>
                <a:latin typeface="Lato" panose="020F0502020204030203" pitchFamily="34" charset="0"/>
                <a:ea typeface="Lato" panose="020F0502020204030203" pitchFamily="34" charset="-122"/>
                <a:cs typeface="Lato" panose="020F0502020204030203" pitchFamily="34" charset="-120"/>
              </a:rPr>
              <a:t>ventas.usuario_id</a:t>
            </a:r>
            <a:endParaRPr lang="en-US" sz="1300" dirty="0"/>
          </a:p>
        </p:txBody>
      </p:sp>
      <p:sp>
        <p:nvSpPr>
          <p:cNvPr id="44" name="Text 38"/>
          <p:cNvSpPr/>
          <p:nvPr/>
        </p:nvSpPr>
        <p:spPr>
          <a:xfrm>
            <a:off x="812770" y="6238335"/>
            <a:ext cx="7325299" cy="238724"/>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596070"/>
                </a:solidFill>
                <a:latin typeface="Lato" panose="020F0502020204030203" pitchFamily="34" charset="0"/>
                <a:ea typeface="Lato" panose="020F0502020204030203" pitchFamily="34" charset="-122"/>
                <a:cs typeface="Lato" panose="020F0502020204030203" pitchFamily="34" charset="-120"/>
              </a:rPr>
              <a:t>LINKSPORT · AVANCE 03 · Modelo resumido de la figura 5 del informe</a:t>
            </a:r>
            <a:endParaRPr lang="en-US" sz="1200" dirty="0"/>
          </a:p>
        </p:txBody>
      </p:sp>
      <p:sp>
        <p:nvSpPr>
          <p:cNvPr id="45" name="Text 39"/>
          <p:cNvSpPr/>
          <p:nvPr/>
        </p:nvSpPr>
        <p:spPr>
          <a:xfrm>
            <a:off x="8108921" y="6238335"/>
            <a:ext cx="3270219" cy="238724"/>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596070"/>
                </a:solidFill>
                <a:latin typeface="Lato" panose="020F0502020204030203" pitchFamily="34" charset="0"/>
                <a:ea typeface="Lato" panose="020F0502020204030203" pitchFamily="34" charset="-122"/>
                <a:cs typeface="Lato" panose="020F0502020204030203" pitchFamily="34" charset="-120"/>
              </a:rPr>
              <a:t>Expone: Jean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5F1"/>
        </a:solidFill>
        <a:effectLst/>
      </p:bgPr>
    </p:bg>
    <p:spTree>
      <p:nvGrpSpPr>
        <p:cNvPr id="1" name=""/>
        <p:cNvGrpSpPr/>
        <p:nvPr/>
      </p:nvGrpSpPr>
      <p:grpSpPr>
        <a:xfrm>
          <a:off x="0" y="0"/>
          <a:ext cx="0" cy="0"/>
          <a:chOff x="0" y="0"/>
          <a:chExt cx="0" cy="0"/>
        </a:xfrm>
      </p:grpSpPr>
      <p:sp>
        <p:nvSpPr>
          <p:cNvPr id="2" name="Shape 0"/>
          <p:cNvSpPr/>
          <p:nvPr/>
        </p:nvSpPr>
        <p:spPr>
          <a:xfrm>
            <a:off x="812770" y="690835"/>
            <a:ext cx="355570" cy="50770"/>
          </a:xfrm>
          <a:prstGeom prst="rect">
            <a:avLst/>
          </a:prstGeom>
          <a:solidFill>
            <a:srgbClr val="FBBF24"/>
          </a:solidFill>
        </p:spPr>
        <p:txBody>
          <a:bodyPr/>
          <a:lstStyle/>
          <a:p>
            <a:endParaRPr lang="es-PE"/>
          </a:p>
        </p:txBody>
      </p:sp>
      <p:sp>
        <p:nvSpPr>
          <p:cNvPr id="3" name="Text 1"/>
          <p:cNvSpPr/>
          <p:nvPr/>
        </p:nvSpPr>
        <p:spPr>
          <a:xfrm>
            <a:off x="1269880" y="609600"/>
            <a:ext cx="5119993" cy="238724"/>
          </a:xfrm>
          <a:prstGeom prst="rect">
            <a:avLst/>
          </a:prstGeom>
          <a:noFill/>
        </p:spPr>
        <p:txBody>
          <a:bodyPr wrap="square" lIns="0" tIns="0" rIns="0" bIns="0" rtlCol="0" anchor="t">
            <a:normAutofit/>
          </a:bodyPr>
          <a:lstStyle/>
          <a:p>
            <a:pPr marL="0" indent="0" algn="l">
              <a:lnSpc>
                <a:spcPts val="1680"/>
              </a:lnSpc>
              <a:buNone/>
            </a:pPr>
            <a:r>
              <a:rPr lang="en-US" sz="1200" b="1" kern="0" spc="100" dirty="0">
                <a:solidFill>
                  <a:srgbClr val="596070"/>
                </a:solidFill>
                <a:latin typeface="Lato" panose="020F0502020204030203" pitchFamily="34" charset="0"/>
                <a:ea typeface="Lato" panose="020F0502020204030203" pitchFamily="34" charset="-122"/>
                <a:cs typeface="Lato" panose="020F0502020204030203" pitchFamily="34" charset="-120"/>
              </a:rPr>
              <a:t>CAPÍTULO 3 / 3.5 d) VERIFICACIÓN EN POSTGRESQL</a:t>
            </a:r>
            <a:endParaRPr lang="en-US" sz="1200" dirty="0"/>
          </a:p>
        </p:txBody>
      </p:sp>
      <p:sp>
        <p:nvSpPr>
          <p:cNvPr id="4" name="Text 2"/>
          <p:cNvSpPr>
            <a:spLocks noGrp="1"/>
          </p:cNvSpPr>
          <p:nvPr>
            <p:ph type="title"/>
          </p:nvPr>
        </p:nvSpPr>
        <p:spPr>
          <a:xfrm>
            <a:off x="812770" y="899127"/>
            <a:ext cx="10883453" cy="416464"/>
          </a:xfrm>
          <a:prstGeom prst="rect">
            <a:avLst/>
          </a:prstGeom>
          <a:noFill/>
        </p:spPr>
        <p:txBody>
          <a:bodyPr wrap="square" lIns="0" tIns="0" rIns="0" bIns="0" rtlCol="0" anchor="t">
            <a:normAutofit/>
          </a:bodyPr>
          <a:lstStyle/>
          <a:p>
            <a:pPr marL="0" indent="0" algn="l">
              <a:lnSpc>
                <a:spcPts val="3080"/>
              </a:lnSpc>
              <a:buNone/>
            </a:pPr>
            <a:r>
              <a:rPr lang="en-US" sz="2800" b="1" i="0" dirty="0">
                <a:solidFill>
                  <a:srgbClr val="1E222B"/>
                </a:solidFill>
                <a:latin typeface="Lato" panose="020F0502020204030203" pitchFamily="34" charset="0"/>
                <a:ea typeface="Lato" panose="020F0502020204030203" pitchFamily="34" charset="-122"/>
                <a:cs typeface="Lato" panose="020F0502020204030203" pitchFamily="34" charset="-120"/>
              </a:rPr>
              <a:t>linksport_db: cinco tablas y doce productos</a:t>
            </a:r>
            <a:endParaRPr lang="en-US" sz="2800" dirty="0"/>
          </a:p>
        </p:txBody>
      </p:sp>
      <p:sp>
        <p:nvSpPr>
          <p:cNvPr id="5" name="Text 3"/>
          <p:cNvSpPr/>
          <p:nvPr/>
        </p:nvSpPr>
        <p:spPr>
          <a:xfrm>
            <a:off x="812770" y="1467929"/>
            <a:ext cx="1701770" cy="238724"/>
          </a:xfrm>
          <a:prstGeom prst="rect">
            <a:avLst/>
          </a:prstGeom>
          <a:noFill/>
        </p:spPr>
        <p:txBody>
          <a:bodyPr wrap="square" lIns="0" tIns="0" rIns="0" bIns="0" rtlCol="0" anchor="t">
            <a:normAutofit/>
          </a:bodyPr>
          <a:lstStyle/>
          <a:p>
            <a:pPr marL="0" indent="0" algn="l">
              <a:lnSpc>
                <a:spcPts val="1680"/>
              </a:lnSpc>
              <a:buNone/>
            </a:pPr>
            <a:r>
              <a:rPr lang="en-US" sz="1200" b="1" kern="0" spc="50" dirty="0">
                <a:solidFill>
                  <a:srgbClr val="596070"/>
                </a:solidFill>
                <a:latin typeface="Lato" panose="020F0502020204030203" pitchFamily="34" charset="0"/>
                <a:ea typeface="Lato" panose="020F0502020204030203" pitchFamily="34" charset="-122"/>
                <a:cs typeface="Lato" panose="020F0502020204030203" pitchFamily="34" charset="-120"/>
              </a:rPr>
              <a:t>TABLAS (5)</a:t>
            </a:r>
            <a:endParaRPr lang="en-US" sz="1200" dirty="0"/>
          </a:p>
        </p:txBody>
      </p:sp>
      <p:sp>
        <p:nvSpPr>
          <p:cNvPr id="6" name="Shape 4"/>
          <p:cNvSpPr/>
          <p:nvPr/>
        </p:nvSpPr>
        <p:spPr>
          <a:xfrm>
            <a:off x="812770" y="1744694"/>
            <a:ext cx="1460470" cy="3867150"/>
          </a:xfrm>
          <a:prstGeom prst="roundRect">
            <a:avLst>
              <a:gd name="adj" fmla="val 4348"/>
            </a:avLst>
          </a:prstGeom>
          <a:solidFill>
            <a:srgbClr val="FDFCF9"/>
          </a:solidFill>
        </p:spPr>
        <p:txBody>
          <a:bodyPr/>
          <a:lstStyle/>
          <a:p>
            <a:endParaRPr lang="es-PE"/>
          </a:p>
        </p:txBody>
      </p:sp>
      <p:pic>
        <p:nvPicPr>
          <p:cNvPr id="7" name="Image 0" descr="Explorador de pgAdmin con las cinco tablas de linksport_db"/>
          <p:cNvPicPr>
            <a:picLocks noChangeAspect="1"/>
          </p:cNvPicPr>
          <p:nvPr/>
        </p:nvPicPr>
        <p:blipFill>
          <a:blip r:embed="rId1"/>
          <a:srcRect t="-289" b="-289"/>
          <a:stretch>
            <a:fillRect/>
          </a:stretch>
        </p:blipFill>
        <p:spPr>
          <a:xfrm>
            <a:off x="819120" y="1751044"/>
            <a:ext cx="1447770" cy="3854450"/>
          </a:xfrm>
          <a:prstGeom prst="roundRect">
            <a:avLst>
              <a:gd name="adj" fmla="val 3947"/>
            </a:avLst>
          </a:prstGeom>
        </p:spPr>
      </p:pic>
      <p:sp>
        <p:nvSpPr>
          <p:cNvPr id="8" name="Shape 5"/>
          <p:cNvSpPr/>
          <p:nvPr/>
        </p:nvSpPr>
        <p:spPr>
          <a:xfrm>
            <a:off x="815945" y="1747869"/>
            <a:ext cx="1454120" cy="3860800"/>
          </a:xfrm>
          <a:prstGeom prst="roundRect">
            <a:avLst>
              <a:gd name="adj" fmla="val 4149"/>
            </a:avLst>
          </a:prstGeom>
          <a:noFill/>
          <a:ln w="6350">
            <a:solidFill>
              <a:srgbClr val="DDD9CC"/>
            </a:solidFill>
            <a:prstDash val="solid"/>
          </a:ln>
        </p:spPr>
        <p:txBody>
          <a:bodyPr/>
          <a:lstStyle/>
          <a:p>
            <a:endParaRPr lang="es-PE"/>
          </a:p>
        </p:txBody>
      </p:sp>
      <p:sp>
        <p:nvSpPr>
          <p:cNvPr id="9" name="Text 6"/>
          <p:cNvSpPr/>
          <p:nvPr/>
        </p:nvSpPr>
        <p:spPr>
          <a:xfrm>
            <a:off x="2692340" y="1467929"/>
            <a:ext cx="4578289" cy="238724"/>
          </a:xfrm>
          <a:prstGeom prst="rect">
            <a:avLst/>
          </a:prstGeom>
          <a:noFill/>
        </p:spPr>
        <p:txBody>
          <a:bodyPr wrap="square" lIns="0" tIns="0" rIns="0" bIns="0" rtlCol="0" anchor="t">
            <a:normAutofit/>
          </a:bodyPr>
          <a:lstStyle/>
          <a:p>
            <a:pPr marL="0" indent="0" algn="l">
              <a:lnSpc>
                <a:spcPts val="1680"/>
              </a:lnSpc>
              <a:buNone/>
            </a:pPr>
            <a:r>
              <a:rPr lang="en-US" sz="1200" b="1" kern="0" spc="50" dirty="0">
                <a:solidFill>
                  <a:srgbClr val="596070"/>
                </a:solidFill>
                <a:latin typeface="Lato" panose="020F0502020204030203" pitchFamily="34" charset="0"/>
                <a:ea typeface="Lato" panose="020F0502020204030203" pitchFamily="34" charset="-122"/>
                <a:cs typeface="Lato" panose="020F0502020204030203" pitchFamily="34" charset="-120"/>
              </a:rPr>
              <a:t>TABLA PRODUCTOS · 12 FILAS</a:t>
            </a:r>
            <a:endParaRPr lang="en-US" sz="1200" dirty="0"/>
          </a:p>
        </p:txBody>
      </p:sp>
      <p:sp>
        <p:nvSpPr>
          <p:cNvPr id="10" name="Shape 7"/>
          <p:cNvSpPr/>
          <p:nvPr/>
        </p:nvSpPr>
        <p:spPr>
          <a:xfrm>
            <a:off x="2692340" y="1744694"/>
            <a:ext cx="4444940" cy="2984470"/>
          </a:xfrm>
          <a:prstGeom prst="roundRect">
            <a:avLst>
              <a:gd name="adj" fmla="val 2128"/>
            </a:avLst>
          </a:prstGeom>
          <a:solidFill>
            <a:srgbClr val="FDFCF9"/>
          </a:solidFill>
        </p:spPr>
        <p:txBody>
          <a:bodyPr/>
          <a:lstStyle/>
          <a:p>
            <a:endParaRPr lang="es-PE"/>
          </a:p>
        </p:txBody>
      </p:sp>
      <p:pic>
        <p:nvPicPr>
          <p:cNvPr id="11" name="Image 1" descr="Resultado de SELECT * FROM public.productos en pgAdmin con doce productos"/>
          <p:cNvPicPr>
            <a:picLocks noChangeAspect="1"/>
          </p:cNvPicPr>
          <p:nvPr/>
        </p:nvPicPr>
        <p:blipFill>
          <a:blip r:embed="rId2"/>
          <a:srcRect l="-25" r="-25"/>
          <a:stretch>
            <a:fillRect/>
          </a:stretch>
        </p:blipFill>
        <p:spPr>
          <a:xfrm>
            <a:off x="2698690" y="1751044"/>
            <a:ext cx="4432240" cy="2971770"/>
          </a:xfrm>
          <a:prstGeom prst="roundRect">
            <a:avLst>
              <a:gd name="adj" fmla="val 1923"/>
            </a:avLst>
          </a:prstGeom>
        </p:spPr>
      </p:pic>
      <p:sp>
        <p:nvSpPr>
          <p:cNvPr id="12" name="Shape 8"/>
          <p:cNvSpPr/>
          <p:nvPr/>
        </p:nvSpPr>
        <p:spPr>
          <a:xfrm>
            <a:off x="2695515" y="1747869"/>
            <a:ext cx="4438590" cy="2978120"/>
          </a:xfrm>
          <a:prstGeom prst="roundRect">
            <a:avLst>
              <a:gd name="adj" fmla="val 2026"/>
            </a:avLst>
          </a:prstGeom>
          <a:noFill/>
          <a:ln w="6350">
            <a:solidFill>
              <a:srgbClr val="DDD9CC"/>
            </a:solidFill>
            <a:prstDash val="solid"/>
          </a:ln>
        </p:spPr>
        <p:txBody>
          <a:bodyPr/>
          <a:lstStyle/>
          <a:p>
            <a:endParaRPr lang="es-PE"/>
          </a:p>
        </p:txBody>
      </p:sp>
      <p:sp>
        <p:nvSpPr>
          <p:cNvPr id="13" name="Text 9"/>
          <p:cNvSpPr/>
          <p:nvPr/>
        </p:nvSpPr>
        <p:spPr>
          <a:xfrm>
            <a:off x="2692340" y="4792607"/>
            <a:ext cx="4578289" cy="238724"/>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596070"/>
                </a:solidFill>
                <a:latin typeface="Lato" panose="020F0502020204030203" pitchFamily="34" charset="0"/>
                <a:ea typeface="Lato" panose="020F0502020204030203" pitchFamily="34" charset="-122"/>
                <a:cs typeface="Lato" panose="020F0502020204030203" pitchFamily="34" charset="-120"/>
              </a:rPr>
              <a:t>SELECT * FROM public.productos ORDER BY id ASC</a:t>
            </a:r>
            <a:endParaRPr lang="en-US" sz="1200" dirty="0"/>
          </a:p>
        </p:txBody>
      </p:sp>
      <p:sp>
        <p:nvSpPr>
          <p:cNvPr id="14" name="Text 10"/>
          <p:cNvSpPr/>
          <p:nvPr/>
        </p:nvSpPr>
        <p:spPr>
          <a:xfrm>
            <a:off x="7369056" y="1471104"/>
            <a:ext cx="4007000" cy="653751"/>
          </a:xfrm>
          <a:prstGeom prst="roundRect">
            <a:avLst>
              <a:gd name="adj" fmla="val 13113"/>
            </a:avLst>
          </a:prstGeom>
          <a:solidFill>
            <a:srgbClr val="FDFCF9"/>
          </a:solidFill>
          <a:ln w="6350">
            <a:solidFill>
              <a:srgbClr val="DDD9CC"/>
            </a:solidFill>
            <a:prstDash val="solid"/>
          </a:ln>
        </p:spPr>
        <p:txBody>
          <a:bodyPr wrap="square" lIns="117107" tIns="79068" rIns="5432" bIns="53548" rtlCol="0" anchor="t">
            <a:normAutofit/>
          </a:bodyPr>
          <a:lstStyle/>
          <a:p>
            <a:pPr marL="0" indent="0" algn="l">
              <a:lnSpc>
                <a:spcPts val="1755"/>
              </a:lnSpc>
              <a:buNone/>
            </a:pPr>
            <a:r>
              <a:rPr lang="en-US" sz="1300" b="1" dirty="0">
                <a:solidFill>
                  <a:srgbClr val="2B303B"/>
                </a:solidFill>
                <a:latin typeface="Lato" panose="020F0502020204030203" pitchFamily="34" charset="0"/>
                <a:ea typeface="Lato" panose="020F0502020204030203" pitchFamily="34" charset="-122"/>
                <a:cs typeface="Lato" panose="020F0502020204030203" pitchFamily="34" charset="-120"/>
              </a:rPr>
              <a:t>Hibernate creó las tablas:</a:t>
            </a:r>
            <a:r>
              <a:rPr lang="en-US" sz="1300" dirty="0">
                <a:solidFill>
                  <a:srgbClr val="2B303B"/>
                </a:solidFill>
                <a:latin typeface="Lato" panose="020F0502020204030203" pitchFamily="34" charset="0"/>
                <a:ea typeface="Lato" panose="020F0502020204030203" pitchFamily="34" charset="-122"/>
                <a:cs typeface="Lato" panose="020F0502020204030203" pitchFamily="34" charset="-120"/>
              </a:rPr>
              <a:t> categorias, detalles_ventas, productos, usuarios y ventas.</a:t>
            </a:r>
            <a:endParaRPr lang="en-US" sz="1300" dirty="0"/>
          </a:p>
        </p:txBody>
      </p:sp>
      <p:sp>
        <p:nvSpPr>
          <p:cNvPr id="15" name="Text 11"/>
          <p:cNvSpPr/>
          <p:nvPr/>
        </p:nvSpPr>
        <p:spPr>
          <a:xfrm>
            <a:off x="7369056" y="2220075"/>
            <a:ext cx="4007000" cy="653751"/>
          </a:xfrm>
          <a:prstGeom prst="roundRect">
            <a:avLst>
              <a:gd name="adj" fmla="val 13113"/>
            </a:avLst>
          </a:prstGeom>
          <a:solidFill>
            <a:srgbClr val="FDFCF9"/>
          </a:solidFill>
          <a:ln w="6350">
            <a:solidFill>
              <a:srgbClr val="DDD9CC"/>
            </a:solidFill>
            <a:prstDash val="solid"/>
          </a:ln>
        </p:spPr>
        <p:txBody>
          <a:bodyPr wrap="square" lIns="117107" tIns="79068" rIns="5432" bIns="53548" rtlCol="0" anchor="t">
            <a:normAutofit/>
          </a:bodyPr>
          <a:lstStyle/>
          <a:p>
            <a:pPr marL="0" indent="0" algn="l">
              <a:lnSpc>
                <a:spcPts val="1755"/>
              </a:lnSpc>
              <a:buNone/>
            </a:pPr>
            <a:r>
              <a:rPr lang="en-US" sz="1300" b="1" dirty="0">
                <a:solidFill>
                  <a:srgbClr val="2B303B"/>
                </a:solidFill>
                <a:latin typeface="Lato" panose="020F0502020204030203" pitchFamily="34" charset="0"/>
                <a:ea typeface="Lato" panose="020F0502020204030203" pitchFamily="34" charset="-122"/>
                <a:cs typeface="Lato" panose="020F0502020204030203" pitchFamily="34" charset="-120"/>
              </a:rPr>
              <a:t>import.sql cargó</a:t>
            </a:r>
            <a:r>
              <a:rPr lang="en-US" sz="1300" dirty="0">
                <a:solidFill>
                  <a:srgbClr val="2B303B"/>
                </a:solidFill>
                <a:latin typeface="Lato" panose="020F0502020204030203" pitchFamily="34" charset="0"/>
                <a:ea typeface="Lato" panose="020F0502020204030203" pitchFamily="34" charset="-122"/>
                <a:cs typeface="Lato" panose="020F0502020204030203" pitchFamily="34" charset="-120"/>
              </a:rPr>
              <a:t> tres categorías, doce productos y un usuario de prueba.</a:t>
            </a:r>
            <a:endParaRPr lang="en-US" sz="1300" dirty="0"/>
          </a:p>
        </p:txBody>
      </p:sp>
      <p:sp>
        <p:nvSpPr>
          <p:cNvPr id="16" name="Text 12"/>
          <p:cNvSpPr/>
          <p:nvPr/>
        </p:nvSpPr>
        <p:spPr>
          <a:xfrm>
            <a:off x="7369056" y="2969047"/>
            <a:ext cx="4007000" cy="653751"/>
          </a:xfrm>
          <a:prstGeom prst="roundRect">
            <a:avLst>
              <a:gd name="adj" fmla="val 11170"/>
            </a:avLst>
          </a:prstGeom>
          <a:solidFill>
            <a:srgbClr val="FDFCF9"/>
          </a:solidFill>
          <a:ln w="6350">
            <a:solidFill>
              <a:srgbClr val="DDD9CC"/>
            </a:solidFill>
            <a:prstDash val="solid"/>
          </a:ln>
        </p:spPr>
        <p:txBody>
          <a:bodyPr wrap="square" lIns="120827" tIns="82788" rIns="9152" bIns="57268" rtlCol="0" anchor="t">
            <a:normAutofit/>
          </a:bodyPr>
          <a:lstStyle/>
          <a:p>
            <a:pPr marL="0" indent="0" algn="l">
              <a:lnSpc>
                <a:spcPts val="1755"/>
              </a:lnSpc>
              <a:buNone/>
            </a:pPr>
            <a:r>
              <a:rPr lang="en-US" sz="1300" b="1" dirty="0">
                <a:solidFill>
                  <a:srgbClr val="2B303B"/>
                </a:solidFill>
                <a:latin typeface="Lato" panose="020F0502020204030203" pitchFamily="34" charset="0"/>
                <a:ea typeface="Lato" panose="020F0502020204030203" pitchFamily="34" charset="-122"/>
                <a:cs typeface="Lato" panose="020F0502020204030203" pitchFamily="34" charset="-120"/>
              </a:rPr>
              <a:t>Con create-drop</a:t>
            </a:r>
            <a:r>
              <a:rPr lang="en-US" sz="1300" dirty="0">
                <a:solidFill>
                  <a:srgbClr val="2B303B"/>
                </a:solidFill>
                <a:latin typeface="Lato" panose="020F0502020204030203" pitchFamily="34" charset="0"/>
                <a:ea typeface="Lato" panose="020F0502020204030203" pitchFamily="34" charset="-122"/>
                <a:cs typeface="Lato" panose="020F0502020204030203" pitchFamily="34" charset="-120"/>
              </a:rPr>
              <a:t> el esquema se recrea en cada arranque; lo ingresado en ejecución no se conserva.</a:t>
            </a:r>
            <a:endParaRPr lang="en-US" sz="1300" dirty="0"/>
          </a:p>
        </p:txBody>
      </p:sp>
      <p:sp>
        <p:nvSpPr>
          <p:cNvPr id="17" name="Text 13"/>
          <p:cNvSpPr/>
          <p:nvPr/>
        </p:nvSpPr>
        <p:spPr>
          <a:xfrm>
            <a:off x="812770" y="6238335"/>
            <a:ext cx="7325299" cy="238724"/>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596070"/>
                </a:solidFill>
                <a:latin typeface="Lato" panose="020F0502020204030203" pitchFamily="34" charset="0"/>
                <a:ea typeface="Lato" panose="020F0502020204030203" pitchFamily="34" charset="-122"/>
                <a:cs typeface="Lato" panose="020F0502020204030203" pitchFamily="34" charset="-120"/>
              </a:rPr>
              <a:t>LINKSPORT · AVANCE 03 · Informe final, figuras 7 y 8 · pgAdmin 4</a:t>
            </a:r>
            <a:endParaRPr lang="en-US" sz="1200" dirty="0"/>
          </a:p>
        </p:txBody>
      </p:sp>
      <p:sp>
        <p:nvSpPr>
          <p:cNvPr id="18" name="Text 14"/>
          <p:cNvSpPr/>
          <p:nvPr/>
        </p:nvSpPr>
        <p:spPr>
          <a:xfrm>
            <a:off x="8108921" y="6238335"/>
            <a:ext cx="3270219" cy="238724"/>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596070"/>
                </a:solidFill>
                <a:latin typeface="Lato" panose="020F0502020204030203" pitchFamily="34" charset="0"/>
                <a:ea typeface="Lato" panose="020F0502020204030203" pitchFamily="34" charset="-122"/>
                <a:cs typeface="Lato" panose="020F0502020204030203" pitchFamily="34" charset="-120"/>
              </a:rPr>
              <a:t>Expone: Jean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5F1"/>
        </a:solidFill>
        <a:effectLst/>
      </p:bgPr>
    </p:bg>
    <p:spTree>
      <p:nvGrpSpPr>
        <p:cNvPr id="1" name=""/>
        <p:cNvGrpSpPr/>
        <p:nvPr/>
      </p:nvGrpSpPr>
      <p:grpSpPr>
        <a:xfrm>
          <a:off x="0" y="0"/>
          <a:ext cx="0" cy="0"/>
          <a:chOff x="0" y="0"/>
          <a:chExt cx="0" cy="0"/>
        </a:xfrm>
      </p:grpSpPr>
      <p:sp>
        <p:nvSpPr>
          <p:cNvPr id="2" name="Shape 0"/>
          <p:cNvSpPr/>
          <p:nvPr/>
        </p:nvSpPr>
        <p:spPr>
          <a:xfrm>
            <a:off x="812770" y="690835"/>
            <a:ext cx="355570" cy="50770"/>
          </a:xfrm>
          <a:prstGeom prst="rect">
            <a:avLst/>
          </a:prstGeom>
          <a:solidFill>
            <a:srgbClr val="FBBF24"/>
          </a:solidFill>
        </p:spPr>
        <p:txBody>
          <a:bodyPr/>
          <a:lstStyle/>
          <a:p>
            <a:endParaRPr lang="es-PE"/>
          </a:p>
        </p:txBody>
      </p:sp>
      <p:sp>
        <p:nvSpPr>
          <p:cNvPr id="3" name="Text 1"/>
          <p:cNvSpPr/>
          <p:nvPr/>
        </p:nvSpPr>
        <p:spPr>
          <a:xfrm>
            <a:off x="1269880" y="609600"/>
            <a:ext cx="4562835" cy="238724"/>
          </a:xfrm>
          <a:prstGeom prst="rect">
            <a:avLst/>
          </a:prstGeom>
          <a:noFill/>
        </p:spPr>
        <p:txBody>
          <a:bodyPr wrap="square" lIns="0" tIns="0" rIns="0" bIns="0" rtlCol="0" anchor="t">
            <a:normAutofit/>
          </a:bodyPr>
          <a:lstStyle/>
          <a:p>
            <a:pPr marL="0" indent="0" algn="l">
              <a:lnSpc>
                <a:spcPts val="1680"/>
              </a:lnSpc>
              <a:buNone/>
            </a:pPr>
            <a:r>
              <a:rPr lang="en-US" sz="1200" b="1" kern="0" spc="100" dirty="0">
                <a:solidFill>
                  <a:srgbClr val="596070"/>
                </a:solidFill>
                <a:latin typeface="Lato" panose="020F0502020204030203" pitchFamily="34" charset="0"/>
                <a:ea typeface="Lato" panose="020F0502020204030203" pitchFamily="34" charset="-122"/>
                <a:cs typeface="Lato" panose="020F0502020204030203" pitchFamily="34" charset="-120"/>
              </a:rPr>
              <a:t>CAPÍTULO 3 / 3.6 SPRING VALIDATION · 1 DE 3</a:t>
            </a:r>
            <a:endParaRPr lang="en-US" sz="1200" dirty="0"/>
          </a:p>
        </p:txBody>
      </p:sp>
      <p:sp>
        <p:nvSpPr>
          <p:cNvPr id="4" name="Text 2"/>
          <p:cNvSpPr>
            <a:spLocks noGrp="1"/>
          </p:cNvSpPr>
          <p:nvPr>
            <p:ph type="title"/>
          </p:nvPr>
        </p:nvSpPr>
        <p:spPr>
          <a:xfrm>
            <a:off x="812770" y="899127"/>
            <a:ext cx="10883453" cy="416464"/>
          </a:xfrm>
          <a:prstGeom prst="rect">
            <a:avLst/>
          </a:prstGeom>
          <a:noFill/>
        </p:spPr>
        <p:txBody>
          <a:bodyPr wrap="square" lIns="0" tIns="0" rIns="0" bIns="0" rtlCol="0" anchor="t">
            <a:normAutofit/>
          </a:bodyPr>
          <a:lstStyle/>
          <a:p>
            <a:pPr marL="0" indent="0" algn="l">
              <a:lnSpc>
                <a:spcPts val="3080"/>
              </a:lnSpc>
              <a:buNone/>
            </a:pPr>
            <a:r>
              <a:rPr lang="en-US" sz="2800" b="1" i="0" dirty="0">
                <a:solidFill>
                  <a:srgbClr val="1E222B"/>
                </a:solidFill>
                <a:latin typeface="Lato" panose="020F0502020204030203" pitchFamily="34" charset="0"/>
                <a:ea typeface="Lato" panose="020F0502020204030203" pitchFamily="34" charset="-122"/>
                <a:cs typeface="Lato" panose="020F0502020204030203" pitchFamily="34" charset="-120"/>
              </a:rPr>
              <a:t>Anotaciones de validación en el modelo</a:t>
            </a:r>
            <a:endParaRPr lang="en-US" sz="2800" dirty="0"/>
          </a:p>
        </p:txBody>
      </p:sp>
      <p:sp>
        <p:nvSpPr>
          <p:cNvPr id="5" name="Shape 3"/>
          <p:cNvSpPr/>
          <p:nvPr/>
        </p:nvSpPr>
        <p:spPr>
          <a:xfrm>
            <a:off x="812770" y="1467929"/>
            <a:ext cx="5841970" cy="2727565"/>
          </a:xfrm>
          <a:prstGeom prst="roundRect">
            <a:avLst>
              <a:gd name="adj" fmla="val 3725"/>
            </a:avLst>
          </a:prstGeom>
          <a:solidFill>
            <a:srgbClr val="161B26"/>
          </a:solidFill>
        </p:spPr>
        <p:txBody>
          <a:bodyPr/>
          <a:lstStyle/>
          <a:p>
            <a:endParaRPr lang="es-PE"/>
          </a:p>
        </p:txBody>
      </p:sp>
      <p:sp>
        <p:nvSpPr>
          <p:cNvPr id="6" name="Text 4"/>
          <p:cNvSpPr/>
          <p:nvPr/>
        </p:nvSpPr>
        <p:spPr>
          <a:xfrm>
            <a:off x="990510" y="1620329"/>
            <a:ext cx="5651085" cy="238724"/>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FBBF24"/>
                </a:solidFill>
                <a:latin typeface="Lato" panose="020F0502020204030203" pitchFamily="34" charset="0"/>
                <a:ea typeface="Lato" panose="020F0502020204030203" pitchFamily="34" charset="-122"/>
                <a:cs typeface="Lato" panose="020F0502020204030203" pitchFamily="34" charset="-120"/>
              </a:rPr>
              <a:t>Código 9 · entidad Producto (mensajes abreviados)</a:t>
            </a:r>
            <a:endParaRPr lang="en-US" sz="1200" dirty="0"/>
          </a:p>
        </p:txBody>
      </p:sp>
      <p:sp>
        <p:nvSpPr>
          <p:cNvPr id="7" name="Text 5"/>
          <p:cNvSpPr/>
          <p:nvPr/>
        </p:nvSpPr>
        <p:spPr>
          <a:xfrm>
            <a:off x="990510" y="1909849"/>
            <a:ext cx="5651085" cy="2158641"/>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7DD3FC"/>
                </a:solidFill>
                <a:latin typeface="JetBrains Mono" panose="02000009000000000000" pitchFamily="49" charset="0"/>
                <a:ea typeface="JetBrains Mono" panose="02000009000000000000" pitchFamily="49" charset="-122"/>
                <a:cs typeface="JetBrains Mono" panose="02000009000000000000" pitchFamily="49" charset="-120"/>
              </a:rPr>
              <a:t>@NotBlank</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(message = </a:t>
            </a:r>
            <a:r>
              <a:rPr lang="en-US" sz="1200" dirty="0">
                <a:solidFill>
                  <a:srgbClr val="A7F3D0"/>
                </a:solidFill>
                <a:latin typeface="JetBrains Mono" panose="02000009000000000000" pitchFamily="49" charset="0"/>
                <a:ea typeface="JetBrains Mono" panose="02000009000000000000" pitchFamily="49" charset="-122"/>
                <a:cs typeface="JetBrains Mono" panose="02000009000000000000" pitchFamily="49" charset="-120"/>
              </a:rPr>
              <a:t>"El nombre … es obligatorio."</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a:t>
            </a:r>
            <a:endParaRPr lang="en-US" sz="1200" dirty="0"/>
          </a:p>
          <a:p>
            <a:pPr marL="0" indent="0" algn="l">
              <a:lnSpc>
                <a:spcPts val="1680"/>
              </a:lnSpc>
              <a:buNone/>
            </a:pPr>
            <a:r>
              <a:rPr lang="en-US" sz="1200" dirty="0">
                <a:solidFill>
                  <a:srgbClr val="7DD3FC"/>
                </a:solidFill>
                <a:latin typeface="JetBrains Mono" panose="02000009000000000000" pitchFamily="49" charset="0"/>
                <a:ea typeface="JetBrains Mono" panose="02000009000000000000" pitchFamily="49" charset="-122"/>
                <a:cs typeface="JetBrains Mono" panose="02000009000000000000" pitchFamily="49" charset="-120"/>
              </a:rPr>
              <a:t>@Size</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(min = 3, max = 100, message = </a:t>
            </a:r>
            <a:r>
              <a:rPr lang="en-US" sz="1200" dirty="0">
                <a:solidFill>
                  <a:srgbClr val="A7F3D0"/>
                </a:solidFill>
                <a:latin typeface="JetBrains Mono" panose="02000009000000000000" pitchFamily="49" charset="0"/>
                <a:ea typeface="JetBrains Mono" panose="02000009000000000000" pitchFamily="49" charset="-122"/>
                <a:cs typeface="JetBrains Mono" panose="02000009000000000000" pitchFamily="49" charset="-120"/>
              </a:rPr>
              <a:t>"…"</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a:t>
            </a:r>
            <a:endParaRPr lang="en-US" sz="1200" dirty="0"/>
          </a:p>
          <a:p>
            <a:pPr marL="0" indent="0" algn="l">
              <a:lnSpc>
                <a:spcPts val="1680"/>
              </a:lnSpc>
              <a:buNone/>
            </a:pPr>
            <a:r>
              <a:rPr lang="en-US" sz="1200" dirty="0">
                <a:solidFill>
                  <a:srgbClr val="FBBF24"/>
                </a:solidFill>
                <a:latin typeface="JetBrains Mono" panose="02000009000000000000" pitchFamily="49" charset="0"/>
                <a:ea typeface="JetBrains Mono" panose="02000009000000000000" pitchFamily="49" charset="-122"/>
                <a:cs typeface="JetBrains Mono" panose="02000009000000000000" pitchFamily="49" charset="-120"/>
              </a:rPr>
              <a:t>private</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String nombre;</a:t>
            </a:r>
            <a:endParaRPr lang="en-US" sz="1200" dirty="0"/>
          </a:p>
          <a:p>
            <a:pPr marL="0" indent="0" algn="l">
              <a:lnSpc>
                <a:spcPts val="1680"/>
              </a:lnSpc>
              <a:buNone/>
            </a:pPr>
            <a:endParaRPr lang="en-US" sz="1200" dirty="0"/>
          </a:p>
          <a:p>
            <a:pPr marL="0" indent="0" algn="l">
              <a:lnSpc>
                <a:spcPts val="1680"/>
              </a:lnSpc>
              <a:buNone/>
            </a:pPr>
            <a:r>
              <a:rPr lang="en-US" sz="1200" dirty="0">
                <a:solidFill>
                  <a:srgbClr val="7DD3FC"/>
                </a:solidFill>
                <a:latin typeface="JetBrains Mono" panose="02000009000000000000" pitchFamily="49" charset="0"/>
                <a:ea typeface="JetBrains Mono" panose="02000009000000000000" pitchFamily="49" charset="-122"/>
                <a:cs typeface="JetBrains Mono" panose="02000009000000000000" pitchFamily="49" charset="-120"/>
              </a:rPr>
              <a:t>@Positive</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(message = </a:t>
            </a:r>
            <a:r>
              <a:rPr lang="en-US" sz="1200" dirty="0">
                <a:solidFill>
                  <a:srgbClr val="A7F3D0"/>
                </a:solidFill>
                <a:latin typeface="JetBrains Mono" panose="02000009000000000000" pitchFamily="49" charset="0"/>
                <a:ea typeface="JetBrains Mono" panose="02000009000000000000" pitchFamily="49" charset="-122"/>
                <a:cs typeface="JetBrains Mono" panose="02000009000000000000" pitchFamily="49" charset="-120"/>
              </a:rPr>
              <a:t>"El precio debe ser mayor a cero."</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a:t>
            </a:r>
            <a:endParaRPr lang="en-US" sz="1200" dirty="0"/>
          </a:p>
          <a:p>
            <a:pPr marL="0" indent="0" algn="l">
              <a:lnSpc>
                <a:spcPts val="1680"/>
              </a:lnSpc>
              <a:buNone/>
            </a:pPr>
            <a:r>
              <a:rPr lang="en-US" sz="1200" dirty="0">
                <a:solidFill>
                  <a:srgbClr val="7DD3FC"/>
                </a:solidFill>
                <a:latin typeface="JetBrains Mono" panose="02000009000000000000" pitchFamily="49" charset="0"/>
                <a:ea typeface="JetBrains Mono" panose="02000009000000000000" pitchFamily="49" charset="-122"/>
                <a:cs typeface="JetBrains Mono" panose="02000009000000000000" pitchFamily="49" charset="-120"/>
              </a:rPr>
              <a:t>@DecimalMin</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(value = </a:t>
            </a:r>
            <a:r>
              <a:rPr lang="en-US" sz="1200" dirty="0">
                <a:solidFill>
                  <a:srgbClr val="A7F3D0"/>
                </a:solidFill>
                <a:latin typeface="JetBrains Mono" panose="02000009000000000000" pitchFamily="49" charset="0"/>
                <a:ea typeface="JetBrains Mono" panose="02000009000000000000" pitchFamily="49" charset="-122"/>
                <a:cs typeface="JetBrains Mono" panose="02000009000000000000" pitchFamily="49" charset="-120"/>
              </a:rPr>
              <a:t>"1.00"</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message = </a:t>
            </a:r>
            <a:r>
              <a:rPr lang="en-US" sz="1200" dirty="0">
                <a:solidFill>
                  <a:srgbClr val="A7F3D0"/>
                </a:solidFill>
                <a:latin typeface="JetBrains Mono" panose="02000009000000000000" pitchFamily="49" charset="0"/>
                <a:ea typeface="JetBrains Mono" panose="02000009000000000000" pitchFamily="49" charset="-122"/>
                <a:cs typeface="JetBrains Mono" panose="02000009000000000000" pitchFamily="49" charset="-120"/>
              </a:rPr>
              <a:t>"…"</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a:t>
            </a:r>
            <a:endParaRPr lang="en-US" sz="1200" dirty="0"/>
          </a:p>
          <a:p>
            <a:pPr marL="0" indent="0" algn="l">
              <a:lnSpc>
                <a:spcPts val="1680"/>
              </a:lnSpc>
              <a:buNone/>
            </a:pPr>
            <a:r>
              <a:rPr lang="en-US" sz="1200" dirty="0">
                <a:solidFill>
                  <a:srgbClr val="FBBF24"/>
                </a:solidFill>
                <a:latin typeface="JetBrains Mono" panose="02000009000000000000" pitchFamily="49" charset="0"/>
                <a:ea typeface="JetBrains Mono" panose="02000009000000000000" pitchFamily="49" charset="-122"/>
                <a:cs typeface="JetBrains Mono" panose="02000009000000000000" pitchFamily="49" charset="-120"/>
              </a:rPr>
              <a:t>private double</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precio;</a:t>
            </a:r>
            <a:endParaRPr lang="en-US" sz="1200" dirty="0"/>
          </a:p>
          <a:p>
            <a:pPr marL="0" indent="0" algn="l">
              <a:lnSpc>
                <a:spcPts val="1680"/>
              </a:lnSpc>
              <a:buNone/>
            </a:pPr>
            <a:endParaRPr lang="en-US" sz="1200" dirty="0"/>
          </a:p>
          <a:p>
            <a:pPr marL="0" indent="0" algn="l">
              <a:lnSpc>
                <a:spcPts val="1680"/>
              </a:lnSpc>
              <a:buNone/>
            </a:pPr>
            <a:r>
              <a:rPr lang="en-US" sz="1200" dirty="0">
                <a:solidFill>
                  <a:srgbClr val="7DD3FC"/>
                </a:solidFill>
                <a:latin typeface="JetBrains Mono" panose="02000009000000000000" pitchFamily="49" charset="0"/>
                <a:ea typeface="JetBrains Mono" panose="02000009000000000000" pitchFamily="49" charset="-122"/>
                <a:cs typeface="JetBrains Mono" panose="02000009000000000000" pitchFamily="49" charset="-120"/>
              </a:rPr>
              <a:t>@NotBlank</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(message = </a:t>
            </a:r>
            <a:r>
              <a:rPr lang="en-US" sz="1200" dirty="0">
                <a:solidFill>
                  <a:srgbClr val="A7F3D0"/>
                </a:solidFill>
                <a:latin typeface="JetBrains Mono" panose="02000009000000000000" pitchFamily="49" charset="0"/>
                <a:ea typeface="JetBrains Mono" panose="02000009000000000000" pitchFamily="49" charset="-122"/>
                <a:cs typeface="JetBrains Mono" panose="02000009000000000000" pitchFamily="49" charset="-120"/>
              </a:rPr>
              <a:t>"La URL de la imagen … obligatoria."</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a:t>
            </a:r>
            <a:endParaRPr lang="en-US" sz="1200" dirty="0"/>
          </a:p>
          <a:p>
            <a:pPr marL="0" indent="0" algn="l">
              <a:lnSpc>
                <a:spcPts val="1680"/>
              </a:lnSpc>
              <a:buNone/>
            </a:pPr>
            <a:r>
              <a:rPr lang="en-US" sz="1200" dirty="0">
                <a:solidFill>
                  <a:srgbClr val="FBBF24"/>
                </a:solidFill>
                <a:latin typeface="JetBrains Mono" panose="02000009000000000000" pitchFamily="49" charset="0"/>
                <a:ea typeface="JetBrains Mono" panose="02000009000000000000" pitchFamily="49" charset="-122"/>
                <a:cs typeface="JetBrains Mono" panose="02000009000000000000" pitchFamily="49" charset="-120"/>
              </a:rPr>
              <a:t>private</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String imagenSrc;</a:t>
            </a:r>
            <a:endParaRPr lang="en-US" sz="1200" dirty="0"/>
          </a:p>
        </p:txBody>
      </p:sp>
      <p:sp>
        <p:nvSpPr>
          <p:cNvPr id="8" name="Shape 6"/>
          <p:cNvSpPr/>
          <p:nvPr/>
        </p:nvSpPr>
        <p:spPr>
          <a:xfrm>
            <a:off x="6857910" y="1467929"/>
            <a:ext cx="4521140" cy="2337040"/>
          </a:xfrm>
          <a:prstGeom prst="rect">
            <a:avLst/>
          </a:prstGeom>
          <a:solidFill>
            <a:srgbClr val="FDFCF9"/>
          </a:solidFill>
        </p:spPr>
        <p:txBody>
          <a:bodyPr/>
          <a:lstStyle/>
          <a:p>
            <a:endParaRPr lang="es-PE"/>
          </a:p>
        </p:txBody>
      </p:sp>
      <p:sp>
        <p:nvSpPr>
          <p:cNvPr id="9" name="Shape 7"/>
          <p:cNvSpPr/>
          <p:nvPr/>
        </p:nvSpPr>
        <p:spPr>
          <a:xfrm>
            <a:off x="11375875" y="1467929"/>
            <a:ext cx="0" cy="2337040"/>
          </a:xfrm>
          <a:prstGeom prst="line">
            <a:avLst/>
          </a:prstGeom>
          <a:noFill/>
          <a:ln w="6350">
            <a:solidFill>
              <a:srgbClr val="DDD9CC"/>
            </a:solidFill>
            <a:prstDash val="solid"/>
          </a:ln>
        </p:spPr>
        <p:txBody>
          <a:bodyPr/>
          <a:lstStyle/>
          <a:p>
            <a:endParaRPr lang="es-PE"/>
          </a:p>
        </p:txBody>
      </p:sp>
      <p:sp>
        <p:nvSpPr>
          <p:cNvPr id="10" name="Shape 8"/>
          <p:cNvSpPr/>
          <p:nvPr/>
        </p:nvSpPr>
        <p:spPr>
          <a:xfrm>
            <a:off x="6857910" y="3801794"/>
            <a:ext cx="4521140" cy="0"/>
          </a:xfrm>
          <a:prstGeom prst="line">
            <a:avLst/>
          </a:prstGeom>
          <a:noFill/>
          <a:ln w="6350">
            <a:solidFill>
              <a:srgbClr val="DDD9CC"/>
            </a:solidFill>
            <a:prstDash val="solid"/>
          </a:ln>
        </p:spPr>
        <p:txBody>
          <a:bodyPr/>
          <a:lstStyle/>
          <a:p>
            <a:endParaRPr lang="es-PE"/>
          </a:p>
        </p:txBody>
      </p:sp>
      <p:graphicFrame>
        <p:nvGraphicFramePr>
          <p:cNvPr id="11" name="Table 0"/>
          <p:cNvGraphicFramePr>
            <a:graphicFrameLocks noGrp="1"/>
          </p:cNvGraphicFramePr>
          <p:nvPr/>
        </p:nvGraphicFramePr>
        <p:xfrm>
          <a:off x="6869412" y="1479431"/>
          <a:ext cx="4503887" cy="2319786"/>
        </p:xfrm>
        <a:graphic>
          <a:graphicData uri="http://schemas.openxmlformats.org/drawingml/2006/table">
            <a:tbl>
              <a:tblPr/>
              <a:tblGrid>
                <a:gridCol w="1801555"/>
                <a:gridCol w="2702332"/>
              </a:tblGrid>
              <a:tr h="331398">
                <a:tc>
                  <a:txBody>
                    <a:bodyPr/>
                    <a:lstStyle/>
                    <a:p>
                      <a:pPr marL="0" indent="0">
                        <a:lnSpc>
                          <a:spcPts val="1680"/>
                        </a:lnSpc>
                        <a:buNone/>
                      </a:pPr>
                      <a:r>
                        <a:rPr lang="en-US" sz="1200" b="1" dirty="0">
                          <a:solidFill>
                            <a:srgbClr val="F6F5F1"/>
                          </a:solidFill>
                          <a:latin typeface="Lato" panose="020F0502020204030203" pitchFamily="34" charset="0"/>
                          <a:ea typeface="Lato" panose="020F0502020204030203" pitchFamily="34" charset="-122"/>
                          <a:cs typeface="Lato" panose="020F0502020204030203" pitchFamily="34" charset="-120"/>
                        </a:rPr>
                        <a:t>Atributo</a:t>
                      </a:r>
                      <a:endParaRPr lang="en-US" sz="1200" dirty="0">
                        <a:latin typeface="Lato" panose="020F0502020204030203" pitchFamily="34" charset="0"/>
                        <a:ea typeface="Lato" panose="020F0502020204030203" pitchFamily="34" charset="0"/>
                        <a:cs typeface="Lato" panose="020F0502020204030203" pitchFamily="34"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1C1F2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C1F26"/>
                      </a:solidFill>
                      <a:prstDash val="solid"/>
                      <a:round/>
                      <a:headEnd type="none" w="med" len="med"/>
                      <a:tailEnd type="none" w="med" len="med"/>
                    </a:lnB>
                    <a:solidFill>
                      <a:srgbClr val="1E222B"/>
                    </a:solidFill>
                  </a:tcPr>
                </a:tc>
                <a:tc>
                  <a:txBody>
                    <a:bodyPr/>
                    <a:lstStyle/>
                    <a:p>
                      <a:pPr marL="0" indent="0">
                        <a:lnSpc>
                          <a:spcPts val="1680"/>
                        </a:lnSpc>
                        <a:buNone/>
                      </a:pPr>
                      <a:r>
                        <a:rPr lang="en-US" sz="1200" b="1" dirty="0">
                          <a:solidFill>
                            <a:srgbClr val="F6F5F1"/>
                          </a:solidFill>
                          <a:latin typeface="Lato" panose="020F0502020204030203" pitchFamily="34" charset="0"/>
                          <a:ea typeface="Lato" panose="020F0502020204030203" pitchFamily="34" charset="-122"/>
                          <a:cs typeface="Lato" panose="020F0502020204030203" pitchFamily="34" charset="-120"/>
                        </a:rPr>
                        <a:t>Regla</a:t>
                      </a:r>
                      <a:endParaRPr lang="en-US" sz="1200" dirty="0">
                        <a:latin typeface="Lato" panose="020F0502020204030203" pitchFamily="34" charset="0"/>
                        <a:ea typeface="Lato" panose="020F0502020204030203" pitchFamily="34" charset="0"/>
                        <a:cs typeface="Lato" panose="020F0502020204030203" pitchFamily="34" charset="0"/>
                      </a:endParaRPr>
                    </a:p>
                  </a:txBody>
                  <a:tcPr marL="53340" marR="53340" marT="53340" marB="53340">
                    <a:lnL w="12700" cap="flat" cmpd="sng" algn="ctr">
                      <a:solidFill>
                        <a:srgbClr val="1C1F26"/>
                      </a:solidFill>
                      <a:prstDash val="solid"/>
                      <a:round/>
                      <a:headEnd type="none" w="med" len="med"/>
                      <a:tailEnd type="none" w="med" len="med"/>
                    </a:lnL>
                    <a:lnR w="12700" cap="flat" cmpd="sng" algn="ctr">
                      <a:solidFill>
                        <a:srgbClr val="1C1F2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1C1F26"/>
                      </a:solidFill>
                      <a:prstDash val="solid"/>
                      <a:round/>
                      <a:headEnd type="none" w="med" len="med"/>
                      <a:tailEnd type="none" w="med" len="med"/>
                    </a:lnB>
                    <a:solidFill>
                      <a:srgbClr val="1E222B"/>
                    </a:solidFill>
                  </a:tcPr>
                </a:tc>
              </a:tr>
              <a:tr h="331398">
                <a:tc>
                  <a:txBody>
                    <a:bodyPr/>
                    <a:lstStyle/>
                    <a:p>
                      <a:pPr marL="0" indent="0">
                        <a:lnSpc>
                          <a:spcPts val="1680"/>
                        </a:lnSpc>
                        <a:buNone/>
                      </a:pPr>
                      <a:r>
                        <a:rPr lang="en-US" sz="1200" dirty="0">
                          <a:solidFill>
                            <a:srgbClr val="1E222B"/>
                          </a:solidFill>
                          <a:latin typeface="Lato" panose="020F0502020204030203" pitchFamily="34" charset="0"/>
                          <a:ea typeface="Lato" panose="020F0502020204030203" pitchFamily="34" charset="-122"/>
                          <a:cs typeface="Lato" panose="020F0502020204030203" pitchFamily="34" charset="-120"/>
                        </a:rPr>
                        <a:t>Producto · nombre</a:t>
                      </a:r>
                      <a:endParaRPr lang="en-US" sz="1200" dirty="0">
                        <a:latin typeface="Lato" panose="020F0502020204030203" pitchFamily="34" charset="0"/>
                        <a:ea typeface="Lato" panose="020F0502020204030203" pitchFamily="34" charset="0"/>
                        <a:cs typeface="Lato" panose="020F0502020204030203" pitchFamily="34"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C1F2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680"/>
                        </a:lnSpc>
                        <a:buNone/>
                      </a:pPr>
                      <a:r>
                        <a:rPr lang="en-US" sz="1200" dirty="0">
                          <a:solidFill>
                            <a:srgbClr val="1E222B"/>
                          </a:solidFill>
                          <a:latin typeface="Lato" panose="020F0502020204030203" pitchFamily="34" charset="0"/>
                          <a:ea typeface="Lato" panose="020F0502020204030203" pitchFamily="34" charset="-122"/>
                          <a:cs typeface="Lato" panose="020F0502020204030203" pitchFamily="34" charset="-120"/>
                        </a:rPr>
                        <a:t>@NotBlank, @Size(3–100)</a:t>
                      </a:r>
                      <a:endParaRPr lang="en-US" sz="1200" dirty="0">
                        <a:latin typeface="Lato" panose="020F0502020204030203" pitchFamily="34" charset="0"/>
                        <a:ea typeface="Lato" panose="020F0502020204030203" pitchFamily="34" charset="0"/>
                        <a:cs typeface="Lato" panose="020F0502020204030203" pitchFamily="34"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C1F2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31398">
                <a:tc>
                  <a:txBody>
                    <a:bodyPr/>
                    <a:lstStyle/>
                    <a:p>
                      <a:pPr marL="0" indent="0">
                        <a:lnSpc>
                          <a:spcPts val="1680"/>
                        </a:lnSpc>
                        <a:buNone/>
                      </a:pPr>
                      <a:r>
                        <a:rPr lang="en-US" sz="1200" dirty="0">
                          <a:solidFill>
                            <a:srgbClr val="1E222B"/>
                          </a:solidFill>
                          <a:latin typeface="Lato" panose="020F0502020204030203" pitchFamily="34" charset="0"/>
                          <a:ea typeface="Lato" panose="020F0502020204030203" pitchFamily="34" charset="-122"/>
                          <a:cs typeface="Lato" panose="020F0502020204030203" pitchFamily="34" charset="-120"/>
                        </a:rPr>
                        <a:t>Producto · precio</a:t>
                      </a:r>
                      <a:endParaRPr lang="en-US" sz="1200" dirty="0">
                        <a:latin typeface="Lato" panose="020F0502020204030203" pitchFamily="34" charset="0"/>
                        <a:ea typeface="Lato" panose="020F0502020204030203" pitchFamily="34" charset="0"/>
                        <a:cs typeface="Lato" panose="020F0502020204030203" pitchFamily="34"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6"/>
                    </a:solidFill>
                  </a:tcPr>
                </a:tc>
                <a:tc>
                  <a:txBody>
                    <a:bodyPr/>
                    <a:lstStyle/>
                    <a:p>
                      <a:pPr marL="0" indent="0">
                        <a:lnSpc>
                          <a:spcPts val="1680"/>
                        </a:lnSpc>
                        <a:buNone/>
                      </a:pPr>
                      <a:r>
                        <a:rPr lang="en-US" sz="1200" dirty="0">
                          <a:solidFill>
                            <a:srgbClr val="1E222B"/>
                          </a:solidFill>
                          <a:latin typeface="Lato" panose="020F0502020204030203" pitchFamily="34" charset="0"/>
                          <a:ea typeface="Lato" panose="020F0502020204030203" pitchFamily="34" charset="-122"/>
                          <a:cs typeface="Lato" panose="020F0502020204030203" pitchFamily="34" charset="-120"/>
                        </a:rPr>
                        <a:t>@Positive, @DecimalMin("1.00")</a:t>
                      </a:r>
                      <a:endParaRPr lang="en-US" sz="1200" dirty="0">
                        <a:latin typeface="Lato" panose="020F0502020204030203" pitchFamily="34" charset="0"/>
                        <a:ea typeface="Lato" panose="020F0502020204030203" pitchFamily="34" charset="0"/>
                        <a:cs typeface="Lato" panose="020F0502020204030203" pitchFamily="34" charset="0"/>
                      </a:endParaRPr>
                    </a:p>
                  </a:txBody>
                  <a:tcPr marL="53340" marR="53340" marT="53340" marB="53340">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6"/>
                    </a:solidFill>
                  </a:tcPr>
                </a:tc>
              </a:tr>
              <a:tr h="331398">
                <a:tc>
                  <a:txBody>
                    <a:bodyPr/>
                    <a:lstStyle/>
                    <a:p>
                      <a:pPr marL="0" indent="0">
                        <a:lnSpc>
                          <a:spcPts val="1680"/>
                        </a:lnSpc>
                        <a:buNone/>
                      </a:pPr>
                      <a:r>
                        <a:rPr lang="en-US" sz="1200" dirty="0">
                          <a:solidFill>
                            <a:srgbClr val="1E222B"/>
                          </a:solidFill>
                          <a:latin typeface="Lato" panose="020F0502020204030203" pitchFamily="34" charset="0"/>
                          <a:ea typeface="Lato" panose="020F0502020204030203" pitchFamily="34" charset="-122"/>
                          <a:cs typeface="Lato" panose="020F0502020204030203" pitchFamily="34" charset="-120"/>
                        </a:rPr>
                        <a:t>Producto · imagenSrc</a:t>
                      </a:r>
                      <a:endParaRPr lang="en-US" sz="1200" dirty="0">
                        <a:latin typeface="Lato" panose="020F0502020204030203" pitchFamily="34" charset="0"/>
                        <a:ea typeface="Lato" panose="020F0502020204030203" pitchFamily="34" charset="0"/>
                        <a:cs typeface="Lato" panose="020F0502020204030203" pitchFamily="34"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680"/>
                        </a:lnSpc>
                        <a:buNone/>
                      </a:pPr>
                      <a:r>
                        <a:rPr lang="en-US" sz="1200" dirty="0">
                          <a:solidFill>
                            <a:srgbClr val="1E222B"/>
                          </a:solidFill>
                          <a:latin typeface="Lato" panose="020F0502020204030203" pitchFamily="34" charset="0"/>
                          <a:ea typeface="Lato" panose="020F0502020204030203" pitchFamily="34" charset="-122"/>
                          <a:cs typeface="Lato" panose="020F0502020204030203" pitchFamily="34" charset="-120"/>
                        </a:rPr>
                        <a:t>@NotBlank</a:t>
                      </a:r>
                      <a:endParaRPr lang="en-US" sz="1200" dirty="0">
                        <a:latin typeface="Lato" panose="020F0502020204030203" pitchFamily="34" charset="0"/>
                        <a:ea typeface="Lato" panose="020F0502020204030203" pitchFamily="34" charset="0"/>
                        <a:cs typeface="Lato" panose="020F0502020204030203" pitchFamily="34"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31398">
                <a:tc>
                  <a:txBody>
                    <a:bodyPr/>
                    <a:lstStyle/>
                    <a:p>
                      <a:pPr marL="0" indent="0">
                        <a:lnSpc>
                          <a:spcPts val="1680"/>
                        </a:lnSpc>
                        <a:buNone/>
                      </a:pPr>
                      <a:r>
                        <a:rPr lang="en-US" sz="1200" dirty="0">
                          <a:solidFill>
                            <a:srgbClr val="1E222B"/>
                          </a:solidFill>
                          <a:latin typeface="Lato" panose="020F0502020204030203" pitchFamily="34" charset="0"/>
                          <a:ea typeface="Lato" panose="020F0502020204030203" pitchFamily="34" charset="-122"/>
                          <a:cs typeface="Lato" panose="020F0502020204030203" pitchFamily="34" charset="-120"/>
                        </a:rPr>
                        <a:t>Usuario · nombre</a:t>
                      </a:r>
                      <a:endParaRPr lang="en-US" sz="1200" dirty="0">
                        <a:latin typeface="Lato" panose="020F0502020204030203" pitchFamily="34" charset="0"/>
                        <a:ea typeface="Lato" panose="020F0502020204030203" pitchFamily="34" charset="0"/>
                        <a:cs typeface="Lato" panose="020F0502020204030203" pitchFamily="34"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6"/>
                    </a:solidFill>
                  </a:tcPr>
                </a:tc>
                <a:tc>
                  <a:txBody>
                    <a:bodyPr/>
                    <a:lstStyle/>
                    <a:p>
                      <a:pPr marL="0" indent="0">
                        <a:lnSpc>
                          <a:spcPts val="1680"/>
                        </a:lnSpc>
                        <a:buNone/>
                      </a:pPr>
                      <a:r>
                        <a:rPr lang="en-US" sz="1200" dirty="0">
                          <a:solidFill>
                            <a:srgbClr val="1E222B"/>
                          </a:solidFill>
                          <a:latin typeface="Lato" panose="020F0502020204030203" pitchFamily="34" charset="0"/>
                          <a:ea typeface="Lato" panose="020F0502020204030203" pitchFamily="34" charset="-122"/>
                          <a:cs typeface="Lato" panose="020F0502020204030203" pitchFamily="34" charset="-120"/>
                        </a:rPr>
                        <a:t>@NotBlank</a:t>
                      </a:r>
                      <a:endParaRPr lang="en-US" sz="1200" dirty="0">
                        <a:latin typeface="Lato" panose="020F0502020204030203" pitchFamily="34" charset="0"/>
                        <a:ea typeface="Lato" panose="020F0502020204030203" pitchFamily="34" charset="0"/>
                        <a:cs typeface="Lato" panose="020F0502020204030203" pitchFamily="34" charset="0"/>
                      </a:endParaRPr>
                    </a:p>
                  </a:txBody>
                  <a:tcPr marL="53340" marR="53340" marT="53340" marB="53340">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6"/>
                    </a:solidFill>
                  </a:tcPr>
                </a:tc>
              </a:tr>
              <a:tr h="331398">
                <a:tc>
                  <a:txBody>
                    <a:bodyPr/>
                    <a:lstStyle/>
                    <a:p>
                      <a:pPr marL="0" indent="0">
                        <a:lnSpc>
                          <a:spcPts val="1680"/>
                        </a:lnSpc>
                        <a:buNone/>
                      </a:pPr>
                      <a:r>
                        <a:rPr lang="en-US" sz="1200" dirty="0">
                          <a:solidFill>
                            <a:srgbClr val="1E222B"/>
                          </a:solidFill>
                          <a:latin typeface="Lato" panose="020F0502020204030203" pitchFamily="34" charset="0"/>
                          <a:ea typeface="Lato" panose="020F0502020204030203" pitchFamily="34" charset="-122"/>
                          <a:cs typeface="Lato" panose="020F0502020204030203" pitchFamily="34" charset="-120"/>
                        </a:rPr>
                        <a:t>Usuario · correo</a:t>
                      </a:r>
                      <a:endParaRPr lang="en-US" sz="1200" dirty="0">
                        <a:latin typeface="Lato" panose="020F0502020204030203" pitchFamily="34" charset="0"/>
                        <a:ea typeface="Lato" panose="020F0502020204030203" pitchFamily="34" charset="0"/>
                        <a:cs typeface="Lato" panose="020F0502020204030203" pitchFamily="34"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1680"/>
                        </a:lnSpc>
                        <a:buNone/>
                      </a:pPr>
                      <a:r>
                        <a:rPr lang="en-US" sz="1200" dirty="0">
                          <a:solidFill>
                            <a:srgbClr val="1E222B"/>
                          </a:solidFill>
                          <a:latin typeface="Lato" panose="020F0502020204030203" pitchFamily="34" charset="0"/>
                          <a:ea typeface="Lato" panose="020F0502020204030203" pitchFamily="34" charset="-122"/>
                          <a:cs typeface="Lato" panose="020F0502020204030203" pitchFamily="34" charset="-120"/>
                        </a:rPr>
                        <a:t>@NotBlank, @Email</a:t>
                      </a:r>
                      <a:endParaRPr lang="en-US" sz="1200" dirty="0">
                        <a:latin typeface="Lato" panose="020F0502020204030203" pitchFamily="34" charset="0"/>
                        <a:ea typeface="Lato" panose="020F0502020204030203" pitchFamily="34" charset="0"/>
                        <a:cs typeface="Lato" panose="020F0502020204030203" pitchFamily="34"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31398">
                <a:tc>
                  <a:txBody>
                    <a:bodyPr/>
                    <a:lstStyle/>
                    <a:p>
                      <a:pPr marL="0" indent="0">
                        <a:lnSpc>
                          <a:spcPts val="1680"/>
                        </a:lnSpc>
                        <a:buNone/>
                      </a:pPr>
                      <a:r>
                        <a:rPr lang="en-US" sz="1200" dirty="0">
                          <a:solidFill>
                            <a:srgbClr val="1E222B"/>
                          </a:solidFill>
                          <a:latin typeface="Lato" panose="020F0502020204030203" pitchFamily="34" charset="0"/>
                          <a:ea typeface="Lato" panose="020F0502020204030203" pitchFamily="34" charset="-122"/>
                          <a:cs typeface="Lato" panose="020F0502020204030203" pitchFamily="34" charset="-120"/>
                        </a:rPr>
                        <a:t>Usuario · password</a:t>
                      </a:r>
                      <a:endParaRPr lang="en-US" sz="1200" dirty="0">
                        <a:latin typeface="Lato" panose="020F0502020204030203" pitchFamily="34" charset="0"/>
                        <a:ea typeface="Lato" panose="020F0502020204030203" pitchFamily="34" charset="0"/>
                        <a:cs typeface="Lato" panose="020F0502020204030203" pitchFamily="34"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6"/>
                    </a:solidFill>
                  </a:tcPr>
                </a:tc>
                <a:tc>
                  <a:txBody>
                    <a:bodyPr/>
                    <a:lstStyle/>
                    <a:p>
                      <a:pPr marL="0" indent="0">
                        <a:lnSpc>
                          <a:spcPts val="1680"/>
                        </a:lnSpc>
                        <a:buNone/>
                      </a:pPr>
                      <a:r>
                        <a:rPr lang="en-US" sz="1200" dirty="0">
                          <a:solidFill>
                            <a:srgbClr val="1E222B"/>
                          </a:solidFill>
                          <a:latin typeface="Lato" panose="020F0502020204030203" pitchFamily="34" charset="0"/>
                          <a:ea typeface="Lato" panose="020F0502020204030203" pitchFamily="34" charset="-122"/>
                          <a:cs typeface="Lato" panose="020F0502020204030203" pitchFamily="34" charset="-120"/>
                        </a:rPr>
                        <a:t>@NotBlank, @Size(min = 6)</a:t>
                      </a:r>
                      <a:endParaRPr lang="en-US" sz="1200" dirty="0">
                        <a:latin typeface="Lato" panose="020F0502020204030203" pitchFamily="34" charset="0"/>
                        <a:ea typeface="Lato" panose="020F0502020204030203" pitchFamily="34" charset="0"/>
                        <a:cs typeface="Lato" panose="020F0502020204030203" pitchFamily="34" charset="0"/>
                      </a:endParaRPr>
                    </a:p>
                  </a:txBody>
                  <a:tcPr marL="53340" marR="53340" marT="53340" marB="53340">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6"/>
                    </a:solidFill>
                  </a:tcPr>
                </a:tc>
              </a:tr>
            </a:tbl>
          </a:graphicData>
        </a:graphic>
      </p:graphicFrame>
      <p:sp>
        <p:nvSpPr>
          <p:cNvPr id="12" name="Text 9"/>
          <p:cNvSpPr/>
          <p:nvPr/>
        </p:nvSpPr>
        <p:spPr>
          <a:xfrm>
            <a:off x="815945" y="4376415"/>
            <a:ext cx="10560110" cy="653751"/>
          </a:xfrm>
          <a:prstGeom prst="roundRect">
            <a:avLst>
              <a:gd name="adj" fmla="val 11170"/>
            </a:avLst>
          </a:prstGeom>
          <a:solidFill>
            <a:srgbClr val="FDFCF9"/>
          </a:solidFill>
          <a:ln w="6350">
            <a:solidFill>
              <a:srgbClr val="DDD9CC"/>
            </a:solidFill>
            <a:prstDash val="solid"/>
          </a:ln>
        </p:spPr>
        <p:txBody>
          <a:bodyPr wrap="square" lIns="133588" tIns="82788" rIns="0" bIns="57268" rtlCol="0" anchor="t">
            <a:normAutofit/>
          </a:bodyPr>
          <a:lstStyle/>
          <a:p>
            <a:pPr marL="0" indent="0" algn="l">
              <a:lnSpc>
                <a:spcPts val="1755"/>
              </a:lnSpc>
              <a:buNone/>
            </a:pPr>
            <a:r>
              <a:rPr lang="en-US" sz="1300" b="1" dirty="0">
                <a:solidFill>
                  <a:srgbClr val="2B303B"/>
                </a:solidFill>
                <a:latin typeface="Lato" panose="020F0502020204030203" pitchFamily="34" charset="0"/>
                <a:ea typeface="Lato" panose="020F0502020204030203" pitchFamily="34" charset="-122"/>
                <a:cs typeface="Lato" panose="020F0502020204030203" pitchFamily="34" charset="-120"/>
              </a:rPr>
              <a:t>Alcance actual:</a:t>
            </a:r>
            <a:r>
              <a:rPr lang="en-US" sz="1300" dirty="0">
                <a:solidFill>
                  <a:srgbClr val="2B303B"/>
                </a:solidFill>
                <a:latin typeface="Lato" panose="020F0502020204030203" pitchFamily="34" charset="0"/>
                <a:ea typeface="Lato" panose="020F0502020204030203" pitchFamily="34" charset="-122"/>
                <a:cs typeface="Lato" panose="020F0502020204030203" pitchFamily="34" charset="-120"/>
              </a:rPr>
              <a:t> las anotaciones están en las entidades, que también reciben el formulario y la API. Pasarlas a clases DTO de entrada es una mejora planificada.</a:t>
            </a:r>
            <a:endParaRPr lang="en-US" sz="1300" dirty="0"/>
          </a:p>
        </p:txBody>
      </p:sp>
      <p:sp>
        <p:nvSpPr>
          <p:cNvPr id="13" name="Text 10"/>
          <p:cNvSpPr/>
          <p:nvPr/>
        </p:nvSpPr>
        <p:spPr>
          <a:xfrm>
            <a:off x="812770" y="6238342"/>
            <a:ext cx="7325299" cy="238724"/>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596070"/>
                </a:solidFill>
                <a:latin typeface="Lato" panose="020F0502020204030203" pitchFamily="34" charset="0"/>
                <a:ea typeface="Lato" panose="020F0502020204030203" pitchFamily="34" charset="-122"/>
                <a:cs typeface="Lato" panose="020F0502020204030203" pitchFamily="34" charset="-120"/>
              </a:rPr>
              <a:t>LINKSPORT · AVANCE 03 · Informe final, sección 3.6 a), tabla 6 y código 9</a:t>
            </a:r>
            <a:endParaRPr lang="en-US" sz="1200" dirty="0"/>
          </a:p>
        </p:txBody>
      </p:sp>
      <p:sp>
        <p:nvSpPr>
          <p:cNvPr id="14" name="Text 11"/>
          <p:cNvSpPr/>
          <p:nvPr/>
        </p:nvSpPr>
        <p:spPr>
          <a:xfrm>
            <a:off x="8108921" y="6238342"/>
            <a:ext cx="3270219" cy="238724"/>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596070"/>
                </a:solidFill>
                <a:latin typeface="Lato" panose="020F0502020204030203" pitchFamily="34" charset="0"/>
                <a:ea typeface="Lato" panose="020F0502020204030203" pitchFamily="34" charset="-122"/>
                <a:cs typeface="Lato" panose="020F0502020204030203" pitchFamily="34" charset="-120"/>
              </a:rPr>
              <a:t>Expone: Jean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5F1"/>
        </a:solidFill>
        <a:effectLst/>
      </p:bgPr>
    </p:bg>
    <p:spTree>
      <p:nvGrpSpPr>
        <p:cNvPr id="1" name=""/>
        <p:cNvGrpSpPr/>
        <p:nvPr/>
      </p:nvGrpSpPr>
      <p:grpSpPr>
        <a:xfrm>
          <a:off x="0" y="0"/>
          <a:ext cx="0" cy="0"/>
          <a:chOff x="0" y="0"/>
          <a:chExt cx="0" cy="0"/>
        </a:xfrm>
      </p:grpSpPr>
      <p:sp>
        <p:nvSpPr>
          <p:cNvPr id="2" name="Shape 0"/>
          <p:cNvSpPr/>
          <p:nvPr/>
        </p:nvSpPr>
        <p:spPr>
          <a:xfrm>
            <a:off x="812770" y="690835"/>
            <a:ext cx="355570" cy="50770"/>
          </a:xfrm>
          <a:prstGeom prst="rect">
            <a:avLst/>
          </a:prstGeom>
          <a:solidFill>
            <a:srgbClr val="FBBF24"/>
          </a:solidFill>
        </p:spPr>
        <p:txBody>
          <a:bodyPr/>
          <a:lstStyle/>
          <a:p>
            <a:endParaRPr lang="es-PE"/>
          </a:p>
        </p:txBody>
      </p:sp>
      <p:sp>
        <p:nvSpPr>
          <p:cNvPr id="3" name="Text 1"/>
          <p:cNvSpPr/>
          <p:nvPr/>
        </p:nvSpPr>
        <p:spPr>
          <a:xfrm>
            <a:off x="1269880" y="609600"/>
            <a:ext cx="4562835" cy="238724"/>
          </a:xfrm>
          <a:prstGeom prst="rect">
            <a:avLst/>
          </a:prstGeom>
          <a:noFill/>
        </p:spPr>
        <p:txBody>
          <a:bodyPr wrap="square" lIns="0" tIns="0" rIns="0" bIns="0" rtlCol="0" anchor="t">
            <a:normAutofit/>
          </a:bodyPr>
          <a:lstStyle/>
          <a:p>
            <a:pPr marL="0" indent="0" algn="l">
              <a:lnSpc>
                <a:spcPts val="1680"/>
              </a:lnSpc>
              <a:buNone/>
            </a:pPr>
            <a:r>
              <a:rPr lang="en-US" sz="1200" b="1" kern="0" spc="100" dirty="0">
                <a:solidFill>
                  <a:srgbClr val="596070"/>
                </a:solidFill>
                <a:latin typeface="Lato" panose="020F0502020204030203" pitchFamily="34" charset="0"/>
                <a:ea typeface="Lato" panose="020F0502020204030203" pitchFamily="34" charset="-122"/>
                <a:cs typeface="Lato" panose="020F0502020204030203" pitchFamily="34" charset="-120"/>
              </a:rPr>
              <a:t>CAPÍTULO 3 / 3.6 SPRING VALIDATION · 2 DE 3</a:t>
            </a:r>
            <a:endParaRPr lang="en-US" sz="1200" dirty="0"/>
          </a:p>
        </p:txBody>
      </p:sp>
      <p:sp>
        <p:nvSpPr>
          <p:cNvPr id="4" name="Text 2"/>
          <p:cNvSpPr>
            <a:spLocks noGrp="1"/>
          </p:cNvSpPr>
          <p:nvPr>
            <p:ph type="title"/>
          </p:nvPr>
        </p:nvSpPr>
        <p:spPr>
          <a:xfrm>
            <a:off x="812770" y="899120"/>
            <a:ext cx="10883453" cy="416464"/>
          </a:xfrm>
          <a:prstGeom prst="rect">
            <a:avLst/>
          </a:prstGeom>
          <a:noFill/>
        </p:spPr>
        <p:txBody>
          <a:bodyPr wrap="square" lIns="0" tIns="0" rIns="0" bIns="0" rtlCol="0" anchor="t">
            <a:normAutofit/>
          </a:bodyPr>
          <a:lstStyle/>
          <a:p>
            <a:pPr marL="0" indent="0" algn="l">
              <a:lnSpc>
                <a:spcPts val="3080"/>
              </a:lnSpc>
              <a:buNone/>
            </a:pPr>
            <a:r>
              <a:rPr lang="en-US" sz="2800" b="1" i="0" dirty="0">
                <a:solidFill>
                  <a:srgbClr val="1E222B"/>
                </a:solidFill>
                <a:latin typeface="Lato" panose="020F0502020204030203" pitchFamily="34" charset="0"/>
                <a:ea typeface="Lato" panose="020F0502020204030203" pitchFamily="34" charset="-122"/>
                <a:cs typeface="Lato" panose="020F0502020204030203" pitchFamily="34" charset="-120"/>
              </a:rPr>
              <a:t>Activación en los controladores</a:t>
            </a:r>
            <a:endParaRPr lang="en-US" sz="2800" dirty="0"/>
          </a:p>
        </p:txBody>
      </p:sp>
      <p:sp>
        <p:nvSpPr>
          <p:cNvPr id="5" name="Shape 3"/>
          <p:cNvSpPr/>
          <p:nvPr/>
        </p:nvSpPr>
        <p:spPr>
          <a:xfrm>
            <a:off x="812770" y="1467929"/>
            <a:ext cx="5156170" cy="2940889"/>
          </a:xfrm>
          <a:prstGeom prst="roundRect">
            <a:avLst>
              <a:gd name="adj" fmla="val 3455"/>
            </a:avLst>
          </a:prstGeom>
          <a:solidFill>
            <a:srgbClr val="161B26"/>
          </a:solidFill>
        </p:spPr>
        <p:txBody>
          <a:bodyPr/>
          <a:lstStyle/>
          <a:p>
            <a:endParaRPr lang="es-PE"/>
          </a:p>
        </p:txBody>
      </p:sp>
      <p:sp>
        <p:nvSpPr>
          <p:cNvPr id="6" name="Text 4"/>
          <p:cNvSpPr/>
          <p:nvPr/>
        </p:nvSpPr>
        <p:spPr>
          <a:xfrm>
            <a:off x="990510" y="1620329"/>
            <a:ext cx="4944711" cy="238724"/>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FBBF24"/>
                </a:solidFill>
                <a:latin typeface="Lato" panose="020F0502020204030203" pitchFamily="34" charset="0"/>
                <a:ea typeface="Lato" panose="020F0502020204030203" pitchFamily="34" charset="-122"/>
                <a:cs typeface="Lato" panose="020F0502020204030203" pitchFamily="34" charset="-120"/>
              </a:rPr>
              <a:t>Código 10 · ProductoController (API REST)</a:t>
            </a:r>
            <a:endParaRPr lang="en-US" sz="1200" dirty="0"/>
          </a:p>
        </p:txBody>
      </p:sp>
      <p:sp>
        <p:nvSpPr>
          <p:cNvPr id="7" name="Text 5"/>
          <p:cNvSpPr/>
          <p:nvPr/>
        </p:nvSpPr>
        <p:spPr>
          <a:xfrm>
            <a:off x="990510" y="1909849"/>
            <a:ext cx="4944711" cy="2371965"/>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7DD3FC"/>
                </a:solidFill>
                <a:latin typeface="JetBrains Mono" panose="02000009000000000000" pitchFamily="49" charset="0"/>
                <a:ea typeface="JetBrains Mono" panose="02000009000000000000" pitchFamily="49" charset="-122"/>
                <a:cs typeface="JetBrains Mono" panose="02000009000000000000" pitchFamily="49" charset="-120"/>
              </a:rPr>
              <a:t>@PostMapping</a:t>
            </a:r>
            <a:endParaRPr lang="en-US" sz="1200" dirty="0"/>
          </a:p>
          <a:p>
            <a:pPr marL="0" indent="0" algn="l">
              <a:lnSpc>
                <a:spcPts val="1680"/>
              </a:lnSpc>
              <a:buNone/>
            </a:pPr>
            <a:r>
              <a:rPr lang="en-US" sz="1200" dirty="0">
                <a:solidFill>
                  <a:srgbClr val="FBBF24"/>
                </a:solidFill>
                <a:latin typeface="JetBrains Mono" panose="02000009000000000000" pitchFamily="49" charset="0"/>
                <a:ea typeface="JetBrains Mono" panose="02000009000000000000" pitchFamily="49" charset="-122"/>
                <a:cs typeface="JetBrains Mono" panose="02000009000000000000" pitchFamily="49" charset="-120"/>
              </a:rPr>
              <a:t>public</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ResponseEntity&lt;?&gt; crearProducto(</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a:t>
            </a:r>
            <a:r>
              <a:rPr lang="en-US" sz="1200" dirty="0">
                <a:solidFill>
                  <a:srgbClr val="7DD3FC"/>
                </a:solidFill>
                <a:latin typeface="JetBrains Mono" panose="02000009000000000000" pitchFamily="49" charset="0"/>
                <a:ea typeface="JetBrains Mono" panose="02000009000000000000" pitchFamily="49" charset="-122"/>
                <a:cs typeface="JetBrains Mono" panose="02000009000000000000" pitchFamily="49" charset="-120"/>
              </a:rPr>
              <a:t>@Valid</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a:t>
            </a:r>
            <a:r>
              <a:rPr lang="en-US" sz="1200" dirty="0">
                <a:solidFill>
                  <a:srgbClr val="7DD3FC"/>
                </a:solidFill>
                <a:latin typeface="JetBrains Mono" panose="02000009000000000000" pitchFamily="49" charset="0"/>
                <a:ea typeface="JetBrains Mono" panose="02000009000000000000" pitchFamily="49" charset="-122"/>
                <a:cs typeface="JetBrains Mono" panose="02000009000000000000" pitchFamily="49" charset="-120"/>
              </a:rPr>
              <a:t>@RequestBody</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Producto producto) {</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a:t>
            </a:r>
            <a:r>
              <a:rPr lang="en-US" sz="1200" dirty="0">
                <a:solidFill>
                  <a:srgbClr val="8E98AC"/>
                </a:solidFill>
                <a:latin typeface="JetBrains Mono" panose="02000009000000000000" pitchFamily="49" charset="0"/>
                <a:ea typeface="JetBrains Mono" panose="02000009000000000000" pitchFamily="49" charset="-122"/>
                <a:cs typeface="JetBrains Mono" panose="02000009000000000000" pitchFamily="49" charset="-120"/>
              </a:rPr>
              <a:t>// regla propia: nombre repetido</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a:t>
            </a:r>
            <a:r>
              <a:rPr lang="en-US" sz="1200" dirty="0">
                <a:solidFill>
                  <a:srgbClr val="FBBF24"/>
                </a:solidFill>
                <a:latin typeface="JetBrains Mono" panose="02000009000000000000" pitchFamily="49" charset="0"/>
                <a:ea typeface="JetBrains Mono" panose="02000009000000000000" pitchFamily="49" charset="-122"/>
                <a:cs typeface="JetBrains Mono" panose="02000009000000000000" pitchFamily="49" charset="-120"/>
              </a:rPr>
              <a:t>if</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(duplicado) {</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a:t>
            </a:r>
            <a:r>
              <a:rPr lang="en-US" sz="1200" dirty="0">
                <a:solidFill>
                  <a:srgbClr val="FBBF24"/>
                </a:solidFill>
                <a:latin typeface="JetBrains Mono" panose="02000009000000000000" pitchFamily="49" charset="0"/>
                <a:ea typeface="JetBrains Mono" panose="02000009000000000000" pitchFamily="49" charset="-122"/>
                <a:cs typeface="JetBrains Mono" panose="02000009000000000000" pitchFamily="49" charset="-120"/>
              </a:rPr>
              <a:t>return</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ResponseEntity.badRequest().body(</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a:t>
            </a:r>
            <a:r>
              <a:rPr lang="en-US" sz="1200" dirty="0">
                <a:solidFill>
                  <a:srgbClr val="A7F3D0"/>
                </a:solidFill>
                <a:latin typeface="JetBrains Mono" panose="02000009000000000000" pitchFamily="49" charset="0"/>
                <a:ea typeface="JetBrains Mono" panose="02000009000000000000" pitchFamily="49" charset="-122"/>
                <a:cs typeface="JetBrains Mono" panose="02000009000000000000" pitchFamily="49" charset="-120"/>
              </a:rPr>
              <a:t>"Error: ya está registrado…"</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a:t>
            </a:r>
            <a:r>
              <a:rPr lang="en-US" sz="1200" dirty="0">
                <a:solidFill>
                  <a:srgbClr val="FBBF24"/>
                </a:solidFill>
                <a:latin typeface="JetBrains Mono" panose="02000009000000000000" pitchFamily="49" charset="0"/>
                <a:ea typeface="JetBrains Mono" panose="02000009000000000000" pitchFamily="49" charset="-122"/>
                <a:cs typeface="JetBrains Mono" panose="02000009000000000000" pitchFamily="49" charset="-120"/>
              </a:rPr>
              <a:t>return</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ResponseEntity.ok(</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productoService.guardar(producto));</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a:t>
            </a:r>
            <a:endParaRPr lang="en-US" sz="1200" dirty="0"/>
          </a:p>
        </p:txBody>
      </p:sp>
      <p:sp>
        <p:nvSpPr>
          <p:cNvPr id="8" name="Shape 6"/>
          <p:cNvSpPr/>
          <p:nvPr/>
        </p:nvSpPr>
        <p:spPr>
          <a:xfrm>
            <a:off x="6222880" y="1467929"/>
            <a:ext cx="5156350" cy="3154213"/>
          </a:xfrm>
          <a:prstGeom prst="roundRect">
            <a:avLst>
              <a:gd name="adj" fmla="val 3221"/>
            </a:avLst>
          </a:prstGeom>
          <a:solidFill>
            <a:srgbClr val="161B26"/>
          </a:solidFill>
        </p:spPr>
        <p:txBody>
          <a:bodyPr/>
          <a:lstStyle/>
          <a:p>
            <a:endParaRPr lang="es-PE"/>
          </a:p>
        </p:txBody>
      </p:sp>
      <p:sp>
        <p:nvSpPr>
          <p:cNvPr id="9" name="Text 7"/>
          <p:cNvSpPr/>
          <p:nvPr/>
        </p:nvSpPr>
        <p:spPr>
          <a:xfrm>
            <a:off x="6400621" y="1620329"/>
            <a:ext cx="4944896" cy="238724"/>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FBBF24"/>
                </a:solidFill>
                <a:latin typeface="Lato" panose="020F0502020204030203" pitchFamily="34" charset="0"/>
                <a:ea typeface="Lato" panose="020F0502020204030203" pitchFamily="34" charset="-122"/>
                <a:cs typeface="Lato" panose="020F0502020204030203" pitchFamily="34" charset="-120"/>
              </a:rPr>
              <a:t>Código 11 · HomeController (panel web)</a:t>
            </a:r>
            <a:endParaRPr lang="en-US" sz="1200" dirty="0"/>
          </a:p>
        </p:txBody>
      </p:sp>
      <p:sp>
        <p:nvSpPr>
          <p:cNvPr id="10" name="Text 8"/>
          <p:cNvSpPr/>
          <p:nvPr/>
        </p:nvSpPr>
        <p:spPr>
          <a:xfrm>
            <a:off x="6400621" y="1909849"/>
            <a:ext cx="4944896" cy="2585289"/>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7DD3FC"/>
                </a:solidFill>
                <a:latin typeface="JetBrains Mono" panose="02000009000000000000" pitchFamily="49" charset="0"/>
                <a:ea typeface="JetBrains Mono" panose="02000009000000000000" pitchFamily="49" charset="-122"/>
                <a:cs typeface="JetBrains Mono" panose="02000009000000000000" pitchFamily="49" charset="-120"/>
              </a:rPr>
              <a:t>@PostMapping</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a:t>
            </a:r>
            <a:r>
              <a:rPr lang="en-US" sz="1200" dirty="0">
                <a:solidFill>
                  <a:srgbClr val="A7F3D0"/>
                </a:solidFill>
                <a:latin typeface="JetBrains Mono" panose="02000009000000000000" pitchFamily="49" charset="0"/>
                <a:ea typeface="JetBrains Mono" panose="02000009000000000000" pitchFamily="49" charset="-122"/>
                <a:cs typeface="JetBrains Mono" panose="02000009000000000000" pitchFamily="49" charset="-120"/>
              </a:rPr>
              <a:t>"/admin/productos/guardar"</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a:t>
            </a:r>
            <a:endParaRPr lang="en-US" sz="1200" dirty="0"/>
          </a:p>
          <a:p>
            <a:pPr marL="0" indent="0" algn="l">
              <a:lnSpc>
                <a:spcPts val="1680"/>
              </a:lnSpc>
              <a:buNone/>
            </a:pPr>
            <a:r>
              <a:rPr lang="en-US" sz="1200" dirty="0">
                <a:solidFill>
                  <a:srgbClr val="FBBF24"/>
                </a:solidFill>
                <a:latin typeface="JetBrains Mono" panose="02000009000000000000" pitchFamily="49" charset="0"/>
                <a:ea typeface="JetBrains Mono" panose="02000009000000000000" pitchFamily="49" charset="-122"/>
                <a:cs typeface="JetBrains Mono" panose="02000009000000000000" pitchFamily="49" charset="-120"/>
              </a:rPr>
              <a:t>public</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String guardarProductoDesdeWeb(</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a:t>
            </a:r>
            <a:r>
              <a:rPr lang="en-US" sz="1200" dirty="0">
                <a:solidFill>
                  <a:srgbClr val="7DD3FC"/>
                </a:solidFill>
                <a:latin typeface="JetBrains Mono" panose="02000009000000000000" pitchFamily="49" charset="0"/>
                <a:ea typeface="JetBrains Mono" panose="02000009000000000000" pitchFamily="49" charset="-122"/>
                <a:cs typeface="JetBrains Mono" panose="02000009000000000000" pitchFamily="49" charset="-120"/>
              </a:rPr>
              <a:t>@Valid</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a:t>
            </a:r>
            <a:r>
              <a:rPr lang="en-US" sz="1200" dirty="0">
                <a:solidFill>
                  <a:srgbClr val="7DD3FC"/>
                </a:solidFill>
                <a:latin typeface="JetBrains Mono" panose="02000009000000000000" pitchFamily="49" charset="0"/>
                <a:ea typeface="JetBrains Mono" panose="02000009000000000000" pitchFamily="49" charset="-122"/>
                <a:cs typeface="JetBrains Mono" panose="02000009000000000000" pitchFamily="49" charset="-120"/>
              </a:rPr>
              <a:t>@ModelAttribute</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a:t>
            </a:r>
            <a:r>
              <a:rPr lang="en-US" sz="1200" dirty="0">
                <a:solidFill>
                  <a:srgbClr val="A7F3D0"/>
                </a:solidFill>
                <a:latin typeface="JetBrains Mono" panose="02000009000000000000" pitchFamily="49" charset="0"/>
                <a:ea typeface="JetBrains Mono" panose="02000009000000000000" pitchFamily="49" charset="-122"/>
                <a:cs typeface="JetBrains Mono" panose="02000009000000000000" pitchFamily="49" charset="-120"/>
              </a:rPr>
              <a:t>"producto"</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Producto producto,</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a:t>
            </a:r>
            <a:r>
              <a:rPr lang="en-US" sz="1200" dirty="0">
                <a:solidFill>
                  <a:srgbClr val="7DD3FC"/>
                </a:solidFill>
                <a:latin typeface="JetBrains Mono" panose="02000009000000000000" pitchFamily="49" charset="0"/>
                <a:ea typeface="JetBrains Mono" panose="02000009000000000000" pitchFamily="49" charset="-122"/>
                <a:cs typeface="JetBrains Mono" panose="02000009000000000000" pitchFamily="49" charset="-120"/>
              </a:rPr>
              <a:t>BindingResult</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result, Model model) {</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a:t>
            </a:r>
            <a:r>
              <a:rPr lang="en-US" sz="1200" dirty="0">
                <a:solidFill>
                  <a:srgbClr val="8E98AC"/>
                </a:solidFill>
                <a:latin typeface="JetBrains Mono" panose="02000009000000000000" pitchFamily="49" charset="0"/>
                <a:ea typeface="JetBrains Mono" panose="02000009000000000000" pitchFamily="49" charset="-122"/>
                <a:cs typeface="JetBrains Mono" panose="02000009000000000000" pitchFamily="49" charset="-120"/>
              </a:rPr>
              <a:t>// duplicado: result.rejectValue(…)</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a:t>
            </a:r>
            <a:r>
              <a:rPr lang="en-US" sz="1200" dirty="0">
                <a:solidFill>
                  <a:srgbClr val="FBBF24"/>
                </a:solidFill>
                <a:latin typeface="JetBrains Mono" panose="02000009000000000000" pitchFamily="49" charset="0"/>
                <a:ea typeface="JetBrains Mono" panose="02000009000000000000" pitchFamily="49" charset="-122"/>
                <a:cs typeface="JetBrains Mono" panose="02000009000000000000" pitchFamily="49" charset="-120"/>
              </a:rPr>
              <a:t>if</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(result.hasErrors()) {</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a:t>
            </a:r>
            <a:r>
              <a:rPr lang="en-US" sz="1200" dirty="0">
                <a:solidFill>
                  <a:srgbClr val="FBBF24"/>
                </a:solidFill>
                <a:latin typeface="JetBrains Mono" panose="02000009000000000000" pitchFamily="49" charset="0"/>
                <a:ea typeface="JetBrains Mono" panose="02000009000000000000" pitchFamily="49" charset="-122"/>
                <a:cs typeface="JetBrains Mono" panose="02000009000000000000" pitchFamily="49" charset="-120"/>
              </a:rPr>
              <a:t>return</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a:t>
            </a:r>
            <a:r>
              <a:rPr lang="en-US" sz="1200" dirty="0">
                <a:solidFill>
                  <a:srgbClr val="A7F3D0"/>
                </a:solidFill>
                <a:latin typeface="JetBrains Mono" panose="02000009000000000000" pitchFamily="49" charset="0"/>
                <a:ea typeface="JetBrains Mono" panose="02000009000000000000" pitchFamily="49" charset="-122"/>
                <a:cs typeface="JetBrains Mono" panose="02000009000000000000" pitchFamily="49" charset="-120"/>
              </a:rPr>
              <a:t>"admin-productos"</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productoService.guardar(producto);</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a:t>
            </a:r>
            <a:r>
              <a:rPr lang="en-US" sz="1200" dirty="0">
                <a:solidFill>
                  <a:srgbClr val="FBBF24"/>
                </a:solidFill>
                <a:latin typeface="JetBrains Mono" panose="02000009000000000000" pitchFamily="49" charset="0"/>
                <a:ea typeface="JetBrains Mono" panose="02000009000000000000" pitchFamily="49" charset="-122"/>
                <a:cs typeface="JetBrains Mono" panose="02000009000000000000" pitchFamily="49" charset="-120"/>
              </a:rPr>
              <a:t>return</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a:t>
            </a:r>
            <a:r>
              <a:rPr lang="en-US" sz="1200" dirty="0">
                <a:solidFill>
                  <a:srgbClr val="A7F3D0"/>
                </a:solidFill>
                <a:latin typeface="JetBrains Mono" panose="02000009000000000000" pitchFamily="49" charset="0"/>
                <a:ea typeface="JetBrains Mono" panose="02000009000000000000" pitchFamily="49" charset="-122"/>
                <a:cs typeface="JetBrains Mono" panose="02000009000000000000" pitchFamily="49" charset="-120"/>
              </a:rPr>
              <a:t>"redirect:/ver-productos"</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a:t>
            </a:r>
            <a:endParaRPr lang="en-US" sz="1200" dirty="0"/>
          </a:p>
        </p:txBody>
      </p:sp>
      <p:sp>
        <p:nvSpPr>
          <p:cNvPr id="11" name="Text 9"/>
          <p:cNvSpPr/>
          <p:nvPr/>
        </p:nvSpPr>
        <p:spPr>
          <a:xfrm>
            <a:off x="815945" y="4803056"/>
            <a:ext cx="5213350" cy="628410"/>
          </a:xfrm>
          <a:prstGeom prst="roundRect">
            <a:avLst>
              <a:gd name="adj" fmla="val 11621"/>
            </a:avLst>
          </a:prstGeom>
          <a:solidFill>
            <a:srgbClr val="FDFCF9"/>
          </a:solidFill>
          <a:ln w="6350">
            <a:solidFill>
              <a:srgbClr val="DDD9CC"/>
            </a:solidFill>
            <a:prstDash val="solid"/>
          </a:ln>
        </p:spPr>
        <p:txBody>
          <a:bodyPr wrap="square" lIns="120888" tIns="70088" rIns="0" bIns="44688" rtlCol="0" anchor="t">
            <a:normAutofit/>
          </a:bodyPr>
          <a:lstStyle/>
          <a:p>
            <a:pPr marL="0" indent="0" algn="l">
              <a:lnSpc>
                <a:spcPts val="1755"/>
              </a:lnSpc>
              <a:buNone/>
            </a:pPr>
            <a:r>
              <a:rPr lang="en-US" sz="1300" b="1" dirty="0">
                <a:solidFill>
                  <a:srgbClr val="2B303B"/>
                </a:solidFill>
                <a:latin typeface="Lato" panose="020F0502020204030203" pitchFamily="34" charset="0"/>
                <a:ea typeface="Lato" panose="020F0502020204030203" pitchFamily="34" charset="-122"/>
                <a:cs typeface="Lato" panose="020F0502020204030203" pitchFamily="34" charset="-120"/>
              </a:rPr>
              <a:t>API REST:</a:t>
            </a:r>
            <a:r>
              <a:rPr lang="en-US" sz="1300" dirty="0">
                <a:solidFill>
                  <a:srgbClr val="2B303B"/>
                </a:solidFill>
                <a:latin typeface="Lato" panose="020F0502020204030203" pitchFamily="34" charset="0"/>
                <a:ea typeface="Lato" panose="020F0502020204030203" pitchFamily="34" charset="-122"/>
                <a:cs typeface="Lato" panose="020F0502020204030203" pitchFamily="34" charset="-120"/>
              </a:rPr>
              <a:t> @Valid en POST y PUT. Si los datos no cumplen, Spring responde 400 sin ejecutar el método.</a:t>
            </a:r>
            <a:endParaRPr lang="en-US" sz="1300" dirty="0"/>
          </a:p>
        </p:txBody>
      </p:sp>
      <p:sp>
        <p:nvSpPr>
          <p:cNvPr id="12" name="Text 10"/>
          <p:cNvSpPr/>
          <p:nvPr/>
        </p:nvSpPr>
        <p:spPr>
          <a:xfrm>
            <a:off x="6162615" y="4803056"/>
            <a:ext cx="5213440" cy="628410"/>
          </a:xfrm>
          <a:prstGeom prst="roundRect">
            <a:avLst>
              <a:gd name="adj" fmla="val 11621"/>
            </a:avLst>
          </a:prstGeom>
          <a:solidFill>
            <a:srgbClr val="FDFCF9"/>
          </a:solidFill>
          <a:ln w="6350">
            <a:solidFill>
              <a:srgbClr val="DDD9CC"/>
            </a:solidFill>
            <a:prstDash val="solid"/>
          </a:ln>
        </p:spPr>
        <p:txBody>
          <a:bodyPr wrap="square" lIns="120888" tIns="70088" rIns="0" bIns="44688" rtlCol="0" anchor="t">
            <a:normAutofit/>
          </a:bodyPr>
          <a:lstStyle/>
          <a:p>
            <a:pPr marL="0" indent="0" algn="l">
              <a:lnSpc>
                <a:spcPts val="1755"/>
              </a:lnSpc>
              <a:buNone/>
            </a:pPr>
            <a:r>
              <a:rPr lang="en-US" sz="1300" b="1" dirty="0">
                <a:solidFill>
                  <a:srgbClr val="2B303B"/>
                </a:solidFill>
                <a:latin typeface="Lato" panose="020F0502020204030203" pitchFamily="34" charset="0"/>
                <a:ea typeface="Lato" panose="020F0502020204030203" pitchFamily="34" charset="-122"/>
                <a:cs typeface="Lato" panose="020F0502020204030203" pitchFamily="34" charset="-120"/>
              </a:rPr>
              <a:t>Panel web:</a:t>
            </a:r>
            <a:r>
              <a:rPr lang="en-US" sz="1300" dirty="0">
                <a:solidFill>
                  <a:srgbClr val="2B303B"/>
                </a:solidFill>
                <a:latin typeface="Lato" panose="020F0502020204030203" pitchFamily="34" charset="0"/>
                <a:ea typeface="Lato" panose="020F0502020204030203" pitchFamily="34" charset="-122"/>
                <a:cs typeface="Lato" panose="020F0502020204030203" pitchFamily="34" charset="-120"/>
              </a:rPr>
              <a:t> @Valid más BindingResult. Con errores no se guarda y se vuelve al formulario con los mensajes.</a:t>
            </a:r>
            <a:endParaRPr lang="en-US" sz="1300" dirty="0"/>
          </a:p>
        </p:txBody>
      </p:sp>
      <p:sp>
        <p:nvSpPr>
          <p:cNvPr id="13" name="Text 11"/>
          <p:cNvSpPr/>
          <p:nvPr/>
        </p:nvSpPr>
        <p:spPr>
          <a:xfrm>
            <a:off x="812770" y="6238342"/>
            <a:ext cx="7325299" cy="238724"/>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596070"/>
                </a:solidFill>
                <a:latin typeface="Lato" panose="020F0502020204030203" pitchFamily="34" charset="0"/>
                <a:ea typeface="Lato" panose="020F0502020204030203" pitchFamily="34" charset="-122"/>
                <a:cs typeface="Lato" panose="020F0502020204030203" pitchFamily="34" charset="-120"/>
              </a:rPr>
              <a:t>LINKSPORT · AVANCE 03 · Informe final, sección 3.6 b), códigos 10 y 11</a:t>
            </a:r>
            <a:endParaRPr lang="en-US" sz="1200" dirty="0"/>
          </a:p>
        </p:txBody>
      </p:sp>
      <p:sp>
        <p:nvSpPr>
          <p:cNvPr id="14" name="Text 12"/>
          <p:cNvSpPr/>
          <p:nvPr/>
        </p:nvSpPr>
        <p:spPr>
          <a:xfrm>
            <a:off x="8108921" y="6238342"/>
            <a:ext cx="3270219" cy="238724"/>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596070"/>
                </a:solidFill>
                <a:latin typeface="Lato" panose="020F0502020204030203" pitchFamily="34" charset="0"/>
                <a:ea typeface="Lato" panose="020F0502020204030203" pitchFamily="34" charset="-122"/>
                <a:cs typeface="Lato" panose="020F0502020204030203" pitchFamily="34" charset="-120"/>
              </a:rPr>
              <a:t>Expone: Jean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12770" y="690835"/>
            <a:ext cx="355570" cy="50770"/>
          </a:xfrm>
          <a:prstGeom prst="rect">
            <a:avLst/>
          </a:prstGeom>
          <a:solidFill>
            <a:srgbClr val="FBBF24"/>
          </a:solidFill>
        </p:spPr>
        <p:txBody>
          <a:bodyPr/>
          <a:lstStyle/>
          <a:p>
            <a:endParaRPr lang="es-PE"/>
          </a:p>
        </p:txBody>
      </p:sp>
      <p:sp>
        <p:nvSpPr>
          <p:cNvPr id="3" name="Text 1"/>
          <p:cNvSpPr/>
          <p:nvPr/>
        </p:nvSpPr>
        <p:spPr>
          <a:xfrm>
            <a:off x="1269880" y="609600"/>
            <a:ext cx="4307277" cy="238724"/>
          </a:xfrm>
          <a:prstGeom prst="rect">
            <a:avLst/>
          </a:prstGeom>
          <a:noFill/>
        </p:spPr>
        <p:txBody>
          <a:bodyPr wrap="square" lIns="0" tIns="0" rIns="0" bIns="0" rtlCol="0" anchor="t">
            <a:normAutofit/>
          </a:bodyPr>
          <a:lstStyle/>
          <a:p>
            <a:pPr marL="0" indent="0" algn="l">
              <a:lnSpc>
                <a:spcPts val="1680"/>
              </a:lnSpc>
              <a:buNone/>
            </a:pPr>
            <a:r>
              <a:rPr lang="en-US" sz="1200" b="1" kern="0" spc="100" dirty="0">
                <a:solidFill>
                  <a:srgbClr val="596070"/>
                </a:solidFill>
                <a:latin typeface="Lato" panose="020F0502020204030203" pitchFamily="34" charset="0"/>
                <a:ea typeface="Lato" panose="020F0502020204030203" pitchFamily="34" charset="-122"/>
                <a:cs typeface="Lato" panose="020F0502020204030203" pitchFamily="34" charset="-120"/>
              </a:rPr>
              <a:t>CAPÍTULO 3 / 3.7 FRAMEWORK FRONT-END</a:t>
            </a:r>
            <a:endParaRPr lang="en-US" sz="1200" dirty="0"/>
          </a:p>
        </p:txBody>
      </p:sp>
      <p:sp>
        <p:nvSpPr>
          <p:cNvPr id="4" name="Text 2"/>
          <p:cNvSpPr>
            <a:spLocks noGrp="1"/>
          </p:cNvSpPr>
          <p:nvPr>
            <p:ph type="title"/>
          </p:nvPr>
        </p:nvSpPr>
        <p:spPr>
          <a:xfrm>
            <a:off x="812770" y="899120"/>
            <a:ext cx="10883453" cy="416464"/>
          </a:xfrm>
          <a:prstGeom prst="rect">
            <a:avLst/>
          </a:prstGeom>
          <a:noFill/>
        </p:spPr>
        <p:txBody>
          <a:bodyPr wrap="square" lIns="0" tIns="0" rIns="0" bIns="0" rtlCol="0" anchor="t">
            <a:normAutofit/>
          </a:bodyPr>
          <a:lstStyle/>
          <a:p>
            <a:pPr marL="0" indent="0" algn="l">
              <a:lnSpc>
                <a:spcPts val="3080"/>
              </a:lnSpc>
              <a:buNone/>
            </a:pPr>
            <a:r>
              <a:rPr lang="en-US" sz="2800" b="1" i="0" dirty="0">
                <a:solidFill>
                  <a:srgbClr val="1E222B"/>
                </a:solidFill>
                <a:latin typeface="Lato" panose="020F0502020204030203" pitchFamily="34" charset="0"/>
                <a:ea typeface="Lato" panose="020F0502020204030203" pitchFamily="34" charset="-122"/>
                <a:cs typeface="Lato" panose="020F0502020204030203" pitchFamily="34" charset="-120"/>
              </a:rPr>
              <a:t>Thymeleaf, Bulma y JavaScript</a:t>
            </a:r>
            <a:endParaRPr lang="en-US" sz="2800" dirty="0"/>
          </a:p>
        </p:txBody>
      </p:sp>
      <p:sp>
        <p:nvSpPr>
          <p:cNvPr id="5" name="Shape 3"/>
          <p:cNvSpPr/>
          <p:nvPr/>
        </p:nvSpPr>
        <p:spPr>
          <a:xfrm>
            <a:off x="812770" y="1467929"/>
            <a:ext cx="3936970" cy="2952750"/>
          </a:xfrm>
          <a:prstGeom prst="roundRect">
            <a:avLst>
              <a:gd name="adj" fmla="val 2581"/>
            </a:avLst>
          </a:prstGeom>
          <a:solidFill>
            <a:srgbClr val="FDFCF9"/>
          </a:solidFill>
        </p:spPr>
        <p:txBody>
          <a:bodyPr/>
          <a:lstStyle/>
          <a:p>
            <a:endParaRPr lang="es-PE"/>
          </a:p>
        </p:txBody>
      </p:sp>
      <p:pic>
        <p:nvPicPr>
          <p:cNvPr id="6" name="Image 0" descr="Sección Lo más vendido y colección Running generadas desde la base de datos"/>
          <p:cNvPicPr>
            <a:picLocks noChangeAspect="1"/>
          </p:cNvPicPr>
          <p:nvPr/>
        </p:nvPicPr>
        <p:blipFill>
          <a:blip r:embed="rId1"/>
          <a:srcRect l="-54" r="-54"/>
          <a:stretch>
            <a:fillRect/>
          </a:stretch>
        </p:blipFill>
        <p:spPr>
          <a:xfrm>
            <a:off x="561975" y="1536700"/>
            <a:ext cx="4173220" cy="3126740"/>
          </a:xfrm>
          <a:prstGeom prst="roundRect">
            <a:avLst>
              <a:gd name="adj" fmla="val 2376"/>
            </a:avLst>
          </a:prstGeom>
        </p:spPr>
      </p:pic>
      <p:sp>
        <p:nvSpPr>
          <p:cNvPr id="7" name="Shape 4"/>
          <p:cNvSpPr/>
          <p:nvPr/>
        </p:nvSpPr>
        <p:spPr>
          <a:xfrm>
            <a:off x="456565" y="1471295"/>
            <a:ext cx="4390390" cy="3251200"/>
          </a:xfrm>
          <a:prstGeom prst="roundRect">
            <a:avLst>
              <a:gd name="adj" fmla="val 2478"/>
            </a:avLst>
          </a:prstGeom>
          <a:noFill/>
          <a:ln w="6350">
            <a:solidFill>
              <a:srgbClr val="DDD9CC"/>
            </a:solidFill>
            <a:prstDash val="solid"/>
          </a:ln>
        </p:spPr>
        <p:txBody>
          <a:bodyPr/>
          <a:lstStyle/>
          <a:p>
            <a:endParaRPr lang="es-PE"/>
          </a:p>
        </p:txBody>
      </p:sp>
      <p:sp>
        <p:nvSpPr>
          <p:cNvPr id="9" name="Shape 6"/>
          <p:cNvSpPr/>
          <p:nvPr/>
        </p:nvSpPr>
        <p:spPr>
          <a:xfrm>
            <a:off x="5006855" y="1471104"/>
            <a:ext cx="3117940" cy="1226419"/>
          </a:xfrm>
          <a:prstGeom prst="roundRect">
            <a:avLst>
              <a:gd name="adj" fmla="val 8025"/>
            </a:avLst>
          </a:prstGeom>
          <a:solidFill>
            <a:srgbClr val="FDFCF9"/>
          </a:solidFill>
          <a:ln w="6350">
            <a:solidFill>
              <a:srgbClr val="DDD9CC"/>
            </a:solidFill>
            <a:prstDash val="solid"/>
          </a:ln>
        </p:spPr>
        <p:txBody>
          <a:bodyPr/>
          <a:lstStyle/>
          <a:p>
            <a:endParaRPr lang="es-PE"/>
          </a:p>
        </p:txBody>
      </p:sp>
      <p:sp>
        <p:nvSpPr>
          <p:cNvPr id="10" name="Text 7"/>
          <p:cNvSpPr/>
          <p:nvPr/>
        </p:nvSpPr>
        <p:spPr>
          <a:xfrm>
            <a:off x="5161831" y="1600646"/>
            <a:ext cx="2892228" cy="273679"/>
          </a:xfrm>
          <a:prstGeom prst="rect">
            <a:avLst/>
          </a:prstGeom>
          <a:noFill/>
        </p:spPr>
        <p:txBody>
          <a:bodyPr wrap="square" lIns="0" tIns="0" rIns="0" bIns="0" rtlCol="0" anchor="t">
            <a:normAutofit/>
          </a:bodyPr>
          <a:lstStyle/>
          <a:p>
            <a:pPr marL="0" indent="0" algn="l">
              <a:lnSpc>
                <a:spcPts val="1955"/>
              </a:lnSpc>
              <a:buNone/>
            </a:pPr>
            <a:r>
              <a:rPr lang="en-US" sz="1700" b="1" dirty="0">
                <a:solidFill>
                  <a:srgbClr val="1E222B"/>
                </a:solidFill>
                <a:latin typeface="Lato" panose="020F0502020204030203" pitchFamily="34" charset="0"/>
                <a:ea typeface="Lato" panose="020F0502020204030203" pitchFamily="34" charset="-122"/>
                <a:cs typeface="Lato" panose="020F0502020204030203" pitchFamily="34" charset="-120"/>
              </a:rPr>
              <a:t>Thymeleaf</a:t>
            </a:r>
            <a:endParaRPr lang="en-US" sz="1700" dirty="0"/>
          </a:p>
        </p:txBody>
      </p:sp>
      <p:sp>
        <p:nvSpPr>
          <p:cNvPr id="11" name="Text 8"/>
          <p:cNvSpPr/>
          <p:nvPr/>
        </p:nvSpPr>
        <p:spPr>
          <a:xfrm>
            <a:off x="5161831" y="1899704"/>
            <a:ext cx="2892228" cy="693678"/>
          </a:xfrm>
          <a:prstGeom prst="rect">
            <a:avLst/>
          </a:prstGeom>
          <a:noFill/>
        </p:spPr>
        <p:txBody>
          <a:bodyPr wrap="square" lIns="0" tIns="0" rIns="0" bIns="0" rtlCol="0" anchor="t">
            <a:normAutofit/>
          </a:bodyPr>
          <a:lstStyle/>
          <a:p>
            <a:pPr marL="0" indent="0" algn="l">
              <a:lnSpc>
                <a:spcPts val="1755"/>
              </a:lnSpc>
              <a:buNone/>
            </a:pPr>
            <a:r>
              <a:rPr lang="en-US" sz="1300" dirty="0">
                <a:solidFill>
                  <a:srgbClr val="2B303B"/>
                </a:solidFill>
                <a:latin typeface="Lato" panose="020F0502020204030203" pitchFamily="34" charset="0"/>
                <a:ea typeface="Lato" panose="020F0502020204030203" pitchFamily="34" charset="-122"/>
                <a:cs typeface="Lato" panose="020F0502020204030203" pitchFamily="34" charset="-120"/>
              </a:rPr>
              <a:t>Genera las tarjetas con th:each y th:text y enlaza el formulario con th:field.</a:t>
            </a:r>
            <a:endParaRPr lang="en-US" sz="1300" dirty="0"/>
          </a:p>
        </p:txBody>
      </p:sp>
      <p:sp>
        <p:nvSpPr>
          <p:cNvPr id="12" name="Shape 9"/>
          <p:cNvSpPr/>
          <p:nvPr/>
        </p:nvSpPr>
        <p:spPr>
          <a:xfrm>
            <a:off x="8258115" y="1471104"/>
            <a:ext cx="3117940" cy="1226419"/>
          </a:xfrm>
          <a:prstGeom prst="roundRect">
            <a:avLst>
              <a:gd name="adj" fmla="val 8025"/>
            </a:avLst>
          </a:prstGeom>
          <a:solidFill>
            <a:srgbClr val="FDFCF9"/>
          </a:solidFill>
          <a:ln w="6350">
            <a:solidFill>
              <a:srgbClr val="DDD9CC"/>
            </a:solidFill>
            <a:prstDash val="solid"/>
          </a:ln>
        </p:spPr>
        <p:txBody>
          <a:bodyPr/>
          <a:lstStyle/>
          <a:p>
            <a:endParaRPr lang="es-PE"/>
          </a:p>
        </p:txBody>
      </p:sp>
      <p:sp>
        <p:nvSpPr>
          <p:cNvPr id="13" name="Text 10"/>
          <p:cNvSpPr/>
          <p:nvPr/>
        </p:nvSpPr>
        <p:spPr>
          <a:xfrm>
            <a:off x="8413091" y="1600646"/>
            <a:ext cx="2892228" cy="273679"/>
          </a:xfrm>
          <a:prstGeom prst="rect">
            <a:avLst/>
          </a:prstGeom>
          <a:noFill/>
        </p:spPr>
        <p:txBody>
          <a:bodyPr wrap="square" lIns="0" tIns="0" rIns="0" bIns="0" rtlCol="0" anchor="t">
            <a:normAutofit/>
          </a:bodyPr>
          <a:lstStyle/>
          <a:p>
            <a:pPr marL="0" indent="0" algn="l">
              <a:lnSpc>
                <a:spcPts val="1955"/>
              </a:lnSpc>
              <a:buNone/>
            </a:pPr>
            <a:r>
              <a:rPr lang="en-US" sz="1700" b="1" dirty="0">
                <a:solidFill>
                  <a:srgbClr val="1E222B"/>
                </a:solidFill>
                <a:latin typeface="Lato" panose="020F0502020204030203" pitchFamily="34" charset="0"/>
                <a:ea typeface="Lato" panose="020F0502020204030203" pitchFamily="34" charset="-122"/>
                <a:cs typeface="Lato" panose="020F0502020204030203" pitchFamily="34" charset="-120"/>
              </a:rPr>
              <a:t>Bulma 1.0.4</a:t>
            </a:r>
            <a:endParaRPr lang="en-US" sz="1700" dirty="0"/>
          </a:p>
        </p:txBody>
      </p:sp>
      <p:sp>
        <p:nvSpPr>
          <p:cNvPr id="14" name="Text 11"/>
          <p:cNvSpPr/>
          <p:nvPr/>
        </p:nvSpPr>
        <p:spPr>
          <a:xfrm>
            <a:off x="8413091" y="1899704"/>
            <a:ext cx="2892228" cy="470918"/>
          </a:xfrm>
          <a:prstGeom prst="rect">
            <a:avLst/>
          </a:prstGeom>
          <a:noFill/>
        </p:spPr>
        <p:txBody>
          <a:bodyPr wrap="square" lIns="0" tIns="0" rIns="0" bIns="0" rtlCol="0" anchor="t">
            <a:normAutofit/>
          </a:bodyPr>
          <a:lstStyle/>
          <a:p>
            <a:pPr marL="0" indent="0" algn="l">
              <a:lnSpc>
                <a:spcPts val="1755"/>
              </a:lnSpc>
              <a:buNone/>
            </a:pPr>
            <a:r>
              <a:rPr lang="en-US" sz="1300" dirty="0">
                <a:solidFill>
                  <a:srgbClr val="2B303B"/>
                </a:solidFill>
                <a:latin typeface="Lato" panose="020F0502020204030203" pitchFamily="34" charset="0"/>
                <a:ea typeface="Lato" panose="020F0502020204030203" pitchFamily="34" charset="-122"/>
                <a:cs typeface="Lato" panose="020F0502020204030203" pitchFamily="34" charset="-120"/>
              </a:rPr>
              <a:t>Alternativa a Bootstrap: columnas Flexbox, navbar, card, tabla y modal.</a:t>
            </a:r>
            <a:endParaRPr lang="en-US" sz="1300" dirty="0"/>
          </a:p>
        </p:txBody>
      </p:sp>
      <p:sp>
        <p:nvSpPr>
          <p:cNvPr id="15" name="Shape 12"/>
          <p:cNvSpPr/>
          <p:nvPr/>
        </p:nvSpPr>
        <p:spPr>
          <a:xfrm>
            <a:off x="5006855" y="2830847"/>
            <a:ext cx="3117940" cy="1003659"/>
          </a:xfrm>
          <a:prstGeom prst="roundRect">
            <a:avLst>
              <a:gd name="adj" fmla="val 9807"/>
            </a:avLst>
          </a:prstGeom>
          <a:solidFill>
            <a:srgbClr val="FDFCF9"/>
          </a:solidFill>
          <a:ln w="6350">
            <a:solidFill>
              <a:srgbClr val="DDD9CC"/>
            </a:solidFill>
            <a:prstDash val="solid"/>
          </a:ln>
        </p:spPr>
        <p:txBody>
          <a:bodyPr/>
          <a:lstStyle/>
          <a:p>
            <a:endParaRPr lang="es-PE"/>
          </a:p>
        </p:txBody>
      </p:sp>
      <p:sp>
        <p:nvSpPr>
          <p:cNvPr id="16" name="Text 13"/>
          <p:cNvSpPr/>
          <p:nvPr/>
        </p:nvSpPr>
        <p:spPr>
          <a:xfrm>
            <a:off x="5161831" y="2960390"/>
            <a:ext cx="2892228" cy="273679"/>
          </a:xfrm>
          <a:prstGeom prst="rect">
            <a:avLst/>
          </a:prstGeom>
          <a:noFill/>
        </p:spPr>
        <p:txBody>
          <a:bodyPr wrap="square" lIns="0" tIns="0" rIns="0" bIns="0" rtlCol="0" anchor="t">
            <a:normAutofit/>
          </a:bodyPr>
          <a:lstStyle/>
          <a:p>
            <a:pPr marL="0" indent="0" algn="l">
              <a:lnSpc>
                <a:spcPts val="1955"/>
              </a:lnSpc>
              <a:buNone/>
            </a:pPr>
            <a:r>
              <a:rPr lang="en-US" sz="1700" b="1" dirty="0">
                <a:solidFill>
                  <a:srgbClr val="1E222B"/>
                </a:solidFill>
                <a:latin typeface="Lato" panose="020F0502020204030203" pitchFamily="34" charset="0"/>
                <a:ea typeface="Lato" panose="020F0502020204030203" pitchFamily="34" charset="-122"/>
                <a:cs typeface="Lato" panose="020F0502020204030203" pitchFamily="34" charset="-120"/>
              </a:rPr>
              <a:t>JavaScript</a:t>
            </a:r>
            <a:endParaRPr lang="en-US" sz="1700" dirty="0"/>
          </a:p>
        </p:txBody>
      </p:sp>
      <p:sp>
        <p:nvSpPr>
          <p:cNvPr id="17" name="Text 14"/>
          <p:cNvSpPr/>
          <p:nvPr/>
        </p:nvSpPr>
        <p:spPr>
          <a:xfrm>
            <a:off x="5161831" y="3259435"/>
            <a:ext cx="2892228" cy="470918"/>
          </a:xfrm>
          <a:prstGeom prst="rect">
            <a:avLst/>
          </a:prstGeom>
          <a:noFill/>
        </p:spPr>
        <p:txBody>
          <a:bodyPr wrap="square" lIns="0" tIns="0" rIns="0" bIns="0" rtlCol="0" anchor="t">
            <a:normAutofit/>
          </a:bodyPr>
          <a:lstStyle/>
          <a:p>
            <a:pPr marL="0" indent="0" algn="l">
              <a:lnSpc>
                <a:spcPts val="1755"/>
              </a:lnSpc>
              <a:buNone/>
            </a:pPr>
            <a:r>
              <a:rPr lang="en-US" sz="1300" dirty="0">
                <a:solidFill>
                  <a:srgbClr val="2B303B"/>
                </a:solidFill>
                <a:latin typeface="Lato" panose="020F0502020204030203" pitchFamily="34" charset="0"/>
                <a:ea typeface="Lato" panose="020F0502020204030203" pitchFamily="34" charset="-122"/>
                <a:cs typeface="Lato" panose="020F0502020204030203" pitchFamily="34" charset="-120"/>
              </a:rPr>
              <a:t>script.js controla carrusel, modales, carrito y el envío de la compra.</a:t>
            </a:r>
            <a:endParaRPr lang="en-US" sz="1300" dirty="0"/>
          </a:p>
        </p:txBody>
      </p:sp>
      <p:sp>
        <p:nvSpPr>
          <p:cNvPr id="18" name="Shape 15"/>
          <p:cNvSpPr/>
          <p:nvPr/>
        </p:nvSpPr>
        <p:spPr>
          <a:xfrm>
            <a:off x="8258115" y="2830847"/>
            <a:ext cx="3117940" cy="1003659"/>
          </a:xfrm>
          <a:prstGeom prst="roundRect">
            <a:avLst>
              <a:gd name="adj" fmla="val 9807"/>
            </a:avLst>
          </a:prstGeom>
          <a:solidFill>
            <a:srgbClr val="FDFCF9"/>
          </a:solidFill>
          <a:ln w="6350">
            <a:solidFill>
              <a:srgbClr val="DDD9CC"/>
            </a:solidFill>
            <a:prstDash val="solid"/>
          </a:ln>
        </p:spPr>
        <p:txBody>
          <a:bodyPr/>
          <a:lstStyle/>
          <a:p>
            <a:endParaRPr lang="es-PE"/>
          </a:p>
        </p:txBody>
      </p:sp>
      <p:sp>
        <p:nvSpPr>
          <p:cNvPr id="19" name="Text 16"/>
          <p:cNvSpPr/>
          <p:nvPr/>
        </p:nvSpPr>
        <p:spPr>
          <a:xfrm>
            <a:off x="8413091" y="2960390"/>
            <a:ext cx="2892228" cy="273679"/>
          </a:xfrm>
          <a:prstGeom prst="rect">
            <a:avLst/>
          </a:prstGeom>
          <a:noFill/>
        </p:spPr>
        <p:txBody>
          <a:bodyPr wrap="square" lIns="0" tIns="0" rIns="0" bIns="0" rtlCol="0" anchor="t">
            <a:normAutofit/>
          </a:bodyPr>
          <a:lstStyle/>
          <a:p>
            <a:pPr marL="0" indent="0" algn="l">
              <a:lnSpc>
                <a:spcPts val="1955"/>
              </a:lnSpc>
              <a:buNone/>
            </a:pPr>
            <a:r>
              <a:rPr lang="en-US" sz="1700" b="1" dirty="0">
                <a:solidFill>
                  <a:srgbClr val="1E222B"/>
                </a:solidFill>
                <a:latin typeface="Lato" panose="020F0502020204030203" pitchFamily="34" charset="0"/>
                <a:ea typeface="Lato" panose="020F0502020204030203" pitchFamily="34" charset="-122"/>
                <a:cs typeface="Lato" panose="020F0502020204030203" pitchFamily="34" charset="-120"/>
              </a:rPr>
              <a:t>Responsivo</a:t>
            </a:r>
            <a:endParaRPr lang="en-US" sz="1700" dirty="0"/>
          </a:p>
        </p:txBody>
      </p:sp>
      <p:sp>
        <p:nvSpPr>
          <p:cNvPr id="20" name="Text 17"/>
          <p:cNvSpPr/>
          <p:nvPr/>
        </p:nvSpPr>
        <p:spPr>
          <a:xfrm>
            <a:off x="8413091" y="3259435"/>
            <a:ext cx="2892228" cy="470918"/>
          </a:xfrm>
          <a:prstGeom prst="rect">
            <a:avLst/>
          </a:prstGeom>
          <a:noFill/>
        </p:spPr>
        <p:txBody>
          <a:bodyPr wrap="square" lIns="0" tIns="0" rIns="0" bIns="0" rtlCol="0" anchor="t">
            <a:normAutofit/>
          </a:bodyPr>
          <a:lstStyle/>
          <a:p>
            <a:pPr marL="0" indent="0" algn="l">
              <a:lnSpc>
                <a:spcPts val="1755"/>
              </a:lnSpc>
              <a:buNone/>
            </a:pPr>
            <a:r>
              <a:rPr lang="en-US" sz="1300" dirty="0">
                <a:solidFill>
                  <a:srgbClr val="2B303B"/>
                </a:solidFill>
                <a:latin typeface="Lato" panose="020F0502020204030203" pitchFamily="34" charset="0"/>
                <a:ea typeface="Lato" panose="020F0502020204030203" pitchFamily="34" charset="-122"/>
                <a:cs typeface="Lato" panose="020F0502020204030203" pitchFamily="34" charset="-120"/>
              </a:rPr>
              <a:t>Cuatro productos por fila en pantallas medianas y una columna en móviles.</a:t>
            </a:r>
            <a:endParaRPr lang="en-US" sz="1300" dirty="0"/>
          </a:p>
        </p:txBody>
      </p:sp>
      <p:sp>
        <p:nvSpPr>
          <p:cNvPr id="21" name="Text 18"/>
          <p:cNvSpPr/>
          <p:nvPr/>
        </p:nvSpPr>
        <p:spPr>
          <a:xfrm>
            <a:off x="815945" y="5076403"/>
            <a:ext cx="10560110" cy="628410"/>
          </a:xfrm>
          <a:prstGeom prst="roundRect">
            <a:avLst>
              <a:gd name="adj" fmla="val 11621"/>
            </a:avLst>
          </a:prstGeom>
          <a:solidFill>
            <a:srgbClr val="FDFCF9"/>
          </a:solidFill>
          <a:ln w="6350">
            <a:solidFill>
              <a:srgbClr val="DDD9CC"/>
            </a:solidFill>
            <a:prstDash val="solid"/>
          </a:ln>
        </p:spPr>
        <p:txBody>
          <a:bodyPr wrap="square" lIns="120888" tIns="70088" rIns="0" bIns="44688" rtlCol="0" anchor="t">
            <a:normAutofit/>
          </a:bodyPr>
          <a:lstStyle/>
          <a:p>
            <a:pPr marL="0" indent="0" algn="l">
              <a:lnSpc>
                <a:spcPts val="1755"/>
              </a:lnSpc>
              <a:buNone/>
            </a:pPr>
            <a:r>
              <a:rPr lang="en-US" sz="1300" dirty="0">
                <a:solidFill>
                  <a:srgbClr val="2B303B"/>
                </a:solidFill>
                <a:latin typeface="Lato" panose="020F0502020204030203" pitchFamily="34" charset="0"/>
                <a:ea typeface="Lato" panose="020F0502020204030203" pitchFamily="34" charset="-122"/>
                <a:cs typeface="Lato" panose="020F0502020204030203" pitchFamily="34" charset="-120"/>
              </a:rPr>
              <a:t>Bulma es solo CSS: por eso el comportamiento interactivo se programó en JavaScript. Las vistas usan HTML5 semántico (header, nav, main, section y footer).</a:t>
            </a:r>
            <a:endParaRPr lang="en-US" sz="1300" dirty="0"/>
          </a:p>
        </p:txBody>
      </p:sp>
      <p:sp>
        <p:nvSpPr>
          <p:cNvPr id="22" name="Text 19"/>
          <p:cNvSpPr/>
          <p:nvPr/>
        </p:nvSpPr>
        <p:spPr>
          <a:xfrm>
            <a:off x="812770" y="6238342"/>
            <a:ext cx="7325299" cy="238724"/>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596070"/>
                </a:solidFill>
                <a:latin typeface="Lato" panose="020F0502020204030203" pitchFamily="34" charset="0"/>
                <a:ea typeface="Lato" panose="020F0502020204030203" pitchFamily="34" charset="-122"/>
                <a:cs typeface="Lato" panose="020F0502020204030203" pitchFamily="34" charset="-120"/>
              </a:rPr>
              <a:t>LINKSPORT · AVANCE 03 · Informe final, sección 3.7 y figura 13 (Bulma, 2025; Marcotte, 2011)</a:t>
            </a:r>
            <a:endParaRPr lang="en-US" sz="1200" dirty="0"/>
          </a:p>
        </p:txBody>
      </p:sp>
      <p:sp>
        <p:nvSpPr>
          <p:cNvPr id="23" name="Text 20"/>
          <p:cNvSpPr/>
          <p:nvPr/>
        </p:nvSpPr>
        <p:spPr>
          <a:xfrm>
            <a:off x="8108921" y="6238342"/>
            <a:ext cx="3270219" cy="238724"/>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596070"/>
                </a:solidFill>
                <a:latin typeface="Lato" panose="020F0502020204030203" pitchFamily="34" charset="0"/>
                <a:ea typeface="Lato" panose="020F0502020204030203" pitchFamily="34" charset="-122"/>
                <a:cs typeface="Lato" panose="020F0502020204030203" pitchFamily="34" charset="-120"/>
              </a:rPr>
              <a:t>Expone: Jose· 19</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5F1"/>
        </a:solidFill>
        <a:effectLst/>
      </p:bgPr>
    </p:bg>
    <p:spTree>
      <p:nvGrpSpPr>
        <p:cNvPr id="1" name=""/>
        <p:cNvGrpSpPr/>
        <p:nvPr/>
      </p:nvGrpSpPr>
      <p:grpSpPr>
        <a:xfrm>
          <a:off x="0" y="0"/>
          <a:ext cx="0" cy="0"/>
          <a:chOff x="0" y="0"/>
          <a:chExt cx="0" cy="0"/>
        </a:xfrm>
      </p:grpSpPr>
      <p:sp>
        <p:nvSpPr>
          <p:cNvPr id="2" name="Shape 0"/>
          <p:cNvSpPr/>
          <p:nvPr/>
        </p:nvSpPr>
        <p:spPr>
          <a:xfrm>
            <a:off x="812770" y="690835"/>
            <a:ext cx="355570" cy="50770"/>
          </a:xfrm>
          <a:prstGeom prst="rect">
            <a:avLst/>
          </a:prstGeom>
          <a:solidFill>
            <a:srgbClr val="FBBF24"/>
          </a:solidFill>
        </p:spPr>
        <p:txBody>
          <a:bodyPr/>
          <a:lstStyle/>
          <a:p>
            <a:endParaRPr lang="es-PE"/>
          </a:p>
        </p:txBody>
      </p:sp>
      <p:sp>
        <p:nvSpPr>
          <p:cNvPr id="3" name="Text 1"/>
          <p:cNvSpPr/>
          <p:nvPr/>
        </p:nvSpPr>
        <p:spPr>
          <a:xfrm>
            <a:off x="1269880" y="609600"/>
            <a:ext cx="3944968" cy="238724"/>
          </a:xfrm>
          <a:prstGeom prst="rect">
            <a:avLst/>
          </a:prstGeom>
          <a:noFill/>
        </p:spPr>
        <p:txBody>
          <a:bodyPr wrap="square" lIns="0" tIns="0" rIns="0" bIns="0" rtlCol="0" anchor="t">
            <a:normAutofit/>
          </a:bodyPr>
          <a:lstStyle/>
          <a:p>
            <a:pPr marL="0" indent="0" algn="l">
              <a:lnSpc>
                <a:spcPts val="1680"/>
              </a:lnSpc>
              <a:buNone/>
            </a:pPr>
            <a:r>
              <a:rPr lang="en-US" sz="1200" b="1" kern="0" spc="100" dirty="0">
                <a:solidFill>
                  <a:srgbClr val="596070"/>
                </a:solidFill>
                <a:latin typeface="Lato" panose="020F0502020204030203" pitchFamily="34" charset="0"/>
                <a:ea typeface="Lato" panose="020F0502020204030203" pitchFamily="34" charset="-122"/>
                <a:cs typeface="Lato" panose="020F0502020204030203" pitchFamily="34" charset="-120"/>
              </a:rPr>
              <a:t>CAPÍTULO 3 / 3.4 Y 3.7 FLUJO DE VENTA</a:t>
            </a:r>
            <a:endParaRPr lang="en-US" sz="1200" dirty="0"/>
          </a:p>
        </p:txBody>
      </p:sp>
      <p:sp>
        <p:nvSpPr>
          <p:cNvPr id="4" name="Text 2"/>
          <p:cNvSpPr>
            <a:spLocks noGrp="1"/>
          </p:cNvSpPr>
          <p:nvPr>
            <p:ph type="title"/>
          </p:nvPr>
        </p:nvSpPr>
        <p:spPr>
          <a:xfrm>
            <a:off x="812770" y="899120"/>
            <a:ext cx="10883453" cy="416464"/>
          </a:xfrm>
          <a:prstGeom prst="rect">
            <a:avLst/>
          </a:prstGeom>
          <a:noFill/>
        </p:spPr>
        <p:txBody>
          <a:bodyPr wrap="square" lIns="0" tIns="0" rIns="0" bIns="0" rtlCol="0" anchor="t">
            <a:normAutofit/>
          </a:bodyPr>
          <a:lstStyle/>
          <a:p>
            <a:pPr marL="0" indent="0" algn="l">
              <a:lnSpc>
                <a:spcPts val="3080"/>
              </a:lnSpc>
              <a:buNone/>
            </a:pPr>
            <a:r>
              <a:rPr lang="en-US" sz="2800" b="1" i="0" dirty="0">
                <a:solidFill>
                  <a:srgbClr val="1E222B"/>
                </a:solidFill>
                <a:latin typeface="Lato" panose="020F0502020204030203" pitchFamily="34" charset="0"/>
                <a:ea typeface="Lato" panose="020F0502020204030203" pitchFamily="34" charset="-122"/>
                <a:cs typeface="Lato" panose="020F0502020204030203" pitchFamily="34" charset="-120"/>
              </a:rPr>
              <a:t>Del carrito al servidor</a:t>
            </a:r>
            <a:endParaRPr lang="en-US" sz="2800" dirty="0"/>
          </a:p>
        </p:txBody>
      </p:sp>
      <p:sp>
        <p:nvSpPr>
          <p:cNvPr id="5" name="Shape 3"/>
          <p:cNvSpPr/>
          <p:nvPr/>
        </p:nvSpPr>
        <p:spPr>
          <a:xfrm>
            <a:off x="815945" y="1471104"/>
            <a:ext cx="2542846" cy="1187869"/>
          </a:xfrm>
          <a:prstGeom prst="roundRect">
            <a:avLst>
              <a:gd name="adj" fmla="val 8286"/>
            </a:avLst>
          </a:prstGeom>
          <a:solidFill>
            <a:srgbClr val="FDFCF9"/>
          </a:solidFill>
          <a:ln w="6350">
            <a:solidFill>
              <a:srgbClr val="DDD9CC"/>
            </a:solidFill>
            <a:prstDash val="solid"/>
          </a:ln>
        </p:spPr>
        <p:txBody>
          <a:bodyPr/>
          <a:lstStyle/>
          <a:p>
            <a:endParaRPr lang="es-PE"/>
          </a:p>
        </p:txBody>
      </p:sp>
      <p:sp>
        <p:nvSpPr>
          <p:cNvPr id="6" name="Text 4"/>
          <p:cNvSpPr/>
          <p:nvPr/>
        </p:nvSpPr>
        <p:spPr>
          <a:xfrm>
            <a:off x="970921" y="1587984"/>
            <a:ext cx="2299881" cy="238724"/>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B7791F"/>
                </a:solidFill>
                <a:latin typeface="Lato" panose="020F0502020204030203" pitchFamily="34" charset="0"/>
                <a:ea typeface="Lato" panose="020F0502020204030203" pitchFamily="34" charset="-122"/>
                <a:cs typeface="Lato" panose="020F0502020204030203" pitchFamily="34" charset="-120"/>
              </a:rPr>
              <a:t>PASO 1</a:t>
            </a:r>
            <a:endParaRPr lang="en-US" sz="1200" dirty="0"/>
          </a:p>
        </p:txBody>
      </p:sp>
      <p:sp>
        <p:nvSpPr>
          <p:cNvPr id="7" name="Text 5"/>
          <p:cNvSpPr/>
          <p:nvPr/>
        </p:nvSpPr>
        <p:spPr>
          <a:xfrm>
            <a:off x="970921" y="1839404"/>
            <a:ext cx="2299881" cy="244475"/>
          </a:xfrm>
          <a:prstGeom prst="rect">
            <a:avLst/>
          </a:prstGeom>
          <a:noFill/>
        </p:spPr>
        <p:txBody>
          <a:bodyPr wrap="square" lIns="0" tIns="0" rIns="0" bIns="0" rtlCol="0" anchor="t">
            <a:normAutofit/>
          </a:bodyPr>
          <a:lstStyle/>
          <a:p>
            <a:pPr marL="0" indent="0" algn="l">
              <a:lnSpc>
                <a:spcPts val="1725"/>
              </a:lnSpc>
              <a:buNone/>
            </a:pPr>
            <a:r>
              <a:rPr lang="en-US" sz="1500" b="1" dirty="0">
                <a:solidFill>
                  <a:srgbClr val="1E222B"/>
                </a:solidFill>
                <a:latin typeface="Lato" panose="020F0502020204030203" pitchFamily="34" charset="0"/>
                <a:ea typeface="Lato" panose="020F0502020204030203" pitchFamily="34" charset="-122"/>
                <a:cs typeface="Lato" panose="020F0502020204030203" pitchFamily="34" charset="-120"/>
              </a:rPr>
              <a:t>Carrito</a:t>
            </a:r>
            <a:endParaRPr lang="en-US" sz="1500" dirty="0"/>
          </a:p>
        </p:txBody>
      </p:sp>
      <p:sp>
        <p:nvSpPr>
          <p:cNvPr id="8" name="Text 6"/>
          <p:cNvSpPr/>
          <p:nvPr/>
        </p:nvSpPr>
        <p:spPr>
          <a:xfrm>
            <a:off x="970921" y="2096579"/>
            <a:ext cx="2299881" cy="470918"/>
          </a:xfrm>
          <a:prstGeom prst="rect">
            <a:avLst/>
          </a:prstGeom>
          <a:noFill/>
        </p:spPr>
        <p:txBody>
          <a:bodyPr wrap="square" lIns="0" tIns="0" rIns="0" bIns="0" rtlCol="0" anchor="t">
            <a:normAutofit/>
          </a:bodyPr>
          <a:lstStyle/>
          <a:p>
            <a:pPr marL="0" indent="0" algn="l">
              <a:lnSpc>
                <a:spcPts val="1755"/>
              </a:lnSpc>
              <a:buNone/>
            </a:pPr>
            <a:r>
              <a:rPr lang="en-US" sz="1300" dirty="0">
                <a:solidFill>
                  <a:srgbClr val="2B303B"/>
                </a:solidFill>
                <a:latin typeface="Lato" panose="020F0502020204030203" pitchFamily="34" charset="0"/>
                <a:ea typeface="Lato" panose="020F0502020204030203" pitchFamily="34" charset="-122"/>
                <a:cs typeface="Lato" panose="020F0502020204030203" pitchFamily="34" charset="-120"/>
              </a:rPr>
              <a:t>El cliente agrega productos y ve el subtotal al instante.</a:t>
            </a:r>
            <a:endParaRPr lang="en-US" sz="1300" dirty="0"/>
          </a:p>
        </p:txBody>
      </p:sp>
      <p:sp>
        <p:nvSpPr>
          <p:cNvPr id="9" name="Shape 7"/>
          <p:cNvSpPr/>
          <p:nvPr/>
        </p:nvSpPr>
        <p:spPr>
          <a:xfrm>
            <a:off x="3492110" y="1471104"/>
            <a:ext cx="2542935" cy="1187869"/>
          </a:xfrm>
          <a:prstGeom prst="roundRect">
            <a:avLst>
              <a:gd name="adj" fmla="val 8286"/>
            </a:avLst>
          </a:prstGeom>
          <a:solidFill>
            <a:srgbClr val="FDFCF9"/>
          </a:solidFill>
          <a:ln w="6350">
            <a:solidFill>
              <a:srgbClr val="DDD9CC"/>
            </a:solidFill>
            <a:prstDash val="solid"/>
          </a:ln>
        </p:spPr>
        <p:txBody>
          <a:bodyPr/>
          <a:lstStyle/>
          <a:p>
            <a:endParaRPr lang="es-PE"/>
          </a:p>
        </p:txBody>
      </p:sp>
      <p:sp>
        <p:nvSpPr>
          <p:cNvPr id="10" name="Text 8"/>
          <p:cNvSpPr/>
          <p:nvPr/>
        </p:nvSpPr>
        <p:spPr>
          <a:xfrm>
            <a:off x="3647087" y="1587984"/>
            <a:ext cx="2299973" cy="238724"/>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B7791F"/>
                </a:solidFill>
                <a:latin typeface="Lato" panose="020F0502020204030203" pitchFamily="34" charset="0"/>
                <a:ea typeface="Lato" panose="020F0502020204030203" pitchFamily="34" charset="-122"/>
                <a:cs typeface="Lato" panose="020F0502020204030203" pitchFamily="34" charset="-120"/>
              </a:rPr>
              <a:t>PASO 2</a:t>
            </a:r>
            <a:endParaRPr lang="en-US" sz="1200" dirty="0"/>
          </a:p>
        </p:txBody>
      </p:sp>
      <p:sp>
        <p:nvSpPr>
          <p:cNvPr id="11" name="Text 9"/>
          <p:cNvSpPr/>
          <p:nvPr/>
        </p:nvSpPr>
        <p:spPr>
          <a:xfrm>
            <a:off x="3647087" y="1839404"/>
            <a:ext cx="2299973" cy="244475"/>
          </a:xfrm>
          <a:prstGeom prst="rect">
            <a:avLst/>
          </a:prstGeom>
          <a:noFill/>
        </p:spPr>
        <p:txBody>
          <a:bodyPr wrap="square" lIns="0" tIns="0" rIns="0" bIns="0" rtlCol="0" anchor="t">
            <a:normAutofit/>
          </a:bodyPr>
          <a:lstStyle/>
          <a:p>
            <a:pPr marL="0" indent="0" algn="l">
              <a:lnSpc>
                <a:spcPts val="1725"/>
              </a:lnSpc>
              <a:buNone/>
            </a:pPr>
            <a:r>
              <a:rPr lang="en-US" sz="1500" b="1" dirty="0">
                <a:solidFill>
                  <a:srgbClr val="1E222B"/>
                </a:solidFill>
                <a:latin typeface="Lato" panose="020F0502020204030203" pitchFamily="34" charset="0"/>
                <a:ea typeface="Lato" panose="020F0502020204030203" pitchFamily="34" charset="-122"/>
                <a:cs typeface="Lato" panose="020F0502020204030203" pitchFamily="34" charset="-120"/>
              </a:rPr>
              <a:t>Proceder al pago</a:t>
            </a:r>
            <a:endParaRPr lang="en-US" sz="1500" dirty="0"/>
          </a:p>
        </p:txBody>
      </p:sp>
      <p:sp>
        <p:nvSpPr>
          <p:cNvPr id="12" name="Text 10"/>
          <p:cNvSpPr/>
          <p:nvPr/>
        </p:nvSpPr>
        <p:spPr>
          <a:xfrm>
            <a:off x="3647087" y="2096579"/>
            <a:ext cx="2299973" cy="470918"/>
          </a:xfrm>
          <a:prstGeom prst="rect">
            <a:avLst/>
          </a:prstGeom>
          <a:noFill/>
        </p:spPr>
        <p:txBody>
          <a:bodyPr wrap="square" lIns="0" tIns="0" rIns="0" bIns="0" rtlCol="0" anchor="t">
            <a:normAutofit/>
          </a:bodyPr>
          <a:lstStyle/>
          <a:p>
            <a:pPr marL="0" indent="0" algn="l">
              <a:lnSpc>
                <a:spcPts val="1755"/>
              </a:lnSpc>
              <a:buNone/>
            </a:pPr>
            <a:r>
              <a:rPr lang="en-US" sz="1300" dirty="0">
                <a:solidFill>
                  <a:srgbClr val="2B303B"/>
                </a:solidFill>
                <a:latin typeface="Lato" panose="020F0502020204030203" pitchFamily="34" charset="0"/>
                <a:ea typeface="Lato" panose="020F0502020204030203" pitchFamily="34" charset="-122"/>
                <a:cs typeface="Lato" panose="020F0502020204030203" pitchFamily="34" charset="-120"/>
              </a:rPr>
              <a:t>script.js arma mapeoProductos con el contenido del carrito.</a:t>
            </a:r>
            <a:endParaRPr lang="en-US" sz="1300" dirty="0"/>
          </a:p>
        </p:txBody>
      </p:sp>
      <p:sp>
        <p:nvSpPr>
          <p:cNvPr id="13" name="Shape 11"/>
          <p:cNvSpPr/>
          <p:nvPr/>
        </p:nvSpPr>
        <p:spPr>
          <a:xfrm>
            <a:off x="6168366" y="1471104"/>
            <a:ext cx="2542935" cy="1187869"/>
          </a:xfrm>
          <a:prstGeom prst="roundRect">
            <a:avLst>
              <a:gd name="adj" fmla="val 8286"/>
            </a:avLst>
          </a:prstGeom>
          <a:solidFill>
            <a:srgbClr val="FDFCF9"/>
          </a:solidFill>
          <a:ln w="6350">
            <a:solidFill>
              <a:srgbClr val="DDD9CC"/>
            </a:solidFill>
            <a:prstDash val="solid"/>
          </a:ln>
        </p:spPr>
        <p:txBody>
          <a:bodyPr/>
          <a:lstStyle/>
          <a:p>
            <a:endParaRPr lang="es-PE"/>
          </a:p>
        </p:txBody>
      </p:sp>
      <p:sp>
        <p:nvSpPr>
          <p:cNvPr id="14" name="Text 12"/>
          <p:cNvSpPr/>
          <p:nvPr/>
        </p:nvSpPr>
        <p:spPr>
          <a:xfrm>
            <a:off x="6323342" y="1587984"/>
            <a:ext cx="2299973" cy="238724"/>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B7791F"/>
                </a:solidFill>
                <a:latin typeface="Lato" panose="020F0502020204030203" pitchFamily="34" charset="0"/>
                <a:ea typeface="Lato" panose="020F0502020204030203" pitchFamily="34" charset="-122"/>
                <a:cs typeface="Lato" panose="020F0502020204030203" pitchFamily="34" charset="-120"/>
              </a:rPr>
              <a:t>PASO 3</a:t>
            </a:r>
            <a:endParaRPr lang="en-US" sz="1200" dirty="0"/>
          </a:p>
        </p:txBody>
      </p:sp>
      <p:sp>
        <p:nvSpPr>
          <p:cNvPr id="15" name="Text 13"/>
          <p:cNvSpPr/>
          <p:nvPr/>
        </p:nvSpPr>
        <p:spPr>
          <a:xfrm>
            <a:off x="6323342" y="1839404"/>
            <a:ext cx="2299973" cy="244475"/>
          </a:xfrm>
          <a:prstGeom prst="rect">
            <a:avLst/>
          </a:prstGeom>
          <a:noFill/>
        </p:spPr>
        <p:txBody>
          <a:bodyPr wrap="square" lIns="0" tIns="0" rIns="0" bIns="0" rtlCol="0" anchor="t">
            <a:normAutofit/>
          </a:bodyPr>
          <a:lstStyle/>
          <a:p>
            <a:pPr marL="0" indent="0" algn="l">
              <a:lnSpc>
                <a:spcPts val="1725"/>
              </a:lnSpc>
              <a:buNone/>
            </a:pPr>
            <a:r>
              <a:rPr lang="en-US" sz="1500" b="1" dirty="0">
                <a:solidFill>
                  <a:srgbClr val="1E222B"/>
                </a:solidFill>
                <a:latin typeface="Lato" panose="020F0502020204030203" pitchFamily="34" charset="0"/>
                <a:ea typeface="Lato" panose="020F0502020204030203" pitchFamily="34" charset="-122"/>
                <a:cs typeface="Lato" panose="020F0502020204030203" pitchFamily="34" charset="-120"/>
              </a:rPr>
              <a:t>fetch POST</a:t>
            </a:r>
            <a:endParaRPr lang="en-US" sz="1500" dirty="0"/>
          </a:p>
        </p:txBody>
      </p:sp>
      <p:sp>
        <p:nvSpPr>
          <p:cNvPr id="16" name="Text 14"/>
          <p:cNvSpPr/>
          <p:nvPr/>
        </p:nvSpPr>
        <p:spPr>
          <a:xfrm>
            <a:off x="6323342" y="2096579"/>
            <a:ext cx="2299973" cy="470918"/>
          </a:xfrm>
          <a:prstGeom prst="rect">
            <a:avLst/>
          </a:prstGeom>
          <a:noFill/>
        </p:spPr>
        <p:txBody>
          <a:bodyPr wrap="square" lIns="0" tIns="0" rIns="0" bIns="0" rtlCol="0" anchor="t">
            <a:normAutofit/>
          </a:bodyPr>
          <a:lstStyle/>
          <a:p>
            <a:pPr marL="0" indent="0" algn="l">
              <a:lnSpc>
                <a:spcPts val="1755"/>
              </a:lnSpc>
              <a:buNone/>
            </a:pPr>
            <a:r>
              <a:rPr lang="en-US" sz="1300" dirty="0">
                <a:solidFill>
                  <a:srgbClr val="2B303B"/>
                </a:solidFill>
                <a:latin typeface="Lato" panose="020F0502020204030203" pitchFamily="34" charset="0"/>
                <a:ea typeface="Lato" panose="020F0502020204030203" pitchFamily="34" charset="-122"/>
                <a:cs typeface="Lato" panose="020F0502020204030203" pitchFamily="34" charset="-120"/>
              </a:rPr>
              <a:t>Envía el JSON a /api/productos/procesar-pago.</a:t>
            </a:r>
            <a:endParaRPr lang="en-US" sz="1300" dirty="0"/>
          </a:p>
        </p:txBody>
      </p:sp>
      <p:sp>
        <p:nvSpPr>
          <p:cNvPr id="17" name="Shape 15"/>
          <p:cNvSpPr/>
          <p:nvPr/>
        </p:nvSpPr>
        <p:spPr>
          <a:xfrm>
            <a:off x="8841446" y="1467929"/>
            <a:ext cx="2537783" cy="1194219"/>
          </a:xfrm>
          <a:prstGeom prst="roundRect">
            <a:avLst>
              <a:gd name="adj" fmla="val 8508"/>
            </a:avLst>
          </a:prstGeom>
          <a:solidFill>
            <a:srgbClr val="FBBF24"/>
          </a:solidFill>
        </p:spPr>
        <p:txBody>
          <a:bodyPr/>
          <a:lstStyle/>
          <a:p>
            <a:endParaRPr lang="es-PE"/>
          </a:p>
        </p:txBody>
      </p:sp>
      <p:sp>
        <p:nvSpPr>
          <p:cNvPr id="18" name="Text 16"/>
          <p:cNvSpPr/>
          <p:nvPr/>
        </p:nvSpPr>
        <p:spPr>
          <a:xfrm>
            <a:off x="8993846" y="1582229"/>
            <a:ext cx="2299973" cy="238724"/>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1E222B"/>
                </a:solidFill>
                <a:latin typeface="Lato" panose="020F0502020204030203" pitchFamily="34" charset="0"/>
                <a:ea typeface="Lato" panose="020F0502020204030203" pitchFamily="34" charset="-122"/>
                <a:cs typeface="Lato" panose="020F0502020204030203" pitchFamily="34" charset="-120"/>
              </a:rPr>
              <a:t>PASO 4</a:t>
            </a:r>
            <a:endParaRPr lang="en-US" sz="1200" dirty="0"/>
          </a:p>
        </p:txBody>
      </p:sp>
      <p:sp>
        <p:nvSpPr>
          <p:cNvPr id="19" name="Text 17"/>
          <p:cNvSpPr/>
          <p:nvPr/>
        </p:nvSpPr>
        <p:spPr>
          <a:xfrm>
            <a:off x="8993846" y="1833649"/>
            <a:ext cx="2299973" cy="244475"/>
          </a:xfrm>
          <a:prstGeom prst="rect">
            <a:avLst/>
          </a:prstGeom>
          <a:noFill/>
        </p:spPr>
        <p:txBody>
          <a:bodyPr wrap="square" lIns="0" tIns="0" rIns="0" bIns="0" rtlCol="0" anchor="t">
            <a:normAutofit/>
          </a:bodyPr>
          <a:lstStyle/>
          <a:p>
            <a:pPr marL="0" indent="0" algn="l">
              <a:lnSpc>
                <a:spcPts val="1725"/>
              </a:lnSpc>
              <a:buNone/>
            </a:pPr>
            <a:r>
              <a:rPr lang="en-US" sz="1500" b="1" dirty="0">
                <a:solidFill>
                  <a:srgbClr val="1E222B"/>
                </a:solidFill>
                <a:latin typeface="Lato" panose="020F0502020204030203" pitchFamily="34" charset="0"/>
                <a:ea typeface="Lato" panose="020F0502020204030203" pitchFamily="34" charset="-122"/>
                <a:cs typeface="Lato" panose="020F0502020204030203" pitchFamily="34" charset="-120"/>
              </a:rPr>
              <a:t>Backend</a:t>
            </a:r>
            <a:endParaRPr lang="en-US" sz="1500" dirty="0"/>
          </a:p>
        </p:txBody>
      </p:sp>
      <p:sp>
        <p:nvSpPr>
          <p:cNvPr id="20" name="Text 18"/>
          <p:cNvSpPr/>
          <p:nvPr/>
        </p:nvSpPr>
        <p:spPr>
          <a:xfrm>
            <a:off x="8993846" y="2090824"/>
            <a:ext cx="2299973" cy="470918"/>
          </a:xfrm>
          <a:prstGeom prst="rect">
            <a:avLst/>
          </a:prstGeom>
          <a:noFill/>
        </p:spPr>
        <p:txBody>
          <a:bodyPr wrap="square" lIns="0" tIns="0" rIns="0" bIns="0" rtlCol="0" anchor="t">
            <a:normAutofit/>
          </a:bodyPr>
          <a:lstStyle/>
          <a:p>
            <a:pPr marL="0" indent="0" algn="l">
              <a:lnSpc>
                <a:spcPts val="1755"/>
              </a:lnSpc>
              <a:buNone/>
            </a:pPr>
            <a:r>
              <a:rPr lang="en-US" sz="1300" dirty="0">
                <a:solidFill>
                  <a:srgbClr val="1E222B"/>
                </a:solidFill>
                <a:latin typeface="Lato" panose="020F0502020204030203" pitchFamily="34" charset="0"/>
                <a:ea typeface="Lato" panose="020F0502020204030203" pitchFamily="34" charset="-122"/>
                <a:cs typeface="Lato" panose="020F0502020204030203" pitchFamily="34" charset="-120"/>
              </a:rPr>
              <a:t>registrarVentaDesdeWeb guarda la venta y sus detalles.</a:t>
            </a:r>
            <a:endParaRPr lang="en-US" sz="1300" dirty="0"/>
          </a:p>
        </p:txBody>
      </p:sp>
      <p:sp>
        <p:nvSpPr>
          <p:cNvPr id="21" name="Shape 19"/>
          <p:cNvSpPr/>
          <p:nvPr/>
        </p:nvSpPr>
        <p:spPr>
          <a:xfrm>
            <a:off x="812770" y="2839889"/>
            <a:ext cx="5587940" cy="2514241"/>
          </a:xfrm>
          <a:prstGeom prst="roundRect">
            <a:avLst>
              <a:gd name="adj" fmla="val 4041"/>
            </a:avLst>
          </a:prstGeom>
          <a:solidFill>
            <a:srgbClr val="161B26"/>
          </a:solidFill>
        </p:spPr>
        <p:txBody>
          <a:bodyPr/>
          <a:lstStyle/>
          <a:p>
            <a:endParaRPr lang="es-PE"/>
          </a:p>
        </p:txBody>
      </p:sp>
      <p:sp>
        <p:nvSpPr>
          <p:cNvPr id="22" name="Text 20"/>
          <p:cNvSpPr/>
          <p:nvPr/>
        </p:nvSpPr>
        <p:spPr>
          <a:xfrm>
            <a:off x="990510" y="2992289"/>
            <a:ext cx="5389434" cy="238724"/>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FBBF24"/>
                </a:solidFill>
                <a:latin typeface="Lato" panose="020F0502020204030203" pitchFamily="34" charset="0"/>
                <a:ea typeface="Lato" panose="020F0502020204030203" pitchFamily="34" charset="-122"/>
                <a:cs typeface="Lato" panose="020F0502020204030203" pitchFamily="34" charset="-120"/>
              </a:rPr>
              <a:t>Código 13 · script.js, envío del carrito</a:t>
            </a:r>
            <a:endParaRPr lang="en-US" sz="1200" dirty="0"/>
          </a:p>
        </p:txBody>
      </p:sp>
      <p:sp>
        <p:nvSpPr>
          <p:cNvPr id="23" name="Text 21"/>
          <p:cNvSpPr/>
          <p:nvPr/>
        </p:nvSpPr>
        <p:spPr>
          <a:xfrm>
            <a:off x="990510" y="3281809"/>
            <a:ext cx="5389434" cy="1945317"/>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7DD3FC"/>
                </a:solidFill>
                <a:latin typeface="JetBrains Mono" panose="02000009000000000000" pitchFamily="49" charset="0"/>
                <a:ea typeface="JetBrains Mono" panose="02000009000000000000" pitchFamily="49" charset="-122"/>
                <a:cs typeface="JetBrains Mono" panose="02000009000000000000" pitchFamily="49" charset="-120"/>
              </a:rPr>
              <a:t>fetch</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a:t>
            </a:r>
            <a:r>
              <a:rPr lang="en-US" sz="1200" dirty="0">
                <a:solidFill>
                  <a:srgbClr val="A7F3D0"/>
                </a:solidFill>
                <a:latin typeface="JetBrains Mono" panose="02000009000000000000" pitchFamily="49" charset="0"/>
                <a:ea typeface="JetBrains Mono" panose="02000009000000000000" pitchFamily="49" charset="-122"/>
                <a:cs typeface="JetBrains Mono" panose="02000009000000000000" pitchFamily="49" charset="-120"/>
              </a:rPr>
              <a:t>'/api/productos/procesar-pago'</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method: </a:t>
            </a:r>
            <a:r>
              <a:rPr lang="en-US" sz="1200" dirty="0">
                <a:solidFill>
                  <a:srgbClr val="A7F3D0"/>
                </a:solidFill>
                <a:latin typeface="JetBrains Mono" panose="02000009000000000000" pitchFamily="49" charset="0"/>
                <a:ea typeface="JetBrains Mono" panose="02000009000000000000" pitchFamily="49" charset="-122"/>
                <a:cs typeface="JetBrains Mono" panose="02000009000000000000" pitchFamily="49" charset="-120"/>
              </a:rPr>
              <a:t>'POST'</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headers: { </a:t>
            </a:r>
            <a:r>
              <a:rPr lang="en-US" sz="1200" dirty="0">
                <a:solidFill>
                  <a:srgbClr val="A7F3D0"/>
                </a:solidFill>
                <a:latin typeface="JetBrains Mono" panose="02000009000000000000" pitchFamily="49" charset="0"/>
                <a:ea typeface="JetBrains Mono" panose="02000009000000000000" pitchFamily="49" charset="-122"/>
                <a:cs typeface="JetBrains Mono" panose="02000009000000000000" pitchFamily="49" charset="-120"/>
              </a:rPr>
              <a:t>'Content-Type'</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a:t>
            </a:r>
            <a:r>
              <a:rPr lang="en-US" sz="1200" dirty="0">
                <a:solidFill>
                  <a:srgbClr val="A7F3D0"/>
                </a:solidFill>
                <a:latin typeface="JetBrains Mono" panose="02000009000000000000" pitchFamily="49" charset="0"/>
                <a:ea typeface="JetBrains Mono" panose="02000009000000000000" pitchFamily="49" charset="-122"/>
                <a:cs typeface="JetBrains Mono" panose="02000009000000000000" pitchFamily="49" charset="-120"/>
              </a:rPr>
              <a:t>'application/json'</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body: JSON.stringify(mapeoProductos)</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.then(res =&gt; {</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a:t>
            </a:r>
            <a:r>
              <a:rPr lang="en-US" sz="1200" dirty="0">
                <a:solidFill>
                  <a:srgbClr val="FBBF24"/>
                </a:solidFill>
                <a:latin typeface="JetBrains Mono" panose="02000009000000000000" pitchFamily="49" charset="0"/>
                <a:ea typeface="JetBrains Mono" panose="02000009000000000000" pitchFamily="49" charset="-122"/>
                <a:cs typeface="JetBrains Mono" panose="02000009000000000000" pitchFamily="49" charset="-120"/>
              </a:rPr>
              <a:t>if</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(!res.ok) </a:t>
            </a:r>
            <a:r>
              <a:rPr lang="en-US" sz="1200" dirty="0">
                <a:solidFill>
                  <a:srgbClr val="FBBF24"/>
                </a:solidFill>
                <a:latin typeface="JetBrains Mono" panose="02000009000000000000" pitchFamily="49" charset="0"/>
                <a:ea typeface="JetBrains Mono" panose="02000009000000000000" pitchFamily="49" charset="-122"/>
                <a:cs typeface="JetBrains Mono" panose="02000009000000000000" pitchFamily="49" charset="-120"/>
              </a:rPr>
              <a:t>throw new</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Error(</a:t>
            </a:r>
            <a:r>
              <a:rPr lang="en-US" sz="1200" dirty="0">
                <a:solidFill>
                  <a:srgbClr val="A7F3D0"/>
                </a:solidFill>
                <a:latin typeface="JetBrains Mono" panose="02000009000000000000" pitchFamily="49" charset="0"/>
                <a:ea typeface="JetBrains Mono" panose="02000009000000000000" pitchFamily="49" charset="-122"/>
                <a:cs typeface="JetBrains Mono" panose="02000009000000000000" pitchFamily="49" charset="-120"/>
              </a:rPr>
              <a:t>"Error procesando pago"</a:t>
            </a: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  </a:t>
            </a:r>
            <a:r>
              <a:rPr lang="en-US" sz="1200" dirty="0">
                <a:solidFill>
                  <a:srgbClr val="8E98AC"/>
                </a:solidFill>
                <a:latin typeface="JetBrains Mono" panose="02000009000000000000" pitchFamily="49" charset="0"/>
                <a:ea typeface="JetBrains Mono" panose="02000009000000000000" pitchFamily="49" charset="-122"/>
                <a:cs typeface="JetBrains Mono" panose="02000009000000000000" pitchFamily="49" charset="-120"/>
              </a:rPr>
              <a:t>// cierra el carrito y muestra la confirmación</a:t>
            </a:r>
            <a:endParaRPr lang="en-US" sz="1200" dirty="0"/>
          </a:p>
          <a:p>
            <a:pPr marL="0" indent="0" algn="l">
              <a:lnSpc>
                <a:spcPts val="1680"/>
              </a:lnSpc>
              <a:buNone/>
            </a:pPr>
            <a:r>
              <a:rPr lang="en-US" sz="1200" dirty="0">
                <a:solidFill>
                  <a:srgbClr val="E8EAF0"/>
                </a:solidFill>
                <a:latin typeface="JetBrains Mono" panose="02000009000000000000" pitchFamily="49" charset="0"/>
                <a:ea typeface="JetBrains Mono" panose="02000009000000000000" pitchFamily="49" charset="-122"/>
                <a:cs typeface="JetBrains Mono" panose="02000009000000000000" pitchFamily="49" charset="-120"/>
              </a:rPr>
              <a:t>})</a:t>
            </a:r>
            <a:endParaRPr lang="en-US" sz="1200" dirty="0"/>
          </a:p>
        </p:txBody>
      </p:sp>
      <p:sp>
        <p:nvSpPr>
          <p:cNvPr id="24" name="Shape 22"/>
          <p:cNvSpPr/>
          <p:nvPr/>
        </p:nvSpPr>
        <p:spPr>
          <a:xfrm>
            <a:off x="6654650" y="2839889"/>
            <a:ext cx="1282640" cy="2539940"/>
          </a:xfrm>
          <a:prstGeom prst="roundRect">
            <a:avLst>
              <a:gd name="adj" fmla="val 4951"/>
            </a:avLst>
          </a:prstGeom>
          <a:solidFill>
            <a:srgbClr val="FDFCF9"/>
          </a:solidFill>
        </p:spPr>
        <p:txBody>
          <a:bodyPr/>
          <a:lstStyle/>
          <a:p>
            <a:endParaRPr lang="es-PE"/>
          </a:p>
        </p:txBody>
      </p:sp>
      <p:pic>
        <p:nvPicPr>
          <p:cNvPr id="25" name="Image 0" descr="Carrito lateral con dos productos y subtotal de 70 soles"/>
          <p:cNvPicPr>
            <a:picLocks noChangeAspect="1"/>
          </p:cNvPicPr>
          <p:nvPr/>
        </p:nvPicPr>
        <p:blipFill>
          <a:blip r:embed="rId1"/>
          <a:srcRect t="-218" b="-218"/>
          <a:stretch>
            <a:fillRect/>
          </a:stretch>
        </p:blipFill>
        <p:spPr>
          <a:xfrm>
            <a:off x="6661000" y="2846239"/>
            <a:ext cx="1269940" cy="2527240"/>
          </a:xfrm>
          <a:prstGeom prst="roundRect">
            <a:avLst>
              <a:gd name="adj" fmla="val 4500"/>
            </a:avLst>
          </a:prstGeom>
        </p:spPr>
      </p:pic>
      <p:sp>
        <p:nvSpPr>
          <p:cNvPr id="26" name="Shape 23"/>
          <p:cNvSpPr/>
          <p:nvPr/>
        </p:nvSpPr>
        <p:spPr>
          <a:xfrm>
            <a:off x="6657825" y="2843064"/>
            <a:ext cx="1276290" cy="2533590"/>
          </a:xfrm>
          <a:prstGeom prst="roundRect">
            <a:avLst>
              <a:gd name="adj" fmla="val 4727"/>
            </a:avLst>
          </a:prstGeom>
          <a:noFill/>
          <a:ln w="6350">
            <a:solidFill>
              <a:srgbClr val="DDD9CC"/>
            </a:solidFill>
            <a:prstDash val="solid"/>
          </a:ln>
        </p:spPr>
        <p:txBody>
          <a:bodyPr/>
          <a:lstStyle/>
          <a:p>
            <a:endParaRPr lang="es-PE"/>
          </a:p>
        </p:txBody>
      </p:sp>
      <p:sp>
        <p:nvSpPr>
          <p:cNvPr id="27" name="Shape 24"/>
          <p:cNvSpPr/>
          <p:nvPr/>
        </p:nvSpPr>
        <p:spPr>
          <a:xfrm>
            <a:off x="8194405" y="2843064"/>
            <a:ext cx="3181650" cy="1515853"/>
          </a:xfrm>
          <a:prstGeom prst="roundRect">
            <a:avLst>
              <a:gd name="adj" fmla="val 6493"/>
            </a:avLst>
          </a:prstGeom>
          <a:solidFill>
            <a:srgbClr val="FDFCF9"/>
          </a:solidFill>
          <a:ln w="6350">
            <a:solidFill>
              <a:srgbClr val="DDD9CC"/>
            </a:solidFill>
            <a:prstDash val="solid"/>
          </a:ln>
        </p:spPr>
        <p:txBody>
          <a:bodyPr/>
          <a:lstStyle/>
          <a:p>
            <a:endParaRPr lang="es-PE"/>
          </a:p>
        </p:txBody>
      </p:sp>
      <p:sp>
        <p:nvSpPr>
          <p:cNvPr id="28" name="Text 25"/>
          <p:cNvSpPr/>
          <p:nvPr/>
        </p:nvSpPr>
        <p:spPr>
          <a:xfrm>
            <a:off x="8349382" y="2972606"/>
            <a:ext cx="2957849" cy="238724"/>
          </a:xfrm>
          <a:prstGeom prst="rect">
            <a:avLst/>
          </a:prstGeom>
          <a:noFill/>
        </p:spPr>
        <p:txBody>
          <a:bodyPr wrap="square" lIns="0" tIns="0" rIns="0" bIns="0" rtlCol="0" anchor="t">
            <a:normAutofit/>
          </a:bodyPr>
          <a:lstStyle/>
          <a:p>
            <a:pPr marL="0" indent="0" algn="l">
              <a:lnSpc>
                <a:spcPts val="1680"/>
              </a:lnSpc>
              <a:buNone/>
            </a:pPr>
            <a:r>
              <a:rPr lang="en-US" sz="1200" b="1" kern="0" spc="50" dirty="0">
                <a:solidFill>
                  <a:srgbClr val="596070"/>
                </a:solidFill>
                <a:latin typeface="Lato" panose="020F0502020204030203" pitchFamily="34" charset="0"/>
                <a:ea typeface="Lato" panose="020F0502020204030203" pitchFamily="34" charset="-122"/>
                <a:cs typeface="Lato" panose="020F0502020204030203" pitchFamily="34" charset="-120"/>
              </a:rPr>
              <a:t>EJEMPLO · FIGURA 9</a:t>
            </a:r>
            <a:endParaRPr lang="en-US" sz="1200" dirty="0"/>
          </a:p>
        </p:txBody>
      </p:sp>
      <p:sp>
        <p:nvSpPr>
          <p:cNvPr id="29" name="Text 26"/>
          <p:cNvSpPr/>
          <p:nvPr/>
        </p:nvSpPr>
        <p:spPr>
          <a:xfrm>
            <a:off x="8349382" y="3249377"/>
            <a:ext cx="2957849" cy="693678"/>
          </a:xfrm>
          <a:prstGeom prst="rect">
            <a:avLst/>
          </a:prstGeom>
          <a:noFill/>
        </p:spPr>
        <p:txBody>
          <a:bodyPr wrap="square" lIns="0" tIns="0" rIns="0" bIns="0" rtlCol="0" anchor="t">
            <a:normAutofit/>
          </a:bodyPr>
          <a:lstStyle/>
          <a:p>
            <a:pPr marL="0" indent="0" algn="l">
              <a:lnSpc>
                <a:spcPts val="1755"/>
              </a:lnSpc>
              <a:buNone/>
            </a:pPr>
            <a:r>
              <a:rPr lang="en-US" sz="1300" dirty="0">
                <a:solidFill>
                  <a:srgbClr val="2B303B"/>
                </a:solidFill>
                <a:latin typeface="Lato" panose="020F0502020204030203" pitchFamily="34" charset="0"/>
                <a:ea typeface="Lato" panose="020F0502020204030203" pitchFamily="34" charset="-122"/>
                <a:cs typeface="Lato" panose="020F0502020204030203" pitchFamily="34" charset="-120"/>
              </a:rPr>
              <a:t>Polo Técnico Dry-Fit Pro </a:t>
            </a:r>
            <a:r>
              <a:rPr lang="en-US" sz="1300" b="1" dirty="0">
                <a:solidFill>
                  <a:srgbClr val="2B303B"/>
                </a:solidFill>
                <a:latin typeface="Lato" panose="020F0502020204030203" pitchFamily="34" charset="0"/>
                <a:ea typeface="Lato" panose="020F0502020204030203" pitchFamily="34" charset="-122"/>
                <a:cs typeface="Lato" panose="020F0502020204030203" pitchFamily="34" charset="-120"/>
              </a:rPr>
              <a:t>S/. 45.00</a:t>
            </a:r>
            <a:r>
              <a:rPr lang="en-US" sz="1300" dirty="0">
                <a:solidFill>
                  <a:srgbClr val="2B303B"/>
                </a:solidFill>
                <a:latin typeface="Lato" panose="020F0502020204030203" pitchFamily="34" charset="0"/>
                <a:ea typeface="Lato" panose="020F0502020204030203" pitchFamily="34" charset="-122"/>
                <a:cs typeface="Lato" panose="020F0502020204030203" pitchFamily="34" charset="-120"/>
              </a:rPr>
              <a:t> + Medias Técnicas de Compresión </a:t>
            </a:r>
            <a:r>
              <a:rPr lang="en-US" sz="1300" b="1" dirty="0">
                <a:solidFill>
                  <a:srgbClr val="2B303B"/>
                </a:solidFill>
                <a:latin typeface="Lato" panose="020F0502020204030203" pitchFamily="34" charset="0"/>
                <a:ea typeface="Lato" panose="020F0502020204030203" pitchFamily="34" charset="-122"/>
                <a:cs typeface="Lato" panose="020F0502020204030203" pitchFamily="34" charset="-120"/>
              </a:rPr>
              <a:t>S/. 25.00</a:t>
            </a:r>
            <a:endParaRPr lang="en-US" sz="1300" dirty="0"/>
          </a:p>
        </p:txBody>
      </p:sp>
      <p:sp>
        <p:nvSpPr>
          <p:cNvPr id="30" name="Text 27"/>
          <p:cNvSpPr/>
          <p:nvPr/>
        </p:nvSpPr>
        <p:spPr>
          <a:xfrm>
            <a:off x="8349382" y="3981090"/>
            <a:ext cx="2957849" cy="273679"/>
          </a:xfrm>
          <a:prstGeom prst="rect">
            <a:avLst/>
          </a:prstGeom>
          <a:noFill/>
        </p:spPr>
        <p:txBody>
          <a:bodyPr wrap="square" lIns="0" tIns="0" rIns="0" bIns="0" rtlCol="0" anchor="t">
            <a:normAutofit/>
          </a:bodyPr>
          <a:lstStyle/>
          <a:p>
            <a:pPr marL="0" indent="0" algn="l">
              <a:lnSpc>
                <a:spcPts val="1955"/>
              </a:lnSpc>
              <a:buNone/>
            </a:pPr>
            <a:r>
              <a:rPr lang="en-US" sz="1700" b="1" dirty="0">
                <a:solidFill>
                  <a:srgbClr val="1E222B"/>
                </a:solidFill>
                <a:latin typeface="Lato" panose="020F0502020204030203" pitchFamily="34" charset="0"/>
                <a:ea typeface="Lato" panose="020F0502020204030203" pitchFamily="34" charset="-122"/>
                <a:cs typeface="Lato" panose="020F0502020204030203" pitchFamily="34" charset="-120"/>
              </a:rPr>
              <a:t>= S/. 70.00</a:t>
            </a:r>
            <a:endParaRPr lang="en-US" sz="1700" dirty="0"/>
          </a:p>
        </p:txBody>
      </p:sp>
      <p:sp>
        <p:nvSpPr>
          <p:cNvPr id="31" name="Text 28"/>
          <p:cNvSpPr/>
          <p:nvPr/>
        </p:nvSpPr>
        <p:spPr>
          <a:xfrm>
            <a:off x="812770" y="6238342"/>
            <a:ext cx="7325299" cy="238724"/>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596070"/>
                </a:solidFill>
                <a:latin typeface="Lato" panose="020F0502020204030203" pitchFamily="34" charset="0"/>
                <a:ea typeface="Lato" panose="020F0502020204030203" pitchFamily="34" charset="-122"/>
                <a:cs typeface="Lato" panose="020F0502020204030203" pitchFamily="34" charset="-120"/>
              </a:rPr>
              <a:t>LINKSPORT · AVANCE 03 · Informe final, secciones 3.4 y 3.7, código 13 y figura 9</a:t>
            </a:r>
            <a:endParaRPr lang="en-US" sz="1200" dirty="0"/>
          </a:p>
        </p:txBody>
      </p:sp>
      <p:sp>
        <p:nvSpPr>
          <p:cNvPr id="32" name="Text 29"/>
          <p:cNvSpPr/>
          <p:nvPr/>
        </p:nvSpPr>
        <p:spPr>
          <a:xfrm>
            <a:off x="8108921" y="6238342"/>
            <a:ext cx="3270219" cy="238724"/>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596070"/>
                </a:solidFill>
                <a:latin typeface="Lato" panose="020F0502020204030203" pitchFamily="34" charset="0"/>
                <a:ea typeface="Lato" panose="020F0502020204030203" pitchFamily="34" charset="-122"/>
                <a:cs typeface="Lato" panose="020F0502020204030203" pitchFamily="34" charset="-120"/>
              </a:rPr>
              <a:t>Expone: José · 11</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E222B"/>
        </a:solidFill>
        <a:effectLst/>
      </p:bgPr>
    </p:bg>
    <p:spTree>
      <p:nvGrpSpPr>
        <p:cNvPr id="1" name=""/>
        <p:cNvGrpSpPr/>
        <p:nvPr/>
      </p:nvGrpSpPr>
      <p:grpSpPr>
        <a:xfrm>
          <a:off x="0" y="0"/>
          <a:ext cx="0" cy="0"/>
          <a:chOff x="0" y="0"/>
          <a:chExt cx="0" cy="0"/>
        </a:xfrm>
      </p:grpSpPr>
      <p:sp>
        <p:nvSpPr>
          <p:cNvPr id="2" name="Shape 0"/>
          <p:cNvSpPr/>
          <p:nvPr/>
        </p:nvSpPr>
        <p:spPr>
          <a:xfrm>
            <a:off x="812770" y="690835"/>
            <a:ext cx="355570" cy="50770"/>
          </a:xfrm>
          <a:prstGeom prst="rect">
            <a:avLst/>
          </a:prstGeom>
          <a:solidFill>
            <a:srgbClr val="FBBF24"/>
          </a:solidFill>
        </p:spPr>
        <p:txBody>
          <a:bodyPr/>
          <a:lstStyle/>
          <a:p>
            <a:endParaRPr lang="es-PE"/>
          </a:p>
        </p:txBody>
      </p:sp>
      <p:sp>
        <p:nvSpPr>
          <p:cNvPr id="4" name="Text 2"/>
          <p:cNvSpPr>
            <a:spLocks noGrp="1"/>
          </p:cNvSpPr>
          <p:nvPr>
            <p:ph type="title"/>
          </p:nvPr>
        </p:nvSpPr>
        <p:spPr>
          <a:xfrm>
            <a:off x="812770" y="899133"/>
            <a:ext cx="10883453" cy="416464"/>
          </a:xfrm>
          <a:prstGeom prst="rect">
            <a:avLst/>
          </a:prstGeom>
          <a:noFill/>
        </p:spPr>
        <p:txBody>
          <a:bodyPr wrap="square" lIns="0" tIns="0" rIns="0" bIns="0" rtlCol="0" anchor="t">
            <a:normAutofit fontScale="90000"/>
          </a:bodyPr>
          <a:lstStyle/>
          <a:p>
            <a:pPr marL="0" indent="0" algn="l">
              <a:lnSpc>
                <a:spcPts val="3080"/>
              </a:lnSpc>
              <a:buNone/>
            </a:pPr>
            <a:r>
              <a:rPr lang="es-PE" altLang="en-US" sz="2800" b="1" i="0" dirty="0">
                <a:solidFill>
                  <a:srgbClr val="F6F5F1"/>
                </a:solidFill>
                <a:latin typeface="Lato" panose="020F0502020204030203" pitchFamily="34" charset="0"/>
                <a:ea typeface="Lato" panose="020F0502020204030203" pitchFamily="34" charset="-122"/>
                <a:cs typeface="Lato" panose="020F0502020204030203" pitchFamily="34" charset="-120"/>
              </a:rPr>
              <a:t>CONCLUSIONES</a:t>
            </a:r>
            <a:endParaRPr lang="es-PE" altLang="en-US" sz="2800" b="1" i="0" dirty="0">
              <a:solidFill>
                <a:srgbClr val="F6F5F1"/>
              </a:solidFill>
              <a:latin typeface="Lato" panose="020F0502020204030203" pitchFamily="34" charset="0"/>
              <a:ea typeface="Lato" panose="020F0502020204030203" pitchFamily="34" charset="-122"/>
              <a:cs typeface="Lato" panose="020F0502020204030203" pitchFamily="34" charset="-120"/>
            </a:endParaRPr>
          </a:p>
        </p:txBody>
      </p:sp>
      <p:sp>
        <p:nvSpPr>
          <p:cNvPr id="5" name="Shape 3"/>
          <p:cNvSpPr/>
          <p:nvPr/>
        </p:nvSpPr>
        <p:spPr>
          <a:xfrm>
            <a:off x="812770" y="1467929"/>
            <a:ext cx="10566460" cy="505364"/>
          </a:xfrm>
          <a:prstGeom prst="roundRect">
            <a:avLst>
              <a:gd name="adj" fmla="val 17591"/>
            </a:avLst>
          </a:prstGeom>
          <a:solidFill>
            <a:srgbClr val="2A2F3B"/>
          </a:solidFill>
        </p:spPr>
        <p:txBody>
          <a:bodyPr/>
          <a:lstStyle/>
          <a:p>
            <a:endParaRPr lang="es-PE"/>
          </a:p>
        </p:txBody>
      </p:sp>
      <p:sp>
        <p:nvSpPr>
          <p:cNvPr id="6" name="Text 4"/>
          <p:cNvSpPr/>
          <p:nvPr/>
        </p:nvSpPr>
        <p:spPr>
          <a:xfrm>
            <a:off x="977840" y="1569467"/>
            <a:ext cx="406370" cy="327684"/>
          </a:xfrm>
          <a:prstGeom prst="rect">
            <a:avLst/>
          </a:prstGeom>
          <a:noFill/>
        </p:spPr>
        <p:txBody>
          <a:bodyPr wrap="square" lIns="0" tIns="0" rIns="0" bIns="0" rtlCol="0" anchor="t">
            <a:normAutofit/>
          </a:bodyPr>
          <a:lstStyle/>
          <a:p>
            <a:pPr marL="0" indent="0" algn="l">
              <a:lnSpc>
                <a:spcPts val="2380"/>
              </a:lnSpc>
              <a:buNone/>
            </a:pPr>
            <a:r>
              <a:rPr lang="en-US" sz="1700" b="1" dirty="0">
                <a:solidFill>
                  <a:srgbClr val="FBBF24"/>
                </a:solidFill>
                <a:latin typeface="Lato" panose="020F0502020204030203" pitchFamily="34" charset="0"/>
                <a:ea typeface="Lato" panose="020F0502020204030203" pitchFamily="34" charset="-122"/>
                <a:cs typeface="Lato" panose="020F0502020204030203" pitchFamily="34" charset="-120"/>
              </a:rPr>
              <a:t>01</a:t>
            </a:r>
            <a:endParaRPr lang="en-US" sz="1700" dirty="0"/>
          </a:p>
        </p:txBody>
      </p:sp>
      <p:sp>
        <p:nvSpPr>
          <p:cNvPr id="7" name="Text 5"/>
          <p:cNvSpPr/>
          <p:nvPr/>
        </p:nvSpPr>
        <p:spPr>
          <a:xfrm>
            <a:off x="1485810" y="1596789"/>
            <a:ext cx="10020200" cy="273050"/>
          </a:xfrm>
          <a:prstGeom prst="rect">
            <a:avLst/>
          </a:prstGeom>
          <a:noFill/>
        </p:spPr>
        <p:txBody>
          <a:bodyPr wrap="square" lIns="0" tIns="0" rIns="0" bIns="0" rtlCol="0" anchor="t">
            <a:normAutofit/>
          </a:bodyPr>
          <a:lstStyle/>
          <a:p>
            <a:pPr marL="0" indent="0" algn="l">
              <a:lnSpc>
                <a:spcPts val="1950"/>
              </a:lnSpc>
              <a:buNone/>
            </a:pPr>
            <a:r>
              <a:rPr lang="en-US" sz="1500" dirty="0">
                <a:solidFill>
                  <a:srgbClr val="E9EBF0"/>
                </a:solidFill>
                <a:latin typeface="Lato" panose="020F0502020204030203" pitchFamily="34" charset="0"/>
                <a:ea typeface="Lato" panose="020F0502020204030203" pitchFamily="34" charset="-122"/>
                <a:cs typeface="Lato" panose="020F0502020204030203" pitchFamily="34" charset="-120"/>
              </a:rPr>
              <a:t>JPA e Hibernate con PostgreSQL reemplazaron el almacenamiento en memoria del catálogo.</a:t>
            </a:r>
            <a:endParaRPr lang="en-US" sz="1500" dirty="0"/>
          </a:p>
        </p:txBody>
      </p:sp>
      <p:sp>
        <p:nvSpPr>
          <p:cNvPr id="8" name="Shape 6"/>
          <p:cNvSpPr/>
          <p:nvPr/>
        </p:nvSpPr>
        <p:spPr>
          <a:xfrm>
            <a:off x="812770" y="2062163"/>
            <a:ext cx="10566460" cy="505364"/>
          </a:xfrm>
          <a:prstGeom prst="roundRect">
            <a:avLst>
              <a:gd name="adj" fmla="val 17591"/>
            </a:avLst>
          </a:prstGeom>
          <a:solidFill>
            <a:srgbClr val="2A2F3B"/>
          </a:solidFill>
        </p:spPr>
        <p:txBody>
          <a:bodyPr/>
          <a:lstStyle/>
          <a:p>
            <a:endParaRPr lang="es-PE"/>
          </a:p>
        </p:txBody>
      </p:sp>
      <p:sp>
        <p:nvSpPr>
          <p:cNvPr id="9" name="Text 7"/>
          <p:cNvSpPr/>
          <p:nvPr/>
        </p:nvSpPr>
        <p:spPr>
          <a:xfrm>
            <a:off x="977840" y="2163700"/>
            <a:ext cx="406370" cy="327684"/>
          </a:xfrm>
          <a:prstGeom prst="rect">
            <a:avLst/>
          </a:prstGeom>
          <a:noFill/>
        </p:spPr>
        <p:txBody>
          <a:bodyPr wrap="square" lIns="0" tIns="0" rIns="0" bIns="0" rtlCol="0" anchor="t">
            <a:normAutofit/>
          </a:bodyPr>
          <a:lstStyle/>
          <a:p>
            <a:pPr marL="0" indent="0" algn="l">
              <a:lnSpc>
                <a:spcPts val="2380"/>
              </a:lnSpc>
              <a:buNone/>
            </a:pPr>
            <a:r>
              <a:rPr lang="en-US" sz="1700" b="1" dirty="0">
                <a:solidFill>
                  <a:srgbClr val="FBBF24"/>
                </a:solidFill>
                <a:latin typeface="Lato" panose="020F0502020204030203" pitchFamily="34" charset="0"/>
                <a:ea typeface="Lato" panose="020F0502020204030203" pitchFamily="34" charset="-122"/>
                <a:cs typeface="Lato" panose="020F0502020204030203" pitchFamily="34" charset="-120"/>
              </a:rPr>
              <a:t>02</a:t>
            </a:r>
            <a:endParaRPr lang="en-US" sz="1700" dirty="0"/>
          </a:p>
        </p:txBody>
      </p:sp>
      <p:sp>
        <p:nvSpPr>
          <p:cNvPr id="10" name="Text 8"/>
          <p:cNvSpPr/>
          <p:nvPr/>
        </p:nvSpPr>
        <p:spPr>
          <a:xfrm>
            <a:off x="1485810" y="2191023"/>
            <a:ext cx="10020200" cy="273050"/>
          </a:xfrm>
          <a:prstGeom prst="rect">
            <a:avLst/>
          </a:prstGeom>
          <a:noFill/>
        </p:spPr>
        <p:txBody>
          <a:bodyPr wrap="square" lIns="0" tIns="0" rIns="0" bIns="0" rtlCol="0" anchor="t">
            <a:normAutofit/>
          </a:bodyPr>
          <a:lstStyle/>
          <a:p>
            <a:pPr marL="0" indent="0" algn="l">
              <a:lnSpc>
                <a:spcPts val="1950"/>
              </a:lnSpc>
              <a:buNone/>
            </a:pPr>
            <a:r>
              <a:rPr lang="en-US" sz="1500" dirty="0">
                <a:solidFill>
                  <a:srgbClr val="E9EBF0"/>
                </a:solidFill>
                <a:latin typeface="Lato" panose="020F0502020204030203" pitchFamily="34" charset="0"/>
                <a:ea typeface="Lato" panose="020F0502020204030203" pitchFamily="34" charset="-122"/>
                <a:cs typeface="Lato" panose="020F0502020204030203" pitchFamily="34" charset="-120"/>
              </a:rPr>
              <a:t>Cinco entidades con relaciones uno a muchos registran cada compra como cabecera y detalles.</a:t>
            </a:r>
            <a:endParaRPr lang="en-US" sz="1500" dirty="0"/>
          </a:p>
        </p:txBody>
      </p:sp>
      <p:sp>
        <p:nvSpPr>
          <p:cNvPr id="11" name="Shape 9"/>
          <p:cNvSpPr/>
          <p:nvPr/>
        </p:nvSpPr>
        <p:spPr>
          <a:xfrm>
            <a:off x="812770" y="2656396"/>
            <a:ext cx="10566460" cy="505364"/>
          </a:xfrm>
          <a:prstGeom prst="roundRect">
            <a:avLst>
              <a:gd name="adj" fmla="val 17591"/>
            </a:avLst>
          </a:prstGeom>
          <a:solidFill>
            <a:srgbClr val="2A2F3B"/>
          </a:solidFill>
        </p:spPr>
        <p:txBody>
          <a:bodyPr/>
          <a:lstStyle/>
          <a:p>
            <a:endParaRPr lang="es-PE"/>
          </a:p>
        </p:txBody>
      </p:sp>
      <p:sp>
        <p:nvSpPr>
          <p:cNvPr id="12" name="Text 10"/>
          <p:cNvSpPr/>
          <p:nvPr/>
        </p:nvSpPr>
        <p:spPr>
          <a:xfrm>
            <a:off x="977840" y="2757934"/>
            <a:ext cx="406370" cy="327684"/>
          </a:xfrm>
          <a:prstGeom prst="rect">
            <a:avLst/>
          </a:prstGeom>
          <a:noFill/>
        </p:spPr>
        <p:txBody>
          <a:bodyPr wrap="square" lIns="0" tIns="0" rIns="0" bIns="0" rtlCol="0" anchor="t">
            <a:normAutofit/>
          </a:bodyPr>
          <a:lstStyle/>
          <a:p>
            <a:pPr marL="0" indent="0" algn="l">
              <a:lnSpc>
                <a:spcPts val="2380"/>
              </a:lnSpc>
              <a:buNone/>
            </a:pPr>
            <a:r>
              <a:rPr lang="en-US" sz="1700" b="1" dirty="0">
                <a:solidFill>
                  <a:srgbClr val="FBBF24"/>
                </a:solidFill>
                <a:latin typeface="Lato" panose="020F0502020204030203" pitchFamily="34" charset="0"/>
                <a:ea typeface="Lato" panose="020F0502020204030203" pitchFamily="34" charset="-122"/>
                <a:cs typeface="Lato" panose="020F0502020204030203" pitchFamily="34" charset="-120"/>
              </a:rPr>
              <a:t>03</a:t>
            </a:r>
            <a:endParaRPr lang="en-US" sz="1700" dirty="0"/>
          </a:p>
        </p:txBody>
      </p:sp>
      <p:sp>
        <p:nvSpPr>
          <p:cNvPr id="13" name="Text 11"/>
          <p:cNvSpPr/>
          <p:nvPr/>
        </p:nvSpPr>
        <p:spPr>
          <a:xfrm>
            <a:off x="1485810" y="2785256"/>
            <a:ext cx="10020200" cy="273050"/>
          </a:xfrm>
          <a:prstGeom prst="rect">
            <a:avLst/>
          </a:prstGeom>
          <a:noFill/>
        </p:spPr>
        <p:txBody>
          <a:bodyPr wrap="square" lIns="0" tIns="0" rIns="0" bIns="0" rtlCol="0" anchor="t">
            <a:normAutofit/>
          </a:bodyPr>
          <a:lstStyle/>
          <a:p>
            <a:pPr marL="0" indent="0" algn="l">
              <a:lnSpc>
                <a:spcPts val="1950"/>
              </a:lnSpc>
              <a:buNone/>
            </a:pPr>
            <a:r>
              <a:rPr lang="en-US" sz="1500" dirty="0">
                <a:solidFill>
                  <a:srgbClr val="E9EBF0"/>
                </a:solidFill>
                <a:latin typeface="Lato" panose="020F0502020204030203" pitchFamily="34" charset="0"/>
                <a:ea typeface="Lato" panose="020F0502020204030203" pitchFamily="34" charset="-122"/>
                <a:cs typeface="Lato" panose="020F0502020204030203" pitchFamily="34" charset="-120"/>
              </a:rPr>
              <a:t>Spring Validation (@Valid, BindingResult y th:errors) evita datos inválidos y avisa al usuario.</a:t>
            </a:r>
            <a:endParaRPr lang="en-US" sz="1500" dirty="0"/>
          </a:p>
        </p:txBody>
      </p:sp>
      <p:sp>
        <p:nvSpPr>
          <p:cNvPr id="14" name="Shape 12"/>
          <p:cNvSpPr/>
          <p:nvPr/>
        </p:nvSpPr>
        <p:spPr>
          <a:xfrm>
            <a:off x="812770" y="3250629"/>
            <a:ext cx="10566460" cy="505364"/>
          </a:xfrm>
          <a:prstGeom prst="roundRect">
            <a:avLst>
              <a:gd name="adj" fmla="val 17591"/>
            </a:avLst>
          </a:prstGeom>
          <a:solidFill>
            <a:srgbClr val="2A2F3B"/>
          </a:solidFill>
        </p:spPr>
        <p:txBody>
          <a:bodyPr/>
          <a:lstStyle/>
          <a:p>
            <a:endParaRPr lang="es-PE"/>
          </a:p>
        </p:txBody>
      </p:sp>
      <p:sp>
        <p:nvSpPr>
          <p:cNvPr id="15" name="Text 13"/>
          <p:cNvSpPr/>
          <p:nvPr/>
        </p:nvSpPr>
        <p:spPr>
          <a:xfrm>
            <a:off x="977840" y="3352167"/>
            <a:ext cx="406370" cy="327684"/>
          </a:xfrm>
          <a:prstGeom prst="rect">
            <a:avLst/>
          </a:prstGeom>
          <a:noFill/>
        </p:spPr>
        <p:txBody>
          <a:bodyPr wrap="square" lIns="0" tIns="0" rIns="0" bIns="0" rtlCol="0" anchor="t">
            <a:normAutofit/>
          </a:bodyPr>
          <a:lstStyle/>
          <a:p>
            <a:pPr marL="0" indent="0" algn="l">
              <a:lnSpc>
                <a:spcPts val="2380"/>
              </a:lnSpc>
              <a:buNone/>
            </a:pPr>
            <a:r>
              <a:rPr lang="en-US" sz="1700" b="1" dirty="0">
                <a:solidFill>
                  <a:srgbClr val="FBBF24"/>
                </a:solidFill>
                <a:latin typeface="Lato" panose="020F0502020204030203" pitchFamily="34" charset="0"/>
                <a:ea typeface="Lato" panose="020F0502020204030203" pitchFamily="34" charset="-122"/>
                <a:cs typeface="Lato" panose="020F0502020204030203" pitchFamily="34" charset="-120"/>
              </a:rPr>
              <a:t>04</a:t>
            </a:r>
            <a:endParaRPr lang="en-US" sz="1700" dirty="0"/>
          </a:p>
        </p:txBody>
      </p:sp>
      <p:sp>
        <p:nvSpPr>
          <p:cNvPr id="16" name="Text 14"/>
          <p:cNvSpPr/>
          <p:nvPr/>
        </p:nvSpPr>
        <p:spPr>
          <a:xfrm>
            <a:off x="1485810" y="3379490"/>
            <a:ext cx="10020200" cy="273050"/>
          </a:xfrm>
          <a:prstGeom prst="rect">
            <a:avLst/>
          </a:prstGeom>
          <a:noFill/>
        </p:spPr>
        <p:txBody>
          <a:bodyPr wrap="square" lIns="0" tIns="0" rIns="0" bIns="0" rtlCol="0" anchor="t">
            <a:normAutofit/>
          </a:bodyPr>
          <a:lstStyle/>
          <a:p>
            <a:pPr marL="0" indent="0" algn="l">
              <a:lnSpc>
                <a:spcPts val="1950"/>
              </a:lnSpc>
              <a:buNone/>
            </a:pPr>
            <a:r>
              <a:rPr lang="en-US" sz="1500" dirty="0">
                <a:solidFill>
                  <a:srgbClr val="E9EBF0"/>
                </a:solidFill>
                <a:latin typeface="Lato" panose="020F0502020204030203" pitchFamily="34" charset="0"/>
                <a:ea typeface="Lato" panose="020F0502020204030203" pitchFamily="34" charset="-122"/>
                <a:cs typeface="Lato" panose="020F0502020204030203" pitchFamily="34" charset="-120"/>
              </a:rPr>
              <a:t>La arquitectura por capas permitió cambiar la persistencia sin modificar las vistas.</a:t>
            </a:r>
            <a:endParaRPr lang="en-US" sz="1500" dirty="0"/>
          </a:p>
        </p:txBody>
      </p:sp>
      <p:sp>
        <p:nvSpPr>
          <p:cNvPr id="17" name="Shape 15"/>
          <p:cNvSpPr/>
          <p:nvPr/>
        </p:nvSpPr>
        <p:spPr>
          <a:xfrm>
            <a:off x="812770" y="3844863"/>
            <a:ext cx="10566460" cy="505364"/>
          </a:xfrm>
          <a:prstGeom prst="roundRect">
            <a:avLst>
              <a:gd name="adj" fmla="val 17591"/>
            </a:avLst>
          </a:prstGeom>
          <a:solidFill>
            <a:srgbClr val="2A2F3B"/>
          </a:solidFill>
        </p:spPr>
        <p:txBody>
          <a:bodyPr/>
          <a:lstStyle/>
          <a:p>
            <a:endParaRPr lang="es-PE"/>
          </a:p>
        </p:txBody>
      </p:sp>
      <p:sp>
        <p:nvSpPr>
          <p:cNvPr id="18" name="Text 16"/>
          <p:cNvSpPr/>
          <p:nvPr/>
        </p:nvSpPr>
        <p:spPr>
          <a:xfrm>
            <a:off x="977840" y="3946413"/>
            <a:ext cx="406370" cy="327684"/>
          </a:xfrm>
          <a:prstGeom prst="rect">
            <a:avLst/>
          </a:prstGeom>
          <a:noFill/>
        </p:spPr>
        <p:txBody>
          <a:bodyPr wrap="square" lIns="0" tIns="0" rIns="0" bIns="0" rtlCol="0" anchor="t">
            <a:normAutofit/>
          </a:bodyPr>
          <a:lstStyle/>
          <a:p>
            <a:pPr marL="0" indent="0" algn="l">
              <a:lnSpc>
                <a:spcPts val="2380"/>
              </a:lnSpc>
              <a:buNone/>
            </a:pPr>
            <a:r>
              <a:rPr lang="en-US" sz="1700" b="1" dirty="0">
                <a:solidFill>
                  <a:srgbClr val="FBBF24"/>
                </a:solidFill>
                <a:latin typeface="Lato" panose="020F0502020204030203" pitchFamily="34" charset="0"/>
                <a:ea typeface="Lato" panose="020F0502020204030203" pitchFamily="34" charset="-122"/>
                <a:cs typeface="Lato" panose="020F0502020204030203" pitchFamily="34" charset="-120"/>
              </a:rPr>
              <a:t>05</a:t>
            </a:r>
            <a:endParaRPr lang="en-US" sz="1700" dirty="0"/>
          </a:p>
        </p:txBody>
      </p:sp>
      <p:sp>
        <p:nvSpPr>
          <p:cNvPr id="19" name="Text 17"/>
          <p:cNvSpPr/>
          <p:nvPr/>
        </p:nvSpPr>
        <p:spPr>
          <a:xfrm>
            <a:off x="1485810" y="3973723"/>
            <a:ext cx="10020200" cy="273050"/>
          </a:xfrm>
          <a:prstGeom prst="rect">
            <a:avLst/>
          </a:prstGeom>
          <a:noFill/>
        </p:spPr>
        <p:txBody>
          <a:bodyPr wrap="square" lIns="0" tIns="0" rIns="0" bIns="0" rtlCol="0" anchor="t">
            <a:normAutofit/>
          </a:bodyPr>
          <a:lstStyle/>
          <a:p>
            <a:pPr marL="0" indent="0" algn="l">
              <a:lnSpc>
                <a:spcPts val="1950"/>
              </a:lnSpc>
              <a:buNone/>
            </a:pPr>
            <a:r>
              <a:rPr lang="en-US" sz="1500" dirty="0">
                <a:solidFill>
                  <a:srgbClr val="E9EBF0"/>
                </a:solidFill>
                <a:latin typeface="Lato" panose="020F0502020204030203" pitchFamily="34" charset="0"/>
                <a:ea typeface="Lato" panose="020F0502020204030203" pitchFamily="34" charset="-122"/>
                <a:cs typeface="Lato" panose="020F0502020204030203" pitchFamily="34" charset="-120"/>
              </a:rPr>
              <a:t>Bulma y Thymeleaf dan una interfaz responsiva; la venta 6 por S/. 70.00 evidencia el flujo completo.</a:t>
            </a:r>
            <a:endParaRPr lang="en-US" sz="1500" dirty="0"/>
          </a:p>
        </p:txBody>
      </p:sp>
      <p:sp>
        <p:nvSpPr>
          <p:cNvPr id="20" name="Text 18"/>
          <p:cNvSpPr/>
          <p:nvPr/>
        </p:nvSpPr>
        <p:spPr>
          <a:xfrm>
            <a:off x="812770" y="6238342"/>
            <a:ext cx="7325299" cy="238724"/>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A9B0C0"/>
                </a:solidFill>
                <a:latin typeface="Lato" panose="020F0502020204030203" pitchFamily="34" charset="0"/>
                <a:ea typeface="Lato" panose="020F0502020204030203" pitchFamily="34" charset="-122"/>
                <a:cs typeface="Lato" panose="020F0502020204030203" pitchFamily="34" charset="-120"/>
              </a:rPr>
              <a:t>LINKSPORT · AVANCE 03 · Síntesis de las conclusiones del informe final</a:t>
            </a:r>
            <a:endParaRPr lang="en-US" sz="1200" dirty="0"/>
          </a:p>
        </p:txBody>
      </p:sp>
      <p:sp>
        <p:nvSpPr>
          <p:cNvPr id="21" name="Text 19"/>
          <p:cNvSpPr/>
          <p:nvPr/>
        </p:nvSpPr>
        <p:spPr>
          <a:xfrm>
            <a:off x="8108921" y="6238342"/>
            <a:ext cx="3270219" cy="238724"/>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A9B0C0"/>
                </a:solidFill>
                <a:latin typeface="Lato" panose="020F0502020204030203" pitchFamily="34" charset="0"/>
                <a:ea typeface="Lato" panose="020F0502020204030203" pitchFamily="34" charset="-122"/>
                <a:cs typeface="Lato" panose="020F0502020204030203" pitchFamily="34" charset="-120"/>
              </a:rPr>
              <a:t>Expone: José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5F1"/>
        </a:solidFill>
        <a:effectLst/>
      </p:bgPr>
    </p:bg>
    <p:spTree>
      <p:nvGrpSpPr>
        <p:cNvPr id="1" name=""/>
        <p:cNvGrpSpPr/>
        <p:nvPr/>
      </p:nvGrpSpPr>
      <p:grpSpPr>
        <a:xfrm>
          <a:off x="0" y="0"/>
          <a:ext cx="0" cy="0"/>
          <a:chOff x="0" y="0"/>
          <a:chExt cx="0" cy="0"/>
        </a:xfrm>
      </p:grpSpPr>
      <p:sp>
        <p:nvSpPr>
          <p:cNvPr id="2" name="Shape 0"/>
          <p:cNvSpPr/>
          <p:nvPr/>
        </p:nvSpPr>
        <p:spPr>
          <a:xfrm>
            <a:off x="812770" y="690835"/>
            <a:ext cx="355570" cy="50770"/>
          </a:xfrm>
          <a:prstGeom prst="rect">
            <a:avLst/>
          </a:prstGeom>
          <a:solidFill>
            <a:srgbClr val="FBBF24"/>
          </a:solidFill>
        </p:spPr>
        <p:txBody>
          <a:bodyPr/>
          <a:lstStyle/>
          <a:p>
            <a:endParaRPr lang="es-PE"/>
          </a:p>
        </p:txBody>
      </p:sp>
      <p:sp>
        <p:nvSpPr>
          <p:cNvPr id="3" name="Text 1"/>
          <p:cNvSpPr/>
          <p:nvPr/>
        </p:nvSpPr>
        <p:spPr>
          <a:xfrm>
            <a:off x="1269880" y="609600"/>
            <a:ext cx="1370306" cy="238724"/>
          </a:xfrm>
          <a:prstGeom prst="rect">
            <a:avLst/>
          </a:prstGeom>
          <a:noFill/>
        </p:spPr>
        <p:txBody>
          <a:bodyPr wrap="square" lIns="0" tIns="0" rIns="0" bIns="0" rtlCol="0" anchor="t">
            <a:normAutofit/>
          </a:bodyPr>
          <a:lstStyle/>
          <a:p>
            <a:pPr marL="0" indent="0" algn="l">
              <a:lnSpc>
                <a:spcPts val="1680"/>
              </a:lnSpc>
              <a:buNone/>
            </a:pPr>
            <a:r>
              <a:rPr lang="en-US" sz="1200" b="1" kern="0" spc="100" dirty="0">
                <a:solidFill>
                  <a:srgbClr val="596070"/>
                </a:solidFill>
                <a:latin typeface="Lato" panose="020F0502020204030203" pitchFamily="34" charset="0"/>
                <a:ea typeface="Lato" panose="020F0502020204030203" pitchFamily="34" charset="-122"/>
                <a:cs typeface="Lato" panose="020F0502020204030203" pitchFamily="34" charset="-120"/>
              </a:rPr>
              <a:t>REFERENCIAS</a:t>
            </a:r>
            <a:endParaRPr lang="en-US" sz="1200" dirty="0"/>
          </a:p>
        </p:txBody>
      </p:sp>
      <p:sp>
        <p:nvSpPr>
          <p:cNvPr id="4" name="Text 2"/>
          <p:cNvSpPr>
            <a:spLocks noGrp="1"/>
          </p:cNvSpPr>
          <p:nvPr>
            <p:ph type="title"/>
          </p:nvPr>
        </p:nvSpPr>
        <p:spPr>
          <a:xfrm>
            <a:off x="812770" y="899133"/>
            <a:ext cx="10883453" cy="416464"/>
          </a:xfrm>
          <a:prstGeom prst="rect">
            <a:avLst/>
          </a:prstGeom>
          <a:noFill/>
        </p:spPr>
        <p:txBody>
          <a:bodyPr wrap="square" lIns="0" tIns="0" rIns="0" bIns="0" rtlCol="0" anchor="t">
            <a:normAutofit/>
          </a:bodyPr>
          <a:lstStyle/>
          <a:p>
            <a:pPr marL="0" indent="0" algn="l">
              <a:lnSpc>
                <a:spcPts val="3080"/>
              </a:lnSpc>
              <a:buNone/>
            </a:pPr>
            <a:r>
              <a:rPr lang="en-US" sz="2800" b="1" i="0" dirty="0">
                <a:solidFill>
                  <a:srgbClr val="1E222B"/>
                </a:solidFill>
                <a:latin typeface="Lato" panose="020F0502020204030203" pitchFamily="34" charset="0"/>
                <a:ea typeface="Lato" panose="020F0502020204030203" pitchFamily="34" charset="-122"/>
                <a:cs typeface="Lato" panose="020F0502020204030203" pitchFamily="34" charset="-120"/>
              </a:rPr>
              <a:t>Bibliografía del informe (APA)</a:t>
            </a:r>
            <a:endParaRPr lang="en-US" sz="2800" dirty="0"/>
          </a:p>
        </p:txBody>
      </p:sp>
      <p:sp>
        <p:nvSpPr>
          <p:cNvPr id="5" name="Text 3"/>
          <p:cNvSpPr/>
          <p:nvPr/>
        </p:nvSpPr>
        <p:spPr>
          <a:xfrm>
            <a:off x="812770" y="1467929"/>
            <a:ext cx="5310948" cy="436772"/>
          </a:xfrm>
          <a:prstGeom prst="rect">
            <a:avLst/>
          </a:prstGeom>
          <a:noFill/>
        </p:spPr>
        <p:txBody>
          <a:bodyPr wrap="square" lIns="0" tIns="0" rIns="0" bIns="0" rtlCol="0" anchor="t">
            <a:normAutofit/>
          </a:bodyPr>
          <a:lstStyle/>
          <a:p>
            <a:pPr marL="0" indent="0" algn="l">
              <a:lnSpc>
                <a:spcPts val="1620"/>
              </a:lnSpc>
              <a:buNone/>
            </a:pPr>
            <a:r>
              <a:rPr lang="en-US" sz="1200" dirty="0">
                <a:solidFill>
                  <a:srgbClr val="2B303B"/>
                </a:solidFill>
                <a:latin typeface="Lato" panose="020F0502020204030203" pitchFamily="34" charset="0"/>
                <a:ea typeface="Lato" panose="020F0502020204030203" pitchFamily="34" charset="-122"/>
                <a:cs typeface="Lato" panose="020F0502020204030203" pitchFamily="34" charset="-120"/>
              </a:rPr>
              <a:t>Bauer, C., King, G., &amp; Gregory, G. (2015). </a:t>
            </a:r>
            <a:r>
              <a:rPr lang="en-US" sz="1200" i="1" dirty="0">
                <a:solidFill>
                  <a:srgbClr val="2B303B"/>
                </a:solidFill>
                <a:latin typeface="Lato" panose="020F0502020204030203" pitchFamily="34" charset="0"/>
                <a:ea typeface="Lato" panose="020F0502020204030203" pitchFamily="34" charset="-122"/>
                <a:cs typeface="Lato" panose="020F0502020204030203" pitchFamily="34" charset="-120"/>
              </a:rPr>
              <a:t>Java persistence with Hibernate</a:t>
            </a:r>
            <a:r>
              <a:rPr lang="en-US" sz="1200" dirty="0">
                <a:solidFill>
                  <a:srgbClr val="2B303B"/>
                </a:solidFill>
                <a:latin typeface="Lato" panose="020F0502020204030203" pitchFamily="34" charset="0"/>
                <a:ea typeface="Lato" panose="020F0502020204030203" pitchFamily="34" charset="-122"/>
                <a:cs typeface="Lato" panose="020F0502020204030203" pitchFamily="34" charset="-120"/>
              </a:rPr>
              <a:t> (2.ª ed.). Manning Publications.</a:t>
            </a:r>
            <a:endParaRPr lang="en-US" sz="1200" dirty="0"/>
          </a:p>
        </p:txBody>
      </p:sp>
      <p:sp>
        <p:nvSpPr>
          <p:cNvPr id="6" name="Text 4"/>
          <p:cNvSpPr/>
          <p:nvPr/>
        </p:nvSpPr>
        <p:spPr>
          <a:xfrm>
            <a:off x="812770" y="1968178"/>
            <a:ext cx="5310948" cy="231086"/>
          </a:xfrm>
          <a:prstGeom prst="rect">
            <a:avLst/>
          </a:prstGeom>
          <a:noFill/>
        </p:spPr>
        <p:txBody>
          <a:bodyPr wrap="square" lIns="0" tIns="0" rIns="0" bIns="0" rtlCol="0" anchor="t">
            <a:normAutofit/>
          </a:bodyPr>
          <a:lstStyle/>
          <a:p>
            <a:pPr marL="0" indent="0" algn="l">
              <a:lnSpc>
                <a:spcPts val="1620"/>
              </a:lnSpc>
              <a:buNone/>
            </a:pPr>
            <a:r>
              <a:rPr lang="en-US" sz="1200" dirty="0">
                <a:solidFill>
                  <a:srgbClr val="2B303B"/>
                </a:solidFill>
                <a:latin typeface="Lato" panose="020F0502020204030203" pitchFamily="34" charset="0"/>
                <a:ea typeface="Lato" panose="020F0502020204030203" pitchFamily="34" charset="-122"/>
                <a:cs typeface="Lato" panose="020F0502020204030203" pitchFamily="34" charset="-120"/>
              </a:rPr>
              <a:t>Bulma. (2025). </a:t>
            </a:r>
            <a:r>
              <a:rPr lang="en-US" sz="1200" i="1" dirty="0">
                <a:solidFill>
                  <a:srgbClr val="2B303B"/>
                </a:solidFill>
                <a:latin typeface="Lato" panose="020F0502020204030203" pitchFamily="34" charset="0"/>
                <a:ea typeface="Lato" panose="020F0502020204030203" pitchFamily="34" charset="-122"/>
                <a:cs typeface="Lato" panose="020F0502020204030203" pitchFamily="34" charset="-120"/>
              </a:rPr>
              <a:t>Bulma documentation</a:t>
            </a:r>
            <a:r>
              <a:rPr lang="en-US" sz="1200" dirty="0">
                <a:solidFill>
                  <a:srgbClr val="2B303B"/>
                </a:solidFill>
                <a:latin typeface="Lato" panose="020F0502020204030203" pitchFamily="34" charset="0"/>
                <a:ea typeface="Lato" panose="020F0502020204030203" pitchFamily="34" charset="-122"/>
                <a:cs typeface="Lato" panose="020F0502020204030203" pitchFamily="34" charset="-120"/>
              </a:rPr>
              <a:t>. bulma.io/documentation</a:t>
            </a:r>
            <a:endParaRPr lang="en-US" sz="1200" dirty="0"/>
          </a:p>
        </p:txBody>
      </p:sp>
      <p:sp>
        <p:nvSpPr>
          <p:cNvPr id="7" name="Text 5"/>
          <p:cNvSpPr/>
          <p:nvPr/>
        </p:nvSpPr>
        <p:spPr>
          <a:xfrm>
            <a:off x="812770" y="2262733"/>
            <a:ext cx="5310948" cy="436772"/>
          </a:xfrm>
          <a:prstGeom prst="rect">
            <a:avLst/>
          </a:prstGeom>
          <a:noFill/>
        </p:spPr>
        <p:txBody>
          <a:bodyPr wrap="square" lIns="0" tIns="0" rIns="0" bIns="0" rtlCol="0" anchor="t">
            <a:normAutofit/>
          </a:bodyPr>
          <a:lstStyle/>
          <a:p>
            <a:pPr marL="0" indent="0" algn="l">
              <a:lnSpc>
                <a:spcPts val="1620"/>
              </a:lnSpc>
              <a:buNone/>
            </a:pPr>
            <a:r>
              <a:rPr lang="en-US" sz="1200" dirty="0">
                <a:solidFill>
                  <a:srgbClr val="2B303B"/>
                </a:solidFill>
                <a:latin typeface="Lato" panose="020F0502020204030203" pitchFamily="34" charset="0"/>
                <a:ea typeface="Lato" panose="020F0502020204030203" pitchFamily="34" charset="-122"/>
                <a:cs typeface="Lato" panose="020F0502020204030203" pitchFamily="34" charset="-120"/>
              </a:rPr>
              <a:t>CAPECE. (2023). </a:t>
            </a:r>
            <a:r>
              <a:rPr lang="en-US" sz="1200" i="1" dirty="0">
                <a:solidFill>
                  <a:srgbClr val="2B303B"/>
                </a:solidFill>
                <a:latin typeface="Lato" panose="020F0502020204030203" pitchFamily="34" charset="0"/>
                <a:ea typeface="Lato" panose="020F0502020204030203" pitchFamily="34" charset="-122"/>
                <a:cs typeface="Lato" panose="020F0502020204030203" pitchFamily="34" charset="-120"/>
              </a:rPr>
              <a:t>Reporte oficial de la industria Ecommerce en Perú 2022-2023</a:t>
            </a:r>
            <a:r>
              <a:rPr lang="en-US" sz="1200" dirty="0">
                <a:solidFill>
                  <a:srgbClr val="2B303B"/>
                </a:solidFill>
                <a:latin typeface="Lato" panose="020F0502020204030203" pitchFamily="34" charset="0"/>
                <a:ea typeface="Lato" panose="020F0502020204030203" pitchFamily="34" charset="-122"/>
                <a:cs typeface="Lato" panose="020F0502020204030203" pitchFamily="34" charset="-120"/>
              </a:rPr>
              <a:t>. Cámara Peruana de Comercio Electrónico.</a:t>
            </a:r>
            <a:endParaRPr lang="en-US" sz="1200" dirty="0"/>
          </a:p>
        </p:txBody>
      </p:sp>
      <p:sp>
        <p:nvSpPr>
          <p:cNvPr id="8" name="Text 6"/>
          <p:cNvSpPr/>
          <p:nvPr/>
        </p:nvSpPr>
        <p:spPr>
          <a:xfrm>
            <a:off x="812770" y="2762969"/>
            <a:ext cx="5310948" cy="436772"/>
          </a:xfrm>
          <a:prstGeom prst="rect">
            <a:avLst/>
          </a:prstGeom>
          <a:noFill/>
        </p:spPr>
        <p:txBody>
          <a:bodyPr wrap="square" lIns="0" tIns="0" rIns="0" bIns="0" rtlCol="0" anchor="t">
            <a:normAutofit/>
          </a:bodyPr>
          <a:lstStyle/>
          <a:p>
            <a:pPr marL="0" indent="0" algn="l">
              <a:lnSpc>
                <a:spcPts val="1620"/>
              </a:lnSpc>
              <a:buNone/>
            </a:pPr>
            <a:r>
              <a:rPr lang="en-US" sz="1200" dirty="0">
                <a:solidFill>
                  <a:srgbClr val="2B303B"/>
                </a:solidFill>
                <a:latin typeface="Lato" panose="020F0502020204030203" pitchFamily="34" charset="0"/>
                <a:ea typeface="Lato" panose="020F0502020204030203" pitchFamily="34" charset="-122"/>
                <a:cs typeface="Lato" panose="020F0502020204030203" pitchFamily="34" charset="-120"/>
              </a:rPr>
              <a:t>Fowler, M. (2002). </a:t>
            </a:r>
            <a:r>
              <a:rPr lang="en-US" sz="1200" i="1" dirty="0">
                <a:solidFill>
                  <a:srgbClr val="2B303B"/>
                </a:solidFill>
                <a:latin typeface="Lato" panose="020F0502020204030203" pitchFamily="34" charset="0"/>
                <a:ea typeface="Lato" panose="020F0502020204030203" pitchFamily="34" charset="-122"/>
                <a:cs typeface="Lato" panose="020F0502020204030203" pitchFamily="34" charset="-120"/>
              </a:rPr>
              <a:t>Patterns of enterprise application architecture</a:t>
            </a:r>
            <a:r>
              <a:rPr lang="en-US" sz="1200" dirty="0">
                <a:solidFill>
                  <a:srgbClr val="2B303B"/>
                </a:solidFill>
                <a:latin typeface="Lato" panose="020F0502020204030203" pitchFamily="34" charset="0"/>
                <a:ea typeface="Lato" panose="020F0502020204030203" pitchFamily="34" charset="-122"/>
                <a:cs typeface="Lato" panose="020F0502020204030203" pitchFamily="34" charset="-120"/>
              </a:rPr>
              <a:t>. Addison-Wesley.</a:t>
            </a:r>
            <a:endParaRPr lang="en-US" sz="1200" dirty="0"/>
          </a:p>
        </p:txBody>
      </p:sp>
      <p:sp>
        <p:nvSpPr>
          <p:cNvPr id="9" name="Text 7"/>
          <p:cNvSpPr/>
          <p:nvPr/>
        </p:nvSpPr>
        <p:spPr>
          <a:xfrm>
            <a:off x="812770" y="3263218"/>
            <a:ext cx="5310948" cy="436772"/>
          </a:xfrm>
          <a:prstGeom prst="rect">
            <a:avLst/>
          </a:prstGeom>
          <a:noFill/>
        </p:spPr>
        <p:txBody>
          <a:bodyPr wrap="square" lIns="0" tIns="0" rIns="0" bIns="0" rtlCol="0" anchor="t">
            <a:normAutofit/>
          </a:bodyPr>
          <a:lstStyle/>
          <a:p>
            <a:pPr marL="0" indent="0" algn="l">
              <a:lnSpc>
                <a:spcPts val="1620"/>
              </a:lnSpc>
              <a:buNone/>
            </a:pPr>
            <a:r>
              <a:rPr lang="en-US" sz="1200" dirty="0">
                <a:solidFill>
                  <a:srgbClr val="2B303B"/>
                </a:solidFill>
                <a:latin typeface="Lato" panose="020F0502020204030203" pitchFamily="34" charset="0"/>
                <a:ea typeface="Lato" panose="020F0502020204030203" pitchFamily="34" charset="-122"/>
                <a:cs typeface="Lato" panose="020F0502020204030203" pitchFamily="34" charset="-120"/>
              </a:rPr>
              <a:t>Gamma, E., Helm, R., Johnson, R., &amp; Vlissides, J. (1994). </a:t>
            </a:r>
            <a:r>
              <a:rPr lang="en-US" sz="1200" i="1" dirty="0">
                <a:solidFill>
                  <a:srgbClr val="2B303B"/>
                </a:solidFill>
                <a:latin typeface="Lato" panose="020F0502020204030203" pitchFamily="34" charset="0"/>
                <a:ea typeface="Lato" panose="020F0502020204030203" pitchFamily="34" charset="-122"/>
                <a:cs typeface="Lato" panose="020F0502020204030203" pitchFamily="34" charset="-120"/>
              </a:rPr>
              <a:t>Design patterns: Elements of reusable object-oriented software</a:t>
            </a:r>
            <a:r>
              <a:rPr lang="en-US" sz="1200" dirty="0">
                <a:solidFill>
                  <a:srgbClr val="2B303B"/>
                </a:solidFill>
                <a:latin typeface="Lato" panose="020F0502020204030203" pitchFamily="34" charset="0"/>
                <a:ea typeface="Lato" panose="020F0502020204030203" pitchFamily="34" charset="-122"/>
                <a:cs typeface="Lato" panose="020F0502020204030203" pitchFamily="34" charset="-120"/>
              </a:rPr>
              <a:t>. Addison-Wesley.</a:t>
            </a:r>
            <a:endParaRPr lang="en-US" sz="1200" dirty="0"/>
          </a:p>
        </p:txBody>
      </p:sp>
      <p:sp>
        <p:nvSpPr>
          <p:cNvPr id="10" name="Text 8"/>
          <p:cNvSpPr/>
          <p:nvPr/>
        </p:nvSpPr>
        <p:spPr>
          <a:xfrm>
            <a:off x="812770" y="3763454"/>
            <a:ext cx="5310948" cy="436772"/>
          </a:xfrm>
          <a:prstGeom prst="rect">
            <a:avLst/>
          </a:prstGeom>
          <a:noFill/>
        </p:spPr>
        <p:txBody>
          <a:bodyPr wrap="square" lIns="0" tIns="0" rIns="0" bIns="0" rtlCol="0" anchor="t">
            <a:normAutofit/>
          </a:bodyPr>
          <a:lstStyle/>
          <a:p>
            <a:pPr marL="0" indent="0" algn="l">
              <a:lnSpc>
                <a:spcPts val="1620"/>
              </a:lnSpc>
              <a:buNone/>
            </a:pPr>
            <a:r>
              <a:rPr lang="en-US" sz="1200" dirty="0">
                <a:solidFill>
                  <a:srgbClr val="2B303B"/>
                </a:solidFill>
                <a:latin typeface="Lato" panose="020F0502020204030203" pitchFamily="34" charset="0"/>
                <a:ea typeface="Lato" panose="020F0502020204030203" pitchFamily="34" charset="-122"/>
                <a:cs typeface="Lato" panose="020F0502020204030203" pitchFamily="34" charset="-120"/>
              </a:rPr>
              <a:t>Hibernate. (s. f.). </a:t>
            </a:r>
            <a:r>
              <a:rPr lang="en-US" sz="1200" i="1" dirty="0">
                <a:solidFill>
                  <a:srgbClr val="2B303B"/>
                </a:solidFill>
                <a:latin typeface="Lato" panose="020F0502020204030203" pitchFamily="34" charset="0"/>
                <a:ea typeface="Lato" panose="020F0502020204030203" pitchFamily="34" charset="-122"/>
                <a:cs typeface="Lato" panose="020F0502020204030203" pitchFamily="34" charset="-120"/>
              </a:rPr>
              <a:t>Hibernate ORM documentation</a:t>
            </a:r>
            <a:r>
              <a:rPr lang="en-US" sz="1200" dirty="0">
                <a:solidFill>
                  <a:srgbClr val="2B303B"/>
                </a:solidFill>
                <a:latin typeface="Lato" panose="020F0502020204030203" pitchFamily="34" charset="0"/>
                <a:ea typeface="Lato" panose="020F0502020204030203" pitchFamily="34" charset="-122"/>
                <a:cs typeface="Lato" panose="020F0502020204030203" pitchFamily="34" charset="-120"/>
              </a:rPr>
              <a:t>. hibernate.org/orm/documentation</a:t>
            </a:r>
            <a:endParaRPr lang="en-US" sz="1200" dirty="0"/>
          </a:p>
        </p:txBody>
      </p:sp>
      <p:sp>
        <p:nvSpPr>
          <p:cNvPr id="11" name="Text 9"/>
          <p:cNvSpPr/>
          <p:nvPr/>
        </p:nvSpPr>
        <p:spPr>
          <a:xfrm>
            <a:off x="812770" y="4263703"/>
            <a:ext cx="5310948" cy="436772"/>
          </a:xfrm>
          <a:prstGeom prst="rect">
            <a:avLst/>
          </a:prstGeom>
          <a:noFill/>
        </p:spPr>
        <p:txBody>
          <a:bodyPr wrap="square" lIns="0" tIns="0" rIns="0" bIns="0" rtlCol="0" anchor="t">
            <a:normAutofit/>
          </a:bodyPr>
          <a:lstStyle/>
          <a:p>
            <a:pPr marL="0" indent="0" algn="l">
              <a:lnSpc>
                <a:spcPts val="1620"/>
              </a:lnSpc>
              <a:buNone/>
            </a:pPr>
            <a:r>
              <a:rPr lang="en-US" sz="1200" dirty="0">
                <a:solidFill>
                  <a:srgbClr val="2B303B"/>
                </a:solidFill>
                <a:latin typeface="Lato" panose="020F0502020204030203" pitchFamily="34" charset="0"/>
                <a:ea typeface="Lato" panose="020F0502020204030203" pitchFamily="34" charset="-122"/>
                <a:cs typeface="Lato" panose="020F0502020204030203" pitchFamily="34" charset="-120"/>
              </a:rPr>
              <a:t>Jakarta EE. (s. f.). </a:t>
            </a:r>
            <a:r>
              <a:rPr lang="en-US" sz="1200" i="1" dirty="0">
                <a:solidFill>
                  <a:srgbClr val="2B303B"/>
                </a:solidFill>
                <a:latin typeface="Lato" panose="020F0502020204030203" pitchFamily="34" charset="0"/>
                <a:ea typeface="Lato" panose="020F0502020204030203" pitchFamily="34" charset="-122"/>
                <a:cs typeface="Lato" panose="020F0502020204030203" pitchFamily="34" charset="-120"/>
              </a:rPr>
              <a:t>Jakarta Bean Validation</a:t>
            </a:r>
            <a:r>
              <a:rPr lang="en-US" sz="1200" dirty="0">
                <a:solidFill>
                  <a:srgbClr val="2B303B"/>
                </a:solidFill>
                <a:latin typeface="Lato" panose="020F0502020204030203" pitchFamily="34" charset="0"/>
                <a:ea typeface="Lato" panose="020F0502020204030203" pitchFamily="34" charset="-122"/>
                <a:cs typeface="Lato" panose="020F0502020204030203" pitchFamily="34" charset="-120"/>
              </a:rPr>
              <a:t>. jakarta.ee/specifications/bean-validation</a:t>
            </a:r>
            <a:endParaRPr lang="en-US" sz="1200" dirty="0"/>
          </a:p>
        </p:txBody>
      </p:sp>
      <p:sp>
        <p:nvSpPr>
          <p:cNvPr id="12" name="Text 10"/>
          <p:cNvSpPr/>
          <p:nvPr/>
        </p:nvSpPr>
        <p:spPr>
          <a:xfrm>
            <a:off x="6222970" y="1467929"/>
            <a:ext cx="5310948" cy="231086"/>
          </a:xfrm>
          <a:prstGeom prst="rect">
            <a:avLst/>
          </a:prstGeom>
          <a:noFill/>
        </p:spPr>
        <p:txBody>
          <a:bodyPr wrap="square" lIns="0" tIns="0" rIns="0" bIns="0" rtlCol="0" anchor="t">
            <a:normAutofit/>
          </a:bodyPr>
          <a:lstStyle/>
          <a:p>
            <a:pPr marL="0" indent="0" algn="l">
              <a:lnSpc>
                <a:spcPts val="1620"/>
              </a:lnSpc>
              <a:buNone/>
            </a:pPr>
            <a:r>
              <a:rPr lang="en-US" sz="1200" dirty="0">
                <a:solidFill>
                  <a:srgbClr val="2B303B"/>
                </a:solidFill>
                <a:latin typeface="Lato" panose="020F0502020204030203" pitchFamily="34" charset="0"/>
                <a:ea typeface="Lato" panose="020F0502020204030203" pitchFamily="34" charset="-122"/>
                <a:cs typeface="Lato" panose="020F0502020204030203" pitchFamily="34" charset="-120"/>
              </a:rPr>
              <a:t>Marcotte, E. (2011). </a:t>
            </a:r>
            <a:r>
              <a:rPr lang="en-US" sz="1200" i="1" dirty="0">
                <a:solidFill>
                  <a:srgbClr val="2B303B"/>
                </a:solidFill>
                <a:latin typeface="Lato" panose="020F0502020204030203" pitchFamily="34" charset="0"/>
                <a:ea typeface="Lato" panose="020F0502020204030203" pitchFamily="34" charset="-122"/>
                <a:cs typeface="Lato" panose="020F0502020204030203" pitchFamily="34" charset="-120"/>
              </a:rPr>
              <a:t>Responsive web design</a:t>
            </a:r>
            <a:r>
              <a:rPr lang="en-US" sz="1200" dirty="0">
                <a:solidFill>
                  <a:srgbClr val="2B303B"/>
                </a:solidFill>
                <a:latin typeface="Lato" panose="020F0502020204030203" pitchFamily="34" charset="0"/>
                <a:ea typeface="Lato" panose="020F0502020204030203" pitchFamily="34" charset="-122"/>
                <a:cs typeface="Lato" panose="020F0502020204030203" pitchFamily="34" charset="-120"/>
              </a:rPr>
              <a:t>. A Book Apart.</a:t>
            </a:r>
            <a:endParaRPr lang="en-US" sz="1200" dirty="0"/>
          </a:p>
        </p:txBody>
      </p:sp>
      <p:sp>
        <p:nvSpPr>
          <p:cNvPr id="13" name="Text 11"/>
          <p:cNvSpPr/>
          <p:nvPr/>
        </p:nvSpPr>
        <p:spPr>
          <a:xfrm>
            <a:off x="6222970" y="1762485"/>
            <a:ext cx="5310948" cy="436772"/>
          </a:xfrm>
          <a:prstGeom prst="rect">
            <a:avLst/>
          </a:prstGeom>
          <a:noFill/>
        </p:spPr>
        <p:txBody>
          <a:bodyPr wrap="square" lIns="0" tIns="0" rIns="0" bIns="0" rtlCol="0" anchor="t">
            <a:normAutofit/>
          </a:bodyPr>
          <a:lstStyle/>
          <a:p>
            <a:pPr marL="0" indent="0" algn="l">
              <a:lnSpc>
                <a:spcPts val="1620"/>
              </a:lnSpc>
              <a:buNone/>
            </a:pPr>
            <a:r>
              <a:rPr lang="en-US" sz="1200" dirty="0">
                <a:solidFill>
                  <a:srgbClr val="2B303B"/>
                </a:solidFill>
                <a:latin typeface="Lato" panose="020F0502020204030203" pitchFamily="34" charset="0"/>
                <a:ea typeface="Lato" panose="020F0502020204030203" pitchFamily="34" charset="-122"/>
                <a:cs typeface="Lato" panose="020F0502020204030203" pitchFamily="34" charset="-120"/>
              </a:rPr>
              <a:t>PostgreSQL Global Development Group. (s. f.). </a:t>
            </a:r>
            <a:r>
              <a:rPr lang="en-US" sz="1200" i="1" dirty="0">
                <a:solidFill>
                  <a:srgbClr val="2B303B"/>
                </a:solidFill>
                <a:latin typeface="Lato" panose="020F0502020204030203" pitchFamily="34" charset="0"/>
                <a:ea typeface="Lato" panose="020F0502020204030203" pitchFamily="34" charset="-122"/>
                <a:cs typeface="Lato" panose="020F0502020204030203" pitchFamily="34" charset="-120"/>
              </a:rPr>
              <a:t>PostgreSQL documentation</a:t>
            </a:r>
            <a:r>
              <a:rPr lang="en-US" sz="1200" dirty="0">
                <a:solidFill>
                  <a:srgbClr val="2B303B"/>
                </a:solidFill>
                <a:latin typeface="Lato" panose="020F0502020204030203" pitchFamily="34" charset="0"/>
                <a:ea typeface="Lato" panose="020F0502020204030203" pitchFamily="34" charset="-122"/>
                <a:cs typeface="Lato" panose="020F0502020204030203" pitchFamily="34" charset="-120"/>
              </a:rPr>
              <a:t>. postgresql.org/docs</a:t>
            </a:r>
            <a:endParaRPr lang="en-US" sz="1200" dirty="0"/>
          </a:p>
        </p:txBody>
      </p:sp>
      <p:sp>
        <p:nvSpPr>
          <p:cNvPr id="14" name="Text 12"/>
          <p:cNvSpPr/>
          <p:nvPr/>
        </p:nvSpPr>
        <p:spPr>
          <a:xfrm>
            <a:off x="6222970" y="2262733"/>
            <a:ext cx="5969030" cy="231086"/>
          </a:xfrm>
          <a:prstGeom prst="rect">
            <a:avLst/>
          </a:prstGeom>
          <a:noFill/>
        </p:spPr>
        <p:txBody>
          <a:bodyPr wrap="square" lIns="0" tIns="0" rIns="0" bIns="0" rtlCol="0" anchor="t">
            <a:normAutofit/>
          </a:bodyPr>
          <a:lstStyle/>
          <a:p>
            <a:pPr marL="0" indent="0" algn="l">
              <a:lnSpc>
                <a:spcPts val="1620"/>
              </a:lnSpc>
              <a:buNone/>
            </a:pPr>
            <a:r>
              <a:rPr lang="en-US" sz="1200" dirty="0">
                <a:solidFill>
                  <a:srgbClr val="2B303B"/>
                </a:solidFill>
                <a:latin typeface="Lato" panose="020F0502020204030203" pitchFamily="34" charset="0"/>
                <a:ea typeface="Lato" panose="020F0502020204030203" pitchFamily="34" charset="-122"/>
                <a:cs typeface="Lato" panose="020F0502020204030203" pitchFamily="34" charset="-120"/>
              </a:rPr>
              <a:t>Spring. (s. f.-a). </a:t>
            </a:r>
            <a:r>
              <a:rPr lang="en-US" sz="1200" i="1" dirty="0">
                <a:solidFill>
                  <a:srgbClr val="2B303B"/>
                </a:solidFill>
                <a:latin typeface="Lato" panose="020F0502020204030203" pitchFamily="34" charset="0"/>
                <a:ea typeface="Lato" panose="020F0502020204030203" pitchFamily="34" charset="-122"/>
                <a:cs typeface="Lato" panose="020F0502020204030203" pitchFamily="34" charset="-120"/>
              </a:rPr>
              <a:t>Spring Boot reference documentation</a:t>
            </a:r>
            <a:r>
              <a:rPr lang="en-US" sz="1200" dirty="0">
                <a:solidFill>
                  <a:srgbClr val="2B303B"/>
                </a:solidFill>
                <a:latin typeface="Lato" panose="020F0502020204030203" pitchFamily="34" charset="0"/>
                <a:ea typeface="Lato" panose="020F0502020204030203" pitchFamily="34" charset="-122"/>
                <a:cs typeface="Lato" panose="020F0502020204030203" pitchFamily="34" charset="-120"/>
              </a:rPr>
              <a:t>. docs.spring.io/spring-boot</a:t>
            </a:r>
            <a:endParaRPr lang="en-US" sz="1200" dirty="0"/>
          </a:p>
        </p:txBody>
      </p:sp>
      <p:sp>
        <p:nvSpPr>
          <p:cNvPr id="15" name="Text 13"/>
          <p:cNvSpPr/>
          <p:nvPr/>
        </p:nvSpPr>
        <p:spPr>
          <a:xfrm>
            <a:off x="6222970" y="2557289"/>
            <a:ext cx="5310948" cy="231086"/>
          </a:xfrm>
          <a:prstGeom prst="rect">
            <a:avLst/>
          </a:prstGeom>
          <a:noFill/>
        </p:spPr>
        <p:txBody>
          <a:bodyPr wrap="square" lIns="0" tIns="0" rIns="0" bIns="0" rtlCol="0" anchor="t">
            <a:normAutofit/>
          </a:bodyPr>
          <a:lstStyle/>
          <a:p>
            <a:pPr marL="0" indent="0" algn="l">
              <a:lnSpc>
                <a:spcPts val="1620"/>
              </a:lnSpc>
              <a:buNone/>
            </a:pPr>
            <a:r>
              <a:rPr lang="en-US" sz="1200" dirty="0">
                <a:solidFill>
                  <a:srgbClr val="2B303B"/>
                </a:solidFill>
                <a:latin typeface="Lato" panose="020F0502020204030203" pitchFamily="34" charset="0"/>
                <a:ea typeface="Lato" panose="020F0502020204030203" pitchFamily="34" charset="-122"/>
                <a:cs typeface="Lato" panose="020F0502020204030203" pitchFamily="34" charset="-120"/>
              </a:rPr>
              <a:t>Spring. (s. f.-b). </a:t>
            </a:r>
            <a:r>
              <a:rPr lang="en-US" sz="1200" i="1" dirty="0">
                <a:solidFill>
                  <a:srgbClr val="2B303B"/>
                </a:solidFill>
                <a:latin typeface="Lato" panose="020F0502020204030203" pitchFamily="34" charset="0"/>
                <a:ea typeface="Lato" panose="020F0502020204030203" pitchFamily="34" charset="-122"/>
                <a:cs typeface="Lato" panose="020F0502020204030203" pitchFamily="34" charset="-120"/>
              </a:rPr>
              <a:t>Spring Data JPA</a:t>
            </a:r>
            <a:r>
              <a:rPr lang="en-US" sz="1200" dirty="0">
                <a:solidFill>
                  <a:srgbClr val="2B303B"/>
                </a:solidFill>
                <a:latin typeface="Lato" panose="020F0502020204030203" pitchFamily="34" charset="0"/>
                <a:ea typeface="Lato" panose="020F0502020204030203" pitchFamily="34" charset="-122"/>
                <a:cs typeface="Lato" panose="020F0502020204030203" pitchFamily="34" charset="-120"/>
              </a:rPr>
              <a:t>. spring.io/projects/spring-data-jpa</a:t>
            </a:r>
            <a:endParaRPr lang="en-US" sz="1200" dirty="0"/>
          </a:p>
        </p:txBody>
      </p:sp>
      <p:sp>
        <p:nvSpPr>
          <p:cNvPr id="16" name="Text 14"/>
          <p:cNvSpPr/>
          <p:nvPr/>
        </p:nvSpPr>
        <p:spPr>
          <a:xfrm>
            <a:off x="6222970" y="2851845"/>
            <a:ext cx="5310948" cy="231086"/>
          </a:xfrm>
          <a:prstGeom prst="rect">
            <a:avLst/>
          </a:prstGeom>
          <a:noFill/>
        </p:spPr>
        <p:txBody>
          <a:bodyPr wrap="square" lIns="0" tIns="0" rIns="0" bIns="0" rtlCol="0" anchor="t">
            <a:normAutofit/>
          </a:bodyPr>
          <a:lstStyle/>
          <a:p>
            <a:pPr marL="0" indent="0" algn="l">
              <a:lnSpc>
                <a:spcPts val="1620"/>
              </a:lnSpc>
              <a:buNone/>
            </a:pPr>
            <a:r>
              <a:rPr lang="en-US" sz="1200" dirty="0">
                <a:solidFill>
                  <a:srgbClr val="2B303B"/>
                </a:solidFill>
                <a:latin typeface="Lato" panose="020F0502020204030203" pitchFamily="34" charset="0"/>
                <a:ea typeface="Lato" panose="020F0502020204030203" pitchFamily="34" charset="-122"/>
                <a:cs typeface="Lato" panose="020F0502020204030203" pitchFamily="34" charset="-120"/>
              </a:rPr>
              <a:t>Thymeleaf. (2025). </a:t>
            </a:r>
            <a:r>
              <a:rPr lang="en-US" sz="1200" i="1" dirty="0">
                <a:solidFill>
                  <a:srgbClr val="2B303B"/>
                </a:solidFill>
                <a:latin typeface="Lato" panose="020F0502020204030203" pitchFamily="34" charset="0"/>
                <a:ea typeface="Lato" panose="020F0502020204030203" pitchFamily="34" charset="-122"/>
                <a:cs typeface="Lato" panose="020F0502020204030203" pitchFamily="34" charset="-120"/>
              </a:rPr>
              <a:t>Using Thymeleaf</a:t>
            </a:r>
            <a:r>
              <a:rPr lang="en-US" sz="1200" dirty="0">
                <a:solidFill>
                  <a:srgbClr val="2B303B"/>
                </a:solidFill>
                <a:latin typeface="Lato" panose="020F0502020204030203" pitchFamily="34" charset="0"/>
                <a:ea typeface="Lato" panose="020F0502020204030203" pitchFamily="34" charset="-122"/>
                <a:cs typeface="Lato" panose="020F0502020204030203" pitchFamily="34" charset="-120"/>
              </a:rPr>
              <a:t>. thymeleaf.org/documentation.html</a:t>
            </a:r>
            <a:endParaRPr lang="en-US" sz="1200" dirty="0"/>
          </a:p>
        </p:txBody>
      </p:sp>
      <p:sp>
        <p:nvSpPr>
          <p:cNvPr id="17" name="Text 15"/>
          <p:cNvSpPr/>
          <p:nvPr/>
        </p:nvSpPr>
        <p:spPr>
          <a:xfrm>
            <a:off x="6222970" y="3146400"/>
            <a:ext cx="5310948" cy="231086"/>
          </a:xfrm>
          <a:prstGeom prst="rect">
            <a:avLst/>
          </a:prstGeom>
          <a:noFill/>
        </p:spPr>
        <p:txBody>
          <a:bodyPr wrap="square" lIns="0" tIns="0" rIns="0" bIns="0" rtlCol="0" anchor="t">
            <a:normAutofit/>
          </a:bodyPr>
          <a:lstStyle/>
          <a:p>
            <a:pPr marL="0" indent="0" algn="l">
              <a:lnSpc>
                <a:spcPts val="1620"/>
              </a:lnSpc>
              <a:buNone/>
            </a:pPr>
            <a:r>
              <a:rPr lang="en-US" sz="1200" dirty="0">
                <a:solidFill>
                  <a:srgbClr val="2B303B"/>
                </a:solidFill>
                <a:latin typeface="Lato" panose="020F0502020204030203" pitchFamily="34" charset="0"/>
                <a:ea typeface="Lato" panose="020F0502020204030203" pitchFamily="34" charset="-122"/>
                <a:cs typeface="Lato" panose="020F0502020204030203" pitchFamily="34" charset="-120"/>
              </a:rPr>
              <a:t>Walls, C. (2022). </a:t>
            </a:r>
            <a:r>
              <a:rPr lang="en-US" sz="1200" i="1" dirty="0">
                <a:solidFill>
                  <a:srgbClr val="2B303B"/>
                </a:solidFill>
                <a:latin typeface="Lato" panose="020F0502020204030203" pitchFamily="34" charset="0"/>
                <a:ea typeface="Lato" panose="020F0502020204030203" pitchFamily="34" charset="-122"/>
                <a:cs typeface="Lato" panose="020F0502020204030203" pitchFamily="34" charset="-120"/>
              </a:rPr>
              <a:t>Spring in action</a:t>
            </a:r>
            <a:r>
              <a:rPr lang="en-US" sz="1200" dirty="0">
                <a:solidFill>
                  <a:srgbClr val="2B303B"/>
                </a:solidFill>
                <a:latin typeface="Lato" panose="020F0502020204030203" pitchFamily="34" charset="0"/>
                <a:ea typeface="Lato" panose="020F0502020204030203" pitchFamily="34" charset="-122"/>
                <a:cs typeface="Lato" panose="020F0502020204030203" pitchFamily="34" charset="-120"/>
              </a:rPr>
              <a:t> (6.ª ed.). Manning Publications.</a:t>
            </a:r>
            <a:endParaRPr lang="en-US" sz="1200" dirty="0"/>
          </a:p>
        </p:txBody>
      </p:sp>
      <p:sp>
        <p:nvSpPr>
          <p:cNvPr id="18" name="Text 16"/>
          <p:cNvSpPr/>
          <p:nvPr/>
        </p:nvSpPr>
        <p:spPr>
          <a:xfrm>
            <a:off x="6226145" y="3444131"/>
            <a:ext cx="5149910" cy="388578"/>
          </a:xfrm>
          <a:prstGeom prst="roundRect">
            <a:avLst>
              <a:gd name="adj" fmla="val 18793"/>
            </a:avLst>
          </a:prstGeom>
          <a:solidFill>
            <a:srgbClr val="FDFCF9"/>
          </a:solidFill>
          <a:ln w="6350">
            <a:solidFill>
              <a:srgbClr val="DDD9CC"/>
            </a:solidFill>
            <a:prstDash val="solid"/>
          </a:ln>
        </p:spPr>
        <p:txBody>
          <a:bodyPr wrap="square" lIns="108188" tIns="70088" rIns="0" bIns="44688" rtlCol="0" anchor="t">
            <a:normAutofit/>
          </a:bodyPr>
          <a:lstStyle/>
          <a:p>
            <a:pPr marL="0" indent="0" algn="l">
              <a:lnSpc>
                <a:spcPts val="1620"/>
              </a:lnSpc>
              <a:buNone/>
            </a:pPr>
            <a:r>
              <a:rPr lang="en-US" sz="1200" dirty="0">
                <a:solidFill>
                  <a:srgbClr val="2B303B"/>
                </a:solidFill>
                <a:latin typeface="Lato" panose="020F0502020204030203" pitchFamily="34" charset="0"/>
                <a:ea typeface="Lato" panose="020F0502020204030203" pitchFamily="34" charset="-122"/>
                <a:cs typeface="Lato" panose="020F0502020204030203" pitchFamily="34" charset="-120"/>
              </a:rPr>
              <a:t>Los enlaces completos están en la sección Referencias del informe final.</a:t>
            </a:r>
            <a:endParaRPr lang="en-US" sz="1200" dirty="0"/>
          </a:p>
        </p:txBody>
      </p:sp>
      <p:sp>
        <p:nvSpPr>
          <p:cNvPr id="19" name="Text 17"/>
          <p:cNvSpPr/>
          <p:nvPr/>
        </p:nvSpPr>
        <p:spPr>
          <a:xfrm>
            <a:off x="812770" y="6238342"/>
            <a:ext cx="7325299" cy="238724"/>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596070"/>
                </a:solidFill>
                <a:latin typeface="Lato" panose="020F0502020204030203" pitchFamily="34" charset="0"/>
                <a:ea typeface="Lato" panose="020F0502020204030203" pitchFamily="34" charset="-122"/>
                <a:cs typeface="Lato" panose="020F0502020204030203" pitchFamily="34" charset="-120"/>
              </a:rPr>
              <a:t>LINKSPORT · AVANCE 03 · Informe final, referencias</a:t>
            </a:r>
            <a:endParaRPr lang="en-US" sz="1200" dirty="0"/>
          </a:p>
        </p:txBody>
      </p:sp>
      <p:sp>
        <p:nvSpPr>
          <p:cNvPr id="20" name="Text 18"/>
          <p:cNvSpPr/>
          <p:nvPr/>
        </p:nvSpPr>
        <p:spPr>
          <a:xfrm>
            <a:off x="8108921" y="6238342"/>
            <a:ext cx="3270219" cy="238724"/>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596070"/>
                </a:solidFill>
                <a:latin typeface="Lato" panose="020F0502020204030203" pitchFamily="34" charset="0"/>
                <a:ea typeface="Lato" panose="020F0502020204030203" pitchFamily="34" charset="-122"/>
                <a:cs typeface="Lato" panose="020F0502020204030203" pitchFamily="34" charset="-120"/>
              </a:rPr>
              <a:t>Expone: José · 14</a:t>
            </a:r>
            <a:endParaRPr lang="en-US" sz="1200" dirty="0"/>
          </a:p>
        </p:txBody>
      </p:sp>
    </p:spTree>
  </p:cSld>
  <p:clrMapOvr>
    <a:masterClrMapping/>
  </p:clrMapOvr>
</p:sld>
</file>

<file path=ppt/theme/theme1.xml><?xml version="1.0" encoding="utf-8"?>
<a:theme xmlns:a="http://schemas.openxmlformats.org/drawingml/2006/main" name="LINKSPORT · Avance 3">
  <a:themeElements>
    <a:clrScheme name="LINKSPORT · Avance 3">
      <a:dk1>
        <a:srgbClr val="1E222B"/>
      </a:dk1>
      <a:lt1>
        <a:srgbClr val="F6F5F1"/>
      </a:lt1>
      <a:dk2>
        <a:srgbClr val="54575D"/>
      </a:dk2>
      <a:lt2>
        <a:srgbClr val="E0E0DD"/>
      </a:lt2>
      <a:accent1>
        <a:srgbClr val="FBBF24"/>
      </a:accent1>
      <a:accent2>
        <a:srgbClr val="B7791F"/>
      </a:accent2>
      <a:accent3>
        <a:srgbClr val="FFF4D6"/>
      </a:accent3>
      <a:accent4>
        <a:srgbClr val="6B4A0A"/>
      </a:accent4>
      <a:accent5>
        <a:srgbClr val="3D2C06"/>
      </a:accent5>
      <a:accent6>
        <a:srgbClr val="596070"/>
      </a:accent6>
      <a:hlink>
        <a:srgbClr val="0563C1"/>
      </a:hlink>
      <a:folHlink>
        <a:srgbClr val="954F72"/>
      </a:folHlink>
    </a:clrScheme>
    <a:fontScheme name="LINKSPORT · Avance 3">
      <a:majorFont>
        <a:latin typeface="La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La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11018</Words>
  <Application>WPS Presentation</Application>
  <PresentationFormat>Panorámica</PresentationFormat>
  <Paragraphs>594</Paragraphs>
  <Slides>14</Slides>
  <Notes>26</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14</vt:i4>
      </vt:variant>
    </vt:vector>
  </HeadingPairs>
  <TitlesOfParts>
    <vt:vector size="29" baseType="lpstr">
      <vt:lpstr>Arial</vt:lpstr>
      <vt:lpstr>SimSun</vt:lpstr>
      <vt:lpstr>Wingdings</vt:lpstr>
      <vt:lpstr>Lato</vt:lpstr>
      <vt:lpstr>Lato</vt:lpstr>
      <vt:lpstr>Lato</vt:lpstr>
      <vt:lpstr>JetBrains Mono</vt:lpstr>
      <vt:lpstr>JetBrains Mono</vt:lpstr>
      <vt:lpstr>JetBrains Mono</vt:lpstr>
      <vt:lpstr>Microsoft YaHei</vt:lpstr>
      <vt:lpstr>Arial Unicode MS</vt:lpstr>
      <vt:lpstr>Aptos</vt:lpstr>
      <vt:lpstr>Segoe UI</vt:lpstr>
      <vt:lpstr>Calibri</vt:lpstr>
      <vt:lpstr>LINKSPORT · Avance 3</vt:lpstr>
      <vt:lpstr>SPORT</vt:lpstr>
      <vt:lpstr>Del Avance 2 al Avance 3</vt:lpstr>
      <vt:lpstr>Integrar catálogo, validación y compras</vt:lpstr>
      <vt:lpstr>Arquitectura por capas con repositorios</vt:lpstr>
      <vt:lpstr>Controladores y API REST del CRUD</vt:lpstr>
      <vt:lpstr>Entidades JPA y repositorios Spring Data</vt:lpstr>
      <vt:lpstr>Cinco entidades y sus claves foráneas</vt:lpstr>
      <vt:lpstr>linksport_db: cinco tablas y doce productos</vt:lpstr>
      <vt:lpstr>Anotaciones de validación en el modelo</vt:lpstr>
      <vt:lpstr>Activación en los controladores</vt:lpstr>
      <vt:lpstr>Thymeleaf, Bulma y JavaScript</vt:lpstr>
      <vt:lpstr>Del carrito al servidor</vt:lpstr>
      <vt:lpstr>Un catálogo relacional con registro de compras</vt:lpstr>
      <vt:lpstr>Bibliografía del informe (APA)</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LINKSPORT · Avance 3</dc:title>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Jose Sotomayor</cp:lastModifiedBy>
  <cp:revision>3</cp:revision>
  <dcterms:created xsi:type="dcterms:W3CDTF">2026-10-29T20:51:00Z</dcterms:created>
  <dcterms:modified xsi:type="dcterms:W3CDTF">2026-10-30T02:17:11Z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3082-12.1.0.29162</vt:lpwstr>
  </property>
  <property fmtid="{D5CDD505-2E9C-101B-9397-08002B2CF9AE}" pid="3" name="ICV">
    <vt:lpwstr>DF1363C22B69466E90895C08CEEBAD26_12</vt:lpwstr>
  </property>
</Properties>
</file>